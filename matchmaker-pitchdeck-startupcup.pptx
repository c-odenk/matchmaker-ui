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Arbeitsblat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1"/>
  <c:style val="2"/>
  <c:chart>
    <c:autoTitleDeleted val="1"/>
    <c:plotArea>
      <c:layout/>
      <c:barChart>
        <c:barDir val="col"/>
        <c:grouping val="clustered"/>
        <c:varyColors val="0"/>
        <c:ser>
          <c:idx val="0"/>
          <c:order val="0"/>
          <c:tx>
            <c:strRef>
              <c:f>Sheet1!$B$1</c:f>
              <c:strCache>
                <c:ptCount val="1"/>
                <c:pt idx="0">
                  <c:v>ARR</c:v>
                </c:pt>
              </c:strCache>
            </c:strRef>
          </c:tx>
          <c:spPr>
            <a:solidFill>
              <a:srgbClr val="2976D6"/>
            </a:solidFill>
            <a:effectLst/>
          </c:spPr>
          <c:invertIfNegative val="0"/>
          <c:dLbls>
            <c:numFmt formatCode="#,##0&quot; T€&quot;" sourceLinked="0"/>
            <c:spPr>
              <a:noFill/>
              <a:ln>
                <a:noFill/>
              </a:ln>
              <a:effectLst/>
            </c:spPr>
            <c:txPr>
              <a:bodyPr/>
              <a:lstStyle/>
              <a:p>
                <a:pPr>
                  <a:defRPr sz="1200" b="1" i="0" u="none" strike="noStrike">
                    <a:solidFill>
                      <a:srgbClr val="172B4D"/>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Jahr 1
2027</c:v>
                </c:pt>
                <c:pt idx="1">
                  <c:v>Jahr 2
2028</c:v>
                </c:pt>
                <c:pt idx="2">
                  <c:v>Jahr 3
2029</c:v>
                </c:pt>
              </c:strCache>
            </c:strRef>
          </c:cat>
          <c:val>
            <c:numRef>
              <c:f>Sheet1!$B$2:$B$4</c:f>
              <c:numCache>
                <c:formatCode>General</c:formatCode>
                <c:ptCount val="3"/>
                <c:pt idx="0">
                  <c:v>60</c:v>
                </c:pt>
                <c:pt idx="1">
                  <c:v>165</c:v>
                </c:pt>
                <c:pt idx="2">
                  <c:v>360</c:v>
                </c:pt>
              </c:numCache>
            </c:numRef>
          </c:val>
          <c:extLst>
            <c:ext xmlns:c16="http://schemas.microsoft.com/office/drawing/2014/chart" uri="{C3380CC4-5D6E-409C-BE32-E72D297353CC}">
              <c16:uniqueId val="{00000000-75AA-B644-B6B5-4C6ABFEC583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172B4D"/>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F2F7"/>
              </a:solidFill>
              <a:prstDash val="solid"/>
              <a:round/>
            </a:ln>
          </c:spPr>
        </c:majorGridlines>
        <c:title>
          <c:tx>
            <c:rich>
              <a:bodyPr/>
              <a:lstStyle/>
              <a:p>
                <a:pPr>
                  <a:defRPr sz="1000" b="0" i="0" u="none" strike="noStrike">
                    <a:solidFill>
                      <a:srgbClr val="7C8AA0"/>
                    </a:solidFill>
                    <a:latin typeface="Arial"/>
                  </a:defRPr>
                </a:pPr>
                <a:r>
                  <a:rPr lang="de-DE" sz="1000" b="0" i="0" u="none" strike="noStrike">
                    <a:solidFill>
                      <a:srgbClr val="7C8AA0"/>
                    </a:solidFill>
                    <a:latin typeface="Arial"/>
                  </a:rPr>
                  <a:t>ARR in Tsd.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C8AA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627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Einstieg &amp; Positionierung: matchmaker.hr ist das AI Operating System für Personalberatungen – kein Einzel-Tool, sondern der gesamte Workflow als System: Marktanalyse, Matching und Anschreiben laufen automatisch zu, die Entscheidung bleibt zu 100 % beim Berater (Human-in-the-Loop). Produktkern ist das Talentpool-Management mit vier KI-Agenten. Bewusst gewählt: 'Personalberatungen' ist sofort verständlich und scharf abgegrenzt – nicht das riesige, diffuse 'Recruiting'. Solo-Gründer Christopher Odenkirchen; ein erster funktionsfähiger Prototyp ist bereits entwickelt (noch kein vermarktetes Produkt). Deck folgt den acht Bewertungskriterien. Ein-Satz-Pitch: 'Wir geben Personalberatungen die Zeit zurück, die manuelles Sourcing ihnen stiehlt – als ein System für den ganzen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Problem konkret: Personalberatung ist ein People-Business, aber ein erheblicher Teil der Arbeitszeit geht für stupide Recherche drauf – Jobboards screenen, Pool pflegen, Ansprechpartner suchen, Anschreiben tippen. Das ist teuer, demotivierend und skaliert nur über Neueinstellungen. Der Markt besteht überwiegend aus kleinen Beratungen (über 80 % unter 2,5 Mio. € Umsatz, BDU 2024) – genau dort fehlt Zeit und Geld für eigene Tech-Teams. Die 70 % sind eine Erfahrungs-/Schätzgröße aus Gesprächen und Branchenfeedback, kein gemessener Benchmark – so auch kommunizieren. Überleitung: Genau hier setzt matchmaker.hr 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Lösung in einem Satz: ein System aus vier spezialisierten KI-Agenten, das den kompletten Recherche- und Vorbereitungsweg automatisiert, aber die Entscheidung beim Menschen lässt. Drei Säulen: (1) Routine automatisiert, (2) nachvollziehbare KI mit Begründung statt Black Box, (3) Human-in-the-Loop. Wichtig und oft missverstanden: Die Richtung ist Kandidat → Vakanz. Wir suchen für die Kandidaten im Pool passende offene Stellen – nicht umgekehrt. Das passt exakt zum Geschäftsmodell einer Personalberatung, die ihre Talente vermitteln will. Human-in-the-Loop heißt präzise: alles bis zum Versand ist automatisiert, nur das tatsächliche Absenden gibt der Berater frei.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Funktionsumfang im Workflow: Vier spezialisierte Agenten, die nacheinander zuarbeiten. Profiling Agent macht aus jedem Lebenslauf ein strukturiertes, anonymisiertes Profil. Market Agent scannt rund um die Uhr den Stellenmarkt. Matching Agent bewertet jede Stelle mit einem Score und begründet, warum sie passt – auch schwächere Treffer werden transparent markiert. Outreach Agent recherchiert den Entscheider und formuliert das individuelle Anschreiben. Der entscheidende Punkt für die Jury: Jeder dieser Schritte ist im funktionsfähigen Prototyp bereits abgebildet. Am Ende steht immer die menschliche Freigabe durch den Berater – kein nachträglicher Sicherheitsbügel, sondern der Kern des Konzepts.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Beweis statt Behauptung – aber bewusst als Prototyp deklariert: echte Screenshots aus dem funktionsfähigen Prototyp, kein fertiges, vermarktetes Produkt. Links das anonymisierte Profil (Profiling Agent extrahiert Skills, Erfahrung, Verfügbarkeit), rechts die gescorten Vakanzen 94/87/81 mit Quelle und Begründung. Der Kasten unten beantwortet die wichtigste Defensibility-Frage – 'Warum nicht einfach ChatGPT?': matchmaker.hr matcht semantisch über den gesamten Karriereverlauf statt über Keywords, das Scoring ist erklärbar, und die Marktanalyse läuft kontinuierlich gegen den Pool. Das ist domänenspezifisch, datengetrieben und nicht durch einen generischen Chatbot ersetzbar.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Nutzen für den Kunden, hart und weich – und bewusst seriös deklariert. Die „bis zu −70 %" sind ein Zielwert aus interner Produktmessung; ehrlich kommunizieren, dass wir die tatsächliche Aufwandsersparnis erst in der Pilotphase 2026 belastbar messen. Demgegenüber sind „4 → 1 Schritte" und „100 % EU-Hosting" harte, heute schon belegbare Produkteigenschaften. Weich, aber verkaufsentscheidend: Die freigewordene Zeit fließt in Beratung und Abschlüsse, die Beratung kann mehr Mandate bedienen ohne neue Mitarbeiter – der eigentliche Skalierungshebel –, und die KI-Begründung macht jede Empfehlung gegenüber dem Endkunden verkaufbar.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Zielgruppe und Markt – bewusst bottom-up statt abstraktem TAM, weil das belastbarer ist. ICP: kleine und mittlere Personalberatungen mit 1–20 Beratern (über 80 % aller Firmen, kein eigenes Tech-Team), Erstfokus IT &amp; Engineering. Die Rechnung Schritt für Schritt: ~2.800 Zielfirmen in DACH × Ø ~250 € Lizenz/Monat × 12 Monate ≈ 8,4 Mio. € adressierbarer Markt (SAM) pro Jahr. Daraus unser konservatives 3-Jahres-Ziel (SOM): ~120 zahlende Firmen ≈ 0,36 Mio. € ARR. Zum Einordnen der Größe: der DACH-Branchenumsatz (TAM) liegt bei ~3,6 Mrd. €/Jahr (DE allein 2,82 Mrd. €, BDU 2024). Entscheidend für das Upside: das Modell skaliert über das Kernsegment hinaus in Inhouse-Recruiting, Mittelstand und Zeitarbeit – jedes dieser Segmente vervielfacht den adressierbaren Markt.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Wettbewerb und Abgrenzung – hier liegt der Burggraben. Vier Lager: (1) manuelles Sourcing – Status quo, langsam, nicht skalierbar. (2) ATS-/HR-CRM-Systeme wie Personio oder Recruitee – verwalten Bewerber und Prozesse, sourcen aber nicht autonom. (3) Sourcing-Tools wie LinkedIn Recruiter – finden Kandidaten für eine offene Stelle (umgekehrte Richtung), teuer, nicht DSGVO-first. (4) Carv – der spannendste Player, entwickelt sich stark Richtung AI-Recruiting-Agent und automatisiert Outreach end-to-end (EU-/GDPR-nah). Bewusst genannt, um Marktkenntnis zu zeigen. Unsere Abgrenzung zu Carv: die pool-zentrierte Richtung Kandidat → Vakanz (statt Job-zentriertem Sourcing) plus durchgängig erklärbares Scoring. Der Moat ist kein Einzel-Feature, sondern der vollständige, transparente Workflow als integriertes System – das ist die Grundlage der Positionierung als AI Operating System für Personalberatungen.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Geschäftsmodell ist klassisches B2B-SaaS mit drei Ebenen. Bring-Your-Own-Key ist kostenlos: volle Funktion, der Kunde zahlt die KI-Kosten direkt über seinen eigenen API-Account. Das ist unser Funnel und senkt die Einstiegshürde radikal. Die Enterprise-Lizenz ist der Kernumsatz: 129 bis 249 € pro Monat, gestaffelt nach Talentpool-Größe. Zusätzliche Berater kosten 19,99 € pro Seat und Monat – so wächst der Umsatz automatisch mit der Kanzlei. Warum das trägt: Durch BYOK bleibt die Bruttomarge hoch, weil die teuren Inferenzkosten ausgelagert sind. Expansion ist eingebaut (Pool- und Teamgröße), und die Akquisekosten sind niedrig, weil wir vertikal fokussiert sind und die Branche stark vernetzt 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Tragfähigkeit in Zahlen – durchgehend als konservative Annahme deklariert. ARR-Pfad: rund 60 Tsd. € in Jahr 1 mit ~20 Kunden, ~165 Tsd. € in Jahr 2, ~360 Tsd. € in Jahr 3 mit etwa 120 Kunden. Pro Kunde rechnen wir mit ~3.000 € Jahresumsatz und ~85 % Bruttomarge, weil die KI-Kosten via Bring-Your-Own-Key beim Kunden liegen. Entscheidend: Die Kostenbasis ist extrem schlank – Solo-Gründung, EU-Cloud, kein teures Infrastruktur-Overhead –, deshalb liegt der Break-even schon bei einer niedrigen zweistelligen Kundenzahl. Das Preisgeld des Start-up-Cups würde direkt in die ersten Pilotkunden und den Markteintritt fließen, nicht in Grundlagenentwicklung.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Nachhaltigkeit ist bei uns kein Anhängsel, sondern direkt im Produkt verankert. Erstens sozialer Impact: Weil der Profiling Agent anonymisierte Profile erstellt, orientiert sich die Vorauswahl an Qualifikation statt an Name, Foto oder Herkunft – das reduziert unbewussten Bias (SDG 5 und 10). Zweitens Transparenz: erklärbare KI mit Score und Begründung statt Black Box – das zahlt direkt auf die Anforderungen des EU AI Act ein (SDG 9). Drittens Ressourcen: bessere Matches bedeuten weniger Fehlbesetzungen und weniger doppelte Recruiting-Prozesse auf beiden Seiten (SDG 8). Viertens Datensouveränität: 100 % EU-Hosting, DSGVO-konform, keine Drittstaatenübermittlung (SDG 16). Governance by design.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Umsetzbarkeit – und das ist unser stärkstes Argument: Ein funktionsfähiger Prototyp mit allen vier Agenten existiert bereits und ist live testbar. Die technische Machbarkeit ist also kein Risiko mehr, das unterscheidet uns von reinen Ideen-Pitches. Wichtig für den Wettbewerb: Es ist ein Prototyp, kein vermarktetes Produkt – gegründet ist noch nicht. Der Fahrplan: Q4 2026 Pilotphase mit drei bis fünf Beratungen als Design-Partner, dort validieren wir auch die Aufwandsersparnis hart. Q1 2027 offizieller Markteintritt mit ersten zahlenden Kunden im IT/Engineering-Fokus. Q3 2027 Skalierung über Empfehlungsvertrieb in der DACH-Region. 2028 Expansion in die großen angrenzenden Segmente: Inhouse-Recruiting, Mittelstand und Zeitarbeit – hier liegt das eigentliche Volumen-Upside. Realistische, kapitalschonende Schritte – kein Moonshot, sondern ein Go-to-Market.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Team – ehrlich und selbstbewusst: matchmaker.hr ist aktuell ein Solo-Vorhaben (noch nicht gegründet). Christopher Odenkirchen hat den funktionsfähigen Prototyp komplett eigenständig konzipiert und gebaut – vom KI-Agentensystem über das Frontend bis zum EU-Hosting. Das ist der Beweis für Umsetzungskraft: ein lauffähiger Prototyp statt Idee auf Papier. Die mitgebrachten Kompetenzen decken die drei kritischen Felder ab – KI/Agentensysteme, Full-Stack-Entwicklung und Branchen-/Produktverständnis. Die fehlende Branchentiefe ergänzen wir gezielt über ein Advisory Board aus der Personalberatungs-Praxis – das gibt uns Marktzugang, Glaubwürdigkeit und Vertriebskanäle. HINWEIS AN MICH: Advisor-Namen, Rollen und Firmen eintragen sowie Studiengang/H-BRS-Bezug im Platzhalter ergänzen.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Abschluss mit Vision und konkretem Ask. Vision: matchmaker.hr wird das AI Operating System für Personalberatungen – die KI übernimmt die Recherche, beraten und entscheiden bleibt beim Menschen. Was wir vom Start-up-Cup und dem Netzwerk konkret suchen: erstens Pilotkunden, also Personalberatungen als Design-Partner; zweitens Netzwerk und Advisory-Board-Mitglieder mit Zugang zur regionalen HR-Branche; drittens den Anschub durch Preisgeld und Sichtbarkeit für den Markteintritt. Mit einem Satz schließen: 'Der Prototyp ist gebaut, der Markt ist da – wir brauchen jetzt die ersten Pilotkunden und das richtige Netzwerk.' Kontaktdaten und Dank. HINWEIS AN MICH: vollständige E-Mail-Adresse im Platzhalter ergänzen.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6.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B4D"/>
        </a:solidFill>
        <a:effectLst/>
      </p:bgPr>
    </p:bg>
    <p:spTree>
      <p:nvGrpSpPr>
        <p:cNvPr id="1" name=""/>
        <p:cNvGrpSpPr/>
        <p:nvPr/>
      </p:nvGrpSpPr>
      <p:grpSpPr>
        <a:xfrm>
          <a:off x="0" y="0"/>
          <a:ext cx="0" cy="0"/>
          <a:chOff x="0" y="0"/>
          <a:chExt cx="0" cy="0"/>
        </a:xfrm>
      </p:grpSpPr>
      <p:sp>
        <p:nvSpPr>
          <p:cNvPr id="2" name="Shape 0"/>
          <p:cNvSpPr/>
          <p:nvPr/>
        </p:nvSpPr>
        <p:spPr>
          <a:xfrm>
            <a:off x="6949440" y="-2377440"/>
            <a:ext cx="7315200" cy="6858000"/>
          </a:xfrm>
          <a:prstGeom prst="ellipse">
            <a:avLst/>
          </a:prstGeom>
          <a:solidFill>
            <a:srgbClr val="2976D6">
              <a:alpha val="22000"/>
            </a:srgbClr>
          </a:solidFill>
          <a:ln/>
        </p:spPr>
        <p:txBody>
          <a:bodyPr/>
          <a:lstStyle/>
          <a:p>
            <a:endParaRPr lang="de-DE"/>
          </a:p>
        </p:txBody>
      </p:sp>
      <p:sp>
        <p:nvSpPr>
          <p:cNvPr id="3" name="Shape 1"/>
          <p:cNvSpPr/>
          <p:nvPr/>
        </p:nvSpPr>
        <p:spPr>
          <a:xfrm>
            <a:off x="-2194560" y="3474720"/>
            <a:ext cx="6400800" cy="5486400"/>
          </a:xfrm>
          <a:prstGeom prst="ellipse">
            <a:avLst/>
          </a:prstGeom>
          <a:solidFill>
            <a:srgbClr val="2976D6">
              <a:alpha val="12000"/>
            </a:srgbClr>
          </a:solidFill>
          <a:ln/>
        </p:spPr>
        <p:txBody>
          <a:bodyPr/>
          <a:lstStyle/>
          <a:p>
            <a:endParaRPr lang="de-DE"/>
          </a:p>
        </p:txBody>
      </p:sp>
      <p:sp>
        <p:nvSpPr>
          <p:cNvPr id="4" name="Text 2"/>
          <p:cNvSpPr/>
          <p:nvPr/>
        </p:nvSpPr>
        <p:spPr>
          <a:xfrm>
            <a:off x="566928" y="502920"/>
            <a:ext cx="54864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matchmaker</a:t>
            </a:r>
            <a:r>
              <a:rPr lang="en-US" sz="2200" b="1" dirty="0">
                <a:solidFill>
                  <a:srgbClr val="5FA0EA"/>
                </a:solidFill>
                <a:latin typeface="Arial" pitchFamily="34" charset="0"/>
                <a:ea typeface="Arial" pitchFamily="34" charset="-122"/>
                <a:cs typeface="Arial" pitchFamily="34" charset="-120"/>
              </a:rPr>
              <a:t>.hr</a:t>
            </a:r>
            <a:endParaRPr lang="en-US" sz="2200" dirty="0"/>
          </a:p>
        </p:txBody>
      </p:sp>
      <p:sp>
        <p:nvSpPr>
          <p:cNvPr id="5" name="Text 3"/>
          <p:cNvSpPr/>
          <p:nvPr/>
        </p:nvSpPr>
        <p:spPr>
          <a:xfrm>
            <a:off x="566928" y="2116250"/>
            <a:ext cx="10515600" cy="320040"/>
          </a:xfrm>
          <a:prstGeom prst="rect">
            <a:avLst/>
          </a:prstGeom>
          <a:noFill/>
          <a:ln/>
        </p:spPr>
        <p:txBody>
          <a:bodyPr wrap="square" lIns="0" tIns="0" rIns="0" bIns="0" rtlCol="0" anchor="ctr"/>
          <a:lstStyle/>
          <a:p>
            <a:pPr marL="0" indent="0">
              <a:buNone/>
            </a:pPr>
            <a:r>
              <a:rPr lang="en-US" sz="1250" b="1" kern="0" spc="220" dirty="0">
                <a:solidFill>
                  <a:srgbClr val="5FA0EA"/>
                </a:solidFill>
                <a:latin typeface="Arial" pitchFamily="34" charset="0"/>
                <a:ea typeface="Arial" pitchFamily="34" charset="-122"/>
                <a:cs typeface="Arial" pitchFamily="34" charset="-120"/>
              </a:rPr>
              <a:t>DAS AI OPERATING SYSTEM FÜR PERSONALBERATUNGEN</a:t>
            </a:r>
            <a:endParaRPr lang="en-US" sz="1250" dirty="0"/>
          </a:p>
        </p:txBody>
      </p:sp>
      <p:sp>
        <p:nvSpPr>
          <p:cNvPr id="6" name="Text 4"/>
          <p:cNvSpPr/>
          <p:nvPr/>
        </p:nvSpPr>
        <p:spPr>
          <a:xfrm>
            <a:off x="566928" y="2286000"/>
            <a:ext cx="10972800" cy="1737360"/>
          </a:xfrm>
          <a:prstGeom prst="rect">
            <a:avLst/>
          </a:prstGeom>
          <a:noFill/>
          <a:ln/>
        </p:spPr>
        <p:txBody>
          <a:bodyPr wrap="square" lIns="0" tIns="0" rIns="0" bIns="0" rtlCol="0" anchor="ctr"/>
          <a:lstStyle/>
          <a:p>
            <a:pPr marL="0" indent="0">
              <a:lnSpc>
                <a:spcPts val="4800"/>
              </a:lnSpc>
              <a:buNone/>
            </a:pPr>
            <a:r>
              <a:rPr lang="en-US" sz="4400" b="1" dirty="0">
                <a:solidFill>
                  <a:srgbClr val="FFFFFF"/>
                </a:solidFill>
                <a:latin typeface="Arial" pitchFamily="34" charset="0"/>
                <a:ea typeface="Arial" pitchFamily="34" charset="-122"/>
                <a:cs typeface="Arial" pitchFamily="34" charset="-120"/>
              </a:rPr>
              <a:t>Recruiting-Automatisierung,
die dem </a:t>
            </a:r>
            <a:r>
              <a:rPr lang="en-US" sz="4400" b="1" dirty="0">
                <a:solidFill>
                  <a:srgbClr val="5FA0EA"/>
                </a:solidFill>
                <a:latin typeface="Arial" pitchFamily="34" charset="0"/>
                <a:ea typeface="Arial" pitchFamily="34" charset="-122"/>
                <a:cs typeface="Arial" pitchFamily="34" charset="-120"/>
              </a:rPr>
              <a:t>Urteil der Berater</a:t>
            </a:r>
            <a:r>
              <a:rPr lang="en-US" sz="4400" b="1" dirty="0">
                <a:solidFill>
                  <a:srgbClr val="FFFFFF"/>
                </a:solidFill>
                <a:latin typeface="Arial" pitchFamily="34" charset="0"/>
                <a:ea typeface="Arial" pitchFamily="34" charset="-122"/>
                <a:cs typeface="Arial" pitchFamily="34" charset="-120"/>
              </a:rPr>
              <a:t> vertraut.</a:t>
            </a:r>
            <a:endParaRPr lang="en-US" sz="4400" dirty="0"/>
          </a:p>
        </p:txBody>
      </p:sp>
      <p:sp>
        <p:nvSpPr>
          <p:cNvPr id="14" name="Shape 12"/>
          <p:cNvSpPr/>
          <p:nvPr/>
        </p:nvSpPr>
        <p:spPr>
          <a:xfrm>
            <a:off x="566928" y="5989320"/>
            <a:ext cx="11057839" cy="0"/>
          </a:xfrm>
          <a:prstGeom prst="line">
            <a:avLst/>
          </a:prstGeom>
          <a:noFill/>
          <a:ln w="9525">
            <a:solidFill>
              <a:srgbClr val="FFFFFF">
                <a:alpha val="20000"/>
              </a:srgbClr>
            </a:solidFill>
            <a:prstDash val="solid"/>
          </a:ln>
        </p:spPr>
        <p:txBody>
          <a:bodyPr/>
          <a:lstStyle/>
          <a:p>
            <a:endParaRPr lang="de-DE"/>
          </a:p>
        </p:txBody>
      </p:sp>
      <p:sp>
        <p:nvSpPr>
          <p:cNvPr id="15" name="Text 13"/>
          <p:cNvSpPr/>
          <p:nvPr/>
        </p:nvSpPr>
        <p:spPr>
          <a:xfrm>
            <a:off x="566928" y="6144768"/>
            <a:ext cx="6400800" cy="365760"/>
          </a:xfrm>
          <a:prstGeom prst="rect">
            <a:avLst/>
          </a:prstGeom>
          <a:noFill/>
          <a:ln/>
        </p:spPr>
        <p:txBody>
          <a:bodyPr wrap="square" lIns="0" tIns="0" rIns="0" bIns="0" rtlCol="0" anchor="ctr"/>
          <a:lstStyle/>
          <a:p>
            <a:pPr marL="0" indent="0">
              <a:buNone/>
            </a:pPr>
            <a:r>
              <a:rPr lang="en-US" sz="1250" b="1" dirty="0">
                <a:solidFill>
                  <a:srgbClr val="FFFFFF"/>
                </a:solidFill>
                <a:latin typeface="Arial" pitchFamily="34" charset="0"/>
                <a:ea typeface="Arial" pitchFamily="34" charset="-122"/>
                <a:cs typeface="Arial" pitchFamily="34" charset="-120"/>
              </a:rPr>
              <a:t>Start-up-Cup 2026  ·  Start-up-Manufaktur H-BRS</a:t>
            </a:r>
            <a:endParaRPr lang="en-US" sz="1250" dirty="0"/>
          </a:p>
        </p:txBody>
      </p:sp>
      <p:sp>
        <p:nvSpPr>
          <p:cNvPr id="16" name="Text 14"/>
          <p:cNvSpPr/>
          <p:nvPr/>
        </p:nvSpPr>
        <p:spPr>
          <a:xfrm>
            <a:off x="5864047" y="6144768"/>
            <a:ext cx="5760720" cy="365760"/>
          </a:xfrm>
          <a:prstGeom prst="rect">
            <a:avLst/>
          </a:prstGeom>
          <a:noFill/>
          <a:ln/>
        </p:spPr>
        <p:txBody>
          <a:bodyPr wrap="square" lIns="0" tIns="0" rIns="0" bIns="0" rtlCol="0" anchor="ctr"/>
          <a:lstStyle/>
          <a:p>
            <a:pPr marL="0" indent="0" algn="r">
              <a:buNone/>
            </a:pPr>
            <a:r>
              <a:rPr lang="en-US" sz="1200" dirty="0">
                <a:solidFill>
                  <a:srgbClr val="9DB8DD"/>
                </a:solidFill>
                <a:latin typeface="Arial" pitchFamily="34" charset="0"/>
                <a:ea typeface="Arial" pitchFamily="34" charset="-122"/>
                <a:cs typeface="Arial" pitchFamily="34" charset="-120"/>
              </a:rPr>
              <a:t>Christopher Odenkirchen  ·  </a:t>
            </a:r>
            <a:r>
              <a:rPr lang="en-US" sz="1200" dirty="0" err="1">
                <a:solidFill>
                  <a:srgbClr val="9DB8DD"/>
                </a:solidFill>
                <a:latin typeface="Arial" pitchFamily="34" charset="0"/>
                <a:ea typeface="Arial" pitchFamily="34" charset="-122"/>
                <a:cs typeface="Arial" pitchFamily="34" charset="-120"/>
              </a:rPr>
              <a:t>matchmaker.hr</a:t>
            </a:r>
            <a:r>
              <a:rPr lang="en-US" sz="1200" dirty="0">
                <a:solidFill>
                  <a:srgbClr val="9DB8DD"/>
                </a:solidFill>
                <a:latin typeface="Arial" pitchFamily="34" charset="0"/>
                <a:ea typeface="Arial" pitchFamily="34" charset="-122"/>
                <a:cs typeface="Arial" pitchFamily="34" charset="-120"/>
              </a:rPr>
              <a:t>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54864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DAS PROBLEM</a:t>
            </a:r>
            <a:endParaRPr lang="en-US" sz="1150" dirty="0"/>
          </a:p>
        </p:txBody>
      </p:sp>
      <p:sp>
        <p:nvSpPr>
          <p:cNvPr id="3" name="Text 1"/>
          <p:cNvSpPr/>
          <p:nvPr/>
        </p:nvSpPr>
        <p:spPr>
          <a:xfrm>
            <a:off x="566928" y="868680"/>
            <a:ext cx="11064240" cy="868680"/>
          </a:xfrm>
          <a:prstGeom prst="rect">
            <a:avLst/>
          </a:prstGeom>
          <a:noFill/>
          <a:ln/>
        </p:spPr>
        <p:txBody>
          <a:bodyPr wrap="square" lIns="0" tIns="0" rIns="0" bIns="0" rtlCol="0" anchor="ctr"/>
          <a:lstStyle/>
          <a:p>
            <a:pPr marL="0" indent="0" algn="l">
              <a:lnSpc>
                <a:spcPts val="2835"/>
              </a:lnSpc>
              <a:buNone/>
            </a:pPr>
            <a:r>
              <a:rPr lang="en-US" sz="2700" b="1" dirty="0">
                <a:solidFill>
                  <a:srgbClr val="0F172A"/>
                </a:solidFill>
                <a:latin typeface="Arial" pitchFamily="34" charset="0"/>
                <a:ea typeface="Arial" pitchFamily="34" charset="-122"/>
                <a:cs typeface="Arial" pitchFamily="34" charset="-120"/>
              </a:rPr>
              <a:t>Personalberater verbringen Stunden mit </a:t>
            </a:r>
            <a:r>
              <a:rPr lang="en-US" sz="2700" b="1" dirty="0">
                <a:solidFill>
                  <a:srgbClr val="2976D6"/>
                </a:solidFill>
                <a:latin typeface="Arial" pitchFamily="34" charset="0"/>
                <a:ea typeface="Arial" pitchFamily="34" charset="-122"/>
                <a:cs typeface="Arial" pitchFamily="34" charset="-120"/>
              </a:rPr>
              <a:t>manueller Klickarbeit</a:t>
            </a:r>
            <a:r>
              <a:rPr lang="en-US" sz="2700" b="1" dirty="0">
                <a:solidFill>
                  <a:srgbClr val="0F172A"/>
                </a:solidFill>
                <a:latin typeface="Arial" pitchFamily="34" charset="0"/>
                <a:ea typeface="Arial" pitchFamily="34" charset="-122"/>
                <a:cs typeface="Arial" pitchFamily="34" charset="-120"/>
              </a:rPr>
              <a:t> statt mit Beratung.</a:t>
            </a:r>
            <a:endParaRPr lang="en-US" sz="2700" dirty="0"/>
          </a:p>
        </p:txBody>
      </p:sp>
      <p:sp>
        <p:nvSpPr>
          <p:cNvPr id="4" name="Shape 2"/>
          <p:cNvSpPr/>
          <p:nvPr/>
        </p:nvSpPr>
        <p:spPr>
          <a:xfrm>
            <a:off x="566928" y="2057400"/>
            <a:ext cx="5989320" cy="877824"/>
          </a:xfrm>
          <a:prstGeom prst="roundRect">
            <a:avLst>
              <a:gd name="adj" fmla="val 9375"/>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5" name="Shape 3"/>
          <p:cNvSpPr/>
          <p:nvPr/>
        </p:nvSpPr>
        <p:spPr>
          <a:xfrm>
            <a:off x="804672" y="2276856"/>
            <a:ext cx="438912" cy="438912"/>
          </a:xfrm>
          <a:prstGeom prst="roundRect">
            <a:avLst>
              <a:gd name="adj" fmla="val 14583"/>
            </a:avLst>
          </a:prstGeom>
          <a:solidFill>
            <a:srgbClr val="172B4D"/>
          </a:solidFill>
          <a:ln/>
        </p:spPr>
        <p:txBody>
          <a:bodyPr/>
          <a:lstStyle/>
          <a:p>
            <a:endParaRPr lang="de-DE"/>
          </a:p>
        </p:txBody>
      </p:sp>
      <p:pic>
        <p:nvPicPr>
          <p:cNvPr id="6" name="Image 0" descr="preencoded.png"/>
          <p:cNvPicPr>
            <a:picLocks noChangeAspect="1"/>
          </p:cNvPicPr>
          <p:nvPr/>
        </p:nvPicPr>
        <p:blipFill>
          <a:blip r:embed="rId3"/>
          <a:stretch>
            <a:fillRect/>
          </a:stretch>
        </p:blipFill>
        <p:spPr>
          <a:xfrm>
            <a:off x="910011" y="2382195"/>
            <a:ext cx="228234" cy="228234"/>
          </a:xfrm>
          <a:prstGeom prst="rect">
            <a:avLst/>
          </a:prstGeom>
        </p:spPr>
      </p:pic>
      <p:sp>
        <p:nvSpPr>
          <p:cNvPr id="7" name="Text 4"/>
          <p:cNvSpPr/>
          <p:nvPr/>
        </p:nvSpPr>
        <p:spPr>
          <a:xfrm>
            <a:off x="1435608" y="2227456"/>
            <a:ext cx="4937760" cy="292608"/>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Manuelles Jobboard-Screening</a:t>
            </a:r>
            <a:endParaRPr lang="en-US" sz="1350" dirty="0"/>
          </a:p>
        </p:txBody>
      </p:sp>
      <p:sp>
        <p:nvSpPr>
          <p:cNvPr id="8" name="Text 5"/>
          <p:cNvSpPr/>
          <p:nvPr/>
        </p:nvSpPr>
        <p:spPr>
          <a:xfrm>
            <a:off x="1435608" y="2437350"/>
            <a:ext cx="4983480" cy="411480"/>
          </a:xfrm>
          <a:prstGeom prst="rect">
            <a:avLst/>
          </a:prstGeom>
          <a:noFill/>
          <a:ln/>
        </p:spPr>
        <p:txBody>
          <a:bodyPr wrap="square" lIns="0" tIns="0" rIns="0" bIns="0" rtlCol="0" anchor="ctr"/>
          <a:lstStyle/>
          <a:p>
            <a:pPr marL="0" indent="0">
              <a:lnSpc>
                <a:spcPts val="1300"/>
              </a:lnSpc>
              <a:buNone/>
            </a:pPr>
            <a:r>
              <a:rPr lang="en-US" sz="1050" dirty="0">
                <a:solidFill>
                  <a:srgbClr val="475569"/>
                </a:solidFill>
                <a:latin typeface="Arial" pitchFamily="34" charset="0"/>
                <a:ea typeface="Arial" pitchFamily="34" charset="-122"/>
                <a:cs typeface="Arial" pitchFamily="34" charset="-120"/>
              </a:rPr>
              <a:t>Tag für Tag werden LinkedIn, StepStone &amp; Xing per Hand nach passenden Vakanzen durchsucht.</a:t>
            </a:r>
            <a:endParaRPr lang="en-US" sz="1050" dirty="0"/>
          </a:p>
        </p:txBody>
      </p:sp>
      <p:sp>
        <p:nvSpPr>
          <p:cNvPr id="9" name="Shape 6"/>
          <p:cNvSpPr/>
          <p:nvPr/>
        </p:nvSpPr>
        <p:spPr>
          <a:xfrm>
            <a:off x="566928" y="3044952"/>
            <a:ext cx="5989320" cy="877824"/>
          </a:xfrm>
          <a:prstGeom prst="roundRect">
            <a:avLst>
              <a:gd name="adj" fmla="val 9375"/>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0" name="Shape 7"/>
          <p:cNvSpPr/>
          <p:nvPr/>
        </p:nvSpPr>
        <p:spPr>
          <a:xfrm>
            <a:off x="804672" y="3264408"/>
            <a:ext cx="438912" cy="438912"/>
          </a:xfrm>
          <a:prstGeom prst="roundRect">
            <a:avLst>
              <a:gd name="adj" fmla="val 14583"/>
            </a:avLst>
          </a:prstGeom>
          <a:solidFill>
            <a:srgbClr val="172B4D"/>
          </a:solidFill>
          <a:ln/>
        </p:spPr>
        <p:txBody>
          <a:bodyPr/>
          <a:lstStyle/>
          <a:p>
            <a:endParaRPr lang="de-DE"/>
          </a:p>
        </p:txBody>
      </p:sp>
      <p:pic>
        <p:nvPicPr>
          <p:cNvPr id="11" name="Image 1" descr="preencoded.png"/>
          <p:cNvPicPr>
            <a:picLocks noChangeAspect="1"/>
          </p:cNvPicPr>
          <p:nvPr/>
        </p:nvPicPr>
        <p:blipFill>
          <a:blip r:embed="rId4"/>
          <a:stretch>
            <a:fillRect/>
          </a:stretch>
        </p:blipFill>
        <p:spPr>
          <a:xfrm>
            <a:off x="910011" y="3369747"/>
            <a:ext cx="228234" cy="228234"/>
          </a:xfrm>
          <a:prstGeom prst="rect">
            <a:avLst/>
          </a:prstGeom>
        </p:spPr>
      </p:pic>
      <p:sp>
        <p:nvSpPr>
          <p:cNvPr id="12" name="Text 8"/>
          <p:cNvSpPr/>
          <p:nvPr/>
        </p:nvSpPr>
        <p:spPr>
          <a:xfrm>
            <a:off x="1435608" y="3215008"/>
            <a:ext cx="4937760" cy="292608"/>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Der Talentpool veraltet</a:t>
            </a:r>
            <a:endParaRPr lang="en-US" sz="1350" dirty="0"/>
          </a:p>
        </p:txBody>
      </p:sp>
      <p:sp>
        <p:nvSpPr>
          <p:cNvPr id="13" name="Text 9"/>
          <p:cNvSpPr/>
          <p:nvPr/>
        </p:nvSpPr>
        <p:spPr>
          <a:xfrm>
            <a:off x="1435608" y="3435412"/>
            <a:ext cx="4983480" cy="411480"/>
          </a:xfrm>
          <a:prstGeom prst="rect">
            <a:avLst/>
          </a:prstGeom>
          <a:noFill/>
          <a:ln/>
        </p:spPr>
        <p:txBody>
          <a:bodyPr wrap="square" lIns="0" tIns="0" rIns="0" bIns="0" rtlCol="0" anchor="ctr"/>
          <a:lstStyle/>
          <a:p>
            <a:pPr marL="0" indent="0">
              <a:lnSpc>
                <a:spcPts val="1300"/>
              </a:lnSpc>
              <a:buNone/>
            </a:pPr>
            <a:r>
              <a:rPr lang="en-US" sz="1050" dirty="0">
                <a:solidFill>
                  <a:srgbClr val="475569"/>
                </a:solidFill>
                <a:latin typeface="Arial" pitchFamily="34" charset="0"/>
                <a:ea typeface="Arial" pitchFamily="34" charset="-122"/>
                <a:cs typeface="Arial" pitchFamily="34" charset="-120"/>
              </a:rPr>
              <a:t>Einmal aufgenommene Kandidaten werden kaum nachgepflegt – wertvolle Profile bleiben ungenutzt.</a:t>
            </a:r>
            <a:endParaRPr lang="en-US" sz="1050" dirty="0"/>
          </a:p>
        </p:txBody>
      </p:sp>
      <p:sp>
        <p:nvSpPr>
          <p:cNvPr id="14" name="Shape 10"/>
          <p:cNvSpPr/>
          <p:nvPr/>
        </p:nvSpPr>
        <p:spPr>
          <a:xfrm>
            <a:off x="566928" y="4032504"/>
            <a:ext cx="5989320" cy="877824"/>
          </a:xfrm>
          <a:prstGeom prst="roundRect">
            <a:avLst>
              <a:gd name="adj" fmla="val 9375"/>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5" name="Shape 11"/>
          <p:cNvSpPr/>
          <p:nvPr/>
        </p:nvSpPr>
        <p:spPr>
          <a:xfrm>
            <a:off x="804672" y="4251960"/>
            <a:ext cx="438912" cy="438912"/>
          </a:xfrm>
          <a:prstGeom prst="roundRect">
            <a:avLst>
              <a:gd name="adj" fmla="val 14583"/>
            </a:avLst>
          </a:prstGeom>
          <a:solidFill>
            <a:srgbClr val="172B4D"/>
          </a:solidFill>
          <a:ln/>
        </p:spPr>
        <p:txBody>
          <a:bodyPr/>
          <a:lstStyle/>
          <a:p>
            <a:endParaRPr lang="de-DE"/>
          </a:p>
        </p:txBody>
      </p:sp>
      <p:pic>
        <p:nvPicPr>
          <p:cNvPr id="16" name="Image 2" descr="preencoded.png"/>
          <p:cNvPicPr>
            <a:picLocks noChangeAspect="1"/>
          </p:cNvPicPr>
          <p:nvPr/>
        </p:nvPicPr>
        <p:blipFill>
          <a:blip r:embed="rId5"/>
          <a:stretch>
            <a:fillRect/>
          </a:stretch>
        </p:blipFill>
        <p:spPr>
          <a:xfrm>
            <a:off x="910011" y="4357299"/>
            <a:ext cx="228234" cy="228234"/>
          </a:xfrm>
          <a:prstGeom prst="rect">
            <a:avLst/>
          </a:prstGeom>
        </p:spPr>
      </p:pic>
      <p:sp>
        <p:nvSpPr>
          <p:cNvPr id="17" name="Text 12"/>
          <p:cNvSpPr/>
          <p:nvPr/>
        </p:nvSpPr>
        <p:spPr>
          <a:xfrm>
            <a:off x="1435608" y="4202560"/>
            <a:ext cx="4937760" cy="292608"/>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Anschreiben in Handarbeit</a:t>
            </a:r>
            <a:endParaRPr lang="en-US" sz="1350" dirty="0"/>
          </a:p>
        </p:txBody>
      </p:sp>
      <p:sp>
        <p:nvSpPr>
          <p:cNvPr id="18" name="Text 13"/>
          <p:cNvSpPr/>
          <p:nvPr/>
        </p:nvSpPr>
        <p:spPr>
          <a:xfrm>
            <a:off x="1435608" y="4422964"/>
            <a:ext cx="4983480" cy="411480"/>
          </a:xfrm>
          <a:prstGeom prst="rect">
            <a:avLst/>
          </a:prstGeom>
          <a:noFill/>
          <a:ln/>
        </p:spPr>
        <p:txBody>
          <a:bodyPr wrap="square" lIns="0" tIns="0" rIns="0" bIns="0" rtlCol="0" anchor="ctr"/>
          <a:lstStyle/>
          <a:p>
            <a:pPr marL="0" indent="0">
              <a:lnSpc>
                <a:spcPts val="1300"/>
              </a:lnSpc>
              <a:buNone/>
            </a:pPr>
            <a:r>
              <a:rPr lang="en-US" sz="1050" dirty="0">
                <a:solidFill>
                  <a:srgbClr val="475569"/>
                </a:solidFill>
                <a:latin typeface="Arial" pitchFamily="34" charset="0"/>
                <a:ea typeface="Arial" pitchFamily="34" charset="-122"/>
                <a:cs typeface="Arial" pitchFamily="34" charset="-120"/>
              </a:rPr>
              <a:t>Ansprechpartner werden einzeln recherchiert, jede Nachricht manuell formuliert und getippt.</a:t>
            </a:r>
            <a:endParaRPr lang="en-US" sz="1050" dirty="0"/>
          </a:p>
        </p:txBody>
      </p:sp>
      <p:sp>
        <p:nvSpPr>
          <p:cNvPr id="19" name="Shape 14"/>
          <p:cNvSpPr/>
          <p:nvPr/>
        </p:nvSpPr>
        <p:spPr>
          <a:xfrm>
            <a:off x="566928" y="5020056"/>
            <a:ext cx="5989320" cy="877824"/>
          </a:xfrm>
          <a:prstGeom prst="roundRect">
            <a:avLst>
              <a:gd name="adj" fmla="val 9375"/>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20" name="Shape 15"/>
          <p:cNvSpPr/>
          <p:nvPr/>
        </p:nvSpPr>
        <p:spPr>
          <a:xfrm>
            <a:off x="804672" y="5239512"/>
            <a:ext cx="438912" cy="438912"/>
          </a:xfrm>
          <a:prstGeom prst="roundRect">
            <a:avLst>
              <a:gd name="adj" fmla="val 14583"/>
            </a:avLst>
          </a:prstGeom>
          <a:solidFill>
            <a:srgbClr val="172B4D"/>
          </a:solidFill>
          <a:ln/>
        </p:spPr>
        <p:txBody>
          <a:bodyPr/>
          <a:lstStyle/>
          <a:p>
            <a:endParaRPr lang="de-DE"/>
          </a:p>
        </p:txBody>
      </p:sp>
      <p:pic>
        <p:nvPicPr>
          <p:cNvPr id="21" name="Image 3" descr="preencoded.png"/>
          <p:cNvPicPr>
            <a:picLocks noChangeAspect="1"/>
          </p:cNvPicPr>
          <p:nvPr/>
        </p:nvPicPr>
        <p:blipFill>
          <a:blip r:embed="rId6"/>
          <a:stretch>
            <a:fillRect/>
          </a:stretch>
        </p:blipFill>
        <p:spPr>
          <a:xfrm>
            <a:off x="910011" y="5344851"/>
            <a:ext cx="228234" cy="228234"/>
          </a:xfrm>
          <a:prstGeom prst="rect">
            <a:avLst/>
          </a:prstGeom>
        </p:spPr>
      </p:pic>
      <p:sp>
        <p:nvSpPr>
          <p:cNvPr id="22" name="Text 16"/>
          <p:cNvSpPr/>
          <p:nvPr/>
        </p:nvSpPr>
        <p:spPr>
          <a:xfrm>
            <a:off x="1435608" y="5190112"/>
            <a:ext cx="4937760" cy="292608"/>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Wachstum nur über Personal</a:t>
            </a:r>
            <a:endParaRPr lang="en-US" sz="1350" dirty="0"/>
          </a:p>
        </p:txBody>
      </p:sp>
      <p:sp>
        <p:nvSpPr>
          <p:cNvPr id="23" name="Text 17"/>
          <p:cNvSpPr/>
          <p:nvPr/>
        </p:nvSpPr>
        <p:spPr>
          <a:xfrm>
            <a:off x="1435608" y="5410516"/>
            <a:ext cx="4983480" cy="411480"/>
          </a:xfrm>
          <a:prstGeom prst="rect">
            <a:avLst/>
          </a:prstGeom>
          <a:noFill/>
          <a:ln/>
        </p:spPr>
        <p:txBody>
          <a:bodyPr wrap="square" lIns="0" tIns="0" rIns="0" bIns="0" rtlCol="0" anchor="ctr"/>
          <a:lstStyle/>
          <a:p>
            <a:pPr marL="0" indent="0">
              <a:lnSpc>
                <a:spcPts val="1300"/>
              </a:lnSpc>
              <a:buNone/>
            </a:pPr>
            <a:r>
              <a:rPr lang="en-US" sz="1050" dirty="0">
                <a:solidFill>
                  <a:srgbClr val="475569"/>
                </a:solidFill>
                <a:latin typeface="Arial" pitchFamily="34" charset="0"/>
                <a:ea typeface="Arial" pitchFamily="34" charset="-122"/>
                <a:cs typeface="Arial" pitchFamily="34" charset="-120"/>
              </a:rPr>
              <a:t>Mehr Mandate bedeuten mehr Einstellungen – der Prozess skaliert nicht mit.</a:t>
            </a:r>
            <a:endParaRPr lang="en-US" sz="1050" dirty="0"/>
          </a:p>
        </p:txBody>
      </p:sp>
      <p:sp>
        <p:nvSpPr>
          <p:cNvPr id="24" name="Shape 18"/>
          <p:cNvSpPr/>
          <p:nvPr/>
        </p:nvSpPr>
        <p:spPr>
          <a:xfrm>
            <a:off x="7040880" y="2057400"/>
            <a:ext cx="4583887" cy="1783080"/>
          </a:xfrm>
          <a:prstGeom prst="roundRect">
            <a:avLst>
              <a:gd name="adj" fmla="val 4615"/>
            </a:avLst>
          </a:prstGeom>
          <a:solidFill>
            <a:srgbClr val="172B4D"/>
          </a:solidFill>
          <a:ln/>
          <a:effectLst>
            <a:outerShdw blurRad="114300" dist="38100" dir="5400000" algn="bl" rotWithShape="0">
              <a:srgbClr val="0B1B3A">
                <a:alpha val="13000"/>
              </a:srgbClr>
            </a:outerShdw>
          </a:effectLst>
        </p:spPr>
        <p:txBody>
          <a:bodyPr/>
          <a:lstStyle/>
          <a:p>
            <a:endParaRPr lang="de-DE"/>
          </a:p>
        </p:txBody>
      </p:sp>
      <p:sp>
        <p:nvSpPr>
          <p:cNvPr id="25" name="Text 19"/>
          <p:cNvSpPr/>
          <p:nvPr/>
        </p:nvSpPr>
        <p:spPr>
          <a:xfrm>
            <a:off x="7040880" y="2240280"/>
            <a:ext cx="4583887" cy="274320"/>
          </a:xfrm>
          <a:prstGeom prst="rect">
            <a:avLst/>
          </a:prstGeom>
          <a:noFill/>
          <a:ln/>
        </p:spPr>
        <p:txBody>
          <a:bodyPr wrap="square" lIns="0" tIns="0" rIns="0" bIns="0" rtlCol="0" anchor="ctr"/>
          <a:lstStyle/>
          <a:p>
            <a:pPr marL="0" indent="0" algn="ctr">
              <a:buNone/>
            </a:pPr>
            <a:r>
              <a:rPr lang="en-US" sz="1200" dirty="0">
                <a:solidFill>
                  <a:srgbClr val="9DB8DD"/>
                </a:solidFill>
                <a:latin typeface="Arial" pitchFamily="34" charset="0"/>
                <a:ea typeface="Arial" pitchFamily="34" charset="-122"/>
                <a:cs typeface="Arial" pitchFamily="34" charset="-120"/>
              </a:rPr>
              <a:t>bis zu</a:t>
            </a:r>
            <a:endParaRPr lang="en-US" sz="1200" dirty="0"/>
          </a:p>
        </p:txBody>
      </p:sp>
      <p:sp>
        <p:nvSpPr>
          <p:cNvPr id="26" name="Text 20"/>
          <p:cNvSpPr/>
          <p:nvPr/>
        </p:nvSpPr>
        <p:spPr>
          <a:xfrm>
            <a:off x="7040880" y="2468880"/>
            <a:ext cx="4583887" cy="777240"/>
          </a:xfrm>
          <a:prstGeom prst="rect">
            <a:avLst/>
          </a:prstGeom>
          <a:noFill/>
          <a:ln/>
        </p:spPr>
        <p:txBody>
          <a:bodyPr wrap="square" lIns="0" tIns="0" rIns="0" bIns="0" rtlCol="0" anchor="ctr"/>
          <a:lstStyle/>
          <a:p>
            <a:pPr marL="0" indent="0" algn="ctr">
              <a:buNone/>
            </a:pPr>
            <a:r>
              <a:rPr lang="en-US" sz="5400" b="1" dirty="0">
                <a:solidFill>
                  <a:srgbClr val="FFFFFF"/>
                </a:solidFill>
                <a:latin typeface="Arial" pitchFamily="34" charset="0"/>
                <a:ea typeface="Arial" pitchFamily="34" charset="-122"/>
                <a:cs typeface="Arial" pitchFamily="34" charset="-120"/>
              </a:rPr>
              <a:t>70 %</a:t>
            </a:r>
            <a:endParaRPr lang="en-US" sz="5400" dirty="0"/>
          </a:p>
        </p:txBody>
      </p:sp>
      <p:sp>
        <p:nvSpPr>
          <p:cNvPr id="27" name="Text 21"/>
          <p:cNvSpPr/>
          <p:nvPr/>
        </p:nvSpPr>
        <p:spPr>
          <a:xfrm>
            <a:off x="7406640" y="3291840"/>
            <a:ext cx="3852367" cy="457200"/>
          </a:xfrm>
          <a:prstGeom prst="rect">
            <a:avLst/>
          </a:prstGeom>
          <a:noFill/>
          <a:ln/>
        </p:spPr>
        <p:txBody>
          <a:bodyPr wrap="square" lIns="0" tIns="0" rIns="0" bIns="0" rtlCol="0" anchor="ctr"/>
          <a:lstStyle/>
          <a:p>
            <a:pPr marL="0" indent="0" algn="ctr">
              <a:lnSpc>
                <a:spcPts val="1400"/>
              </a:lnSpc>
              <a:buNone/>
            </a:pPr>
            <a:r>
              <a:rPr lang="en-US" sz="1150" dirty="0">
                <a:solidFill>
                  <a:srgbClr val="C9D6EC"/>
                </a:solidFill>
                <a:latin typeface="Arial" pitchFamily="34" charset="0"/>
                <a:ea typeface="Arial" pitchFamily="34" charset="-122"/>
                <a:cs typeface="Arial" pitchFamily="34" charset="-120"/>
              </a:rPr>
              <a:t>der Sourcing-Zeit fließen in wiederkehrende Recherche – nicht in den Kandidatenkontakt.</a:t>
            </a:r>
            <a:endParaRPr lang="en-US" sz="1150" dirty="0"/>
          </a:p>
        </p:txBody>
      </p:sp>
      <p:sp>
        <p:nvSpPr>
          <p:cNvPr id="28" name="Shape 22"/>
          <p:cNvSpPr/>
          <p:nvPr/>
        </p:nvSpPr>
        <p:spPr>
          <a:xfrm>
            <a:off x="7040880" y="3977640"/>
            <a:ext cx="4583887" cy="1627632"/>
          </a:xfrm>
          <a:prstGeom prst="roundRect">
            <a:avLst>
              <a:gd name="adj" fmla="val 5056"/>
            </a:avLst>
          </a:prstGeom>
          <a:solidFill>
            <a:srgbClr val="F6F8FC"/>
          </a:solidFill>
          <a:ln w="12700">
            <a:solidFill>
              <a:srgbClr val="E7EBF1"/>
            </a:solidFill>
            <a:prstDash val="solid"/>
          </a:ln>
        </p:spPr>
        <p:txBody>
          <a:bodyPr/>
          <a:lstStyle/>
          <a:p>
            <a:endParaRPr lang="de-DE"/>
          </a:p>
        </p:txBody>
      </p:sp>
      <p:sp>
        <p:nvSpPr>
          <p:cNvPr id="29" name="Text 23"/>
          <p:cNvSpPr/>
          <p:nvPr/>
        </p:nvSpPr>
        <p:spPr>
          <a:xfrm>
            <a:off x="7333488" y="4160520"/>
            <a:ext cx="4035247" cy="320040"/>
          </a:xfrm>
          <a:prstGeom prst="rect">
            <a:avLst/>
          </a:prstGeom>
          <a:noFill/>
          <a:ln/>
        </p:spPr>
        <p:txBody>
          <a:bodyPr wrap="square" lIns="0" tIns="0" rIns="0" bIns="0" rtlCol="0" anchor="ctr"/>
          <a:lstStyle/>
          <a:p>
            <a:pPr marL="0" indent="0">
              <a:buNone/>
            </a:pPr>
            <a:r>
              <a:rPr lang="en-US" sz="1300" b="1" dirty="0">
                <a:solidFill>
                  <a:srgbClr val="0F172A"/>
                </a:solidFill>
                <a:latin typeface="Arial" pitchFamily="34" charset="0"/>
                <a:ea typeface="Arial" pitchFamily="34" charset="-122"/>
                <a:cs typeface="Arial" pitchFamily="34" charset="-120"/>
              </a:rPr>
              <a:t>Ein Markt, der unter Zeitdruck steht</a:t>
            </a:r>
            <a:endParaRPr lang="en-US" sz="1300" dirty="0"/>
          </a:p>
        </p:txBody>
      </p:sp>
      <p:sp>
        <p:nvSpPr>
          <p:cNvPr id="30" name="Text 24"/>
          <p:cNvSpPr/>
          <p:nvPr/>
        </p:nvSpPr>
        <p:spPr>
          <a:xfrm>
            <a:off x="7351776" y="4498848"/>
            <a:ext cx="4016959" cy="960120"/>
          </a:xfrm>
          <a:prstGeom prst="rect">
            <a:avLst/>
          </a:prstGeom>
          <a:noFill/>
          <a:ln/>
        </p:spPr>
        <p:txBody>
          <a:bodyPr wrap="square" lIns="0" tIns="0" rIns="0" bIns="0" rtlCol="0" anchor="ctr"/>
          <a:lstStyle/>
          <a:p>
            <a:pPr marL="177800" indent="-177800">
              <a:lnSpc>
                <a:spcPts val="1350"/>
              </a:lnSpc>
              <a:spcAft>
                <a:spcPts val="500"/>
              </a:spcAft>
              <a:buSzPct val="100000"/>
              <a:buChar char="•"/>
            </a:pPr>
            <a:r>
              <a:rPr lang="en-US" sz="1100" dirty="0">
                <a:solidFill>
                  <a:srgbClr val="475569"/>
                </a:solidFill>
                <a:latin typeface="Arial" pitchFamily="34" charset="0"/>
                <a:ea typeface="Arial" pitchFamily="34" charset="-122"/>
                <a:cs typeface="Arial" pitchFamily="34" charset="-120"/>
              </a:rPr>
              <a:t>2.175 Personalberatungen in Deutschland</a:t>
            </a:r>
            <a:endParaRPr lang="en-US" sz="1100" dirty="0"/>
          </a:p>
          <a:p>
            <a:pPr marL="177800" indent="-177800">
              <a:lnSpc>
                <a:spcPts val="1350"/>
              </a:lnSpc>
              <a:spcAft>
                <a:spcPts val="500"/>
              </a:spcAft>
              <a:buSzPct val="100000"/>
              <a:buChar char="•"/>
            </a:pPr>
            <a:r>
              <a:rPr lang="en-US" sz="1100" dirty="0">
                <a:solidFill>
                  <a:srgbClr val="475569"/>
                </a:solidFill>
                <a:latin typeface="Arial" pitchFamily="34" charset="0"/>
                <a:ea typeface="Arial" pitchFamily="34" charset="-122"/>
                <a:cs typeface="Arial" pitchFamily="34" charset="-120"/>
              </a:rPr>
              <a:t>über 80 % mit weniger als 2,5 Mio. € Umsatz – kleine Teams, wenig Zeit</a:t>
            </a:r>
            <a:endParaRPr lang="en-US" sz="1100" dirty="0"/>
          </a:p>
          <a:p>
            <a:pPr marL="177800" indent="-177800">
              <a:lnSpc>
                <a:spcPts val="1350"/>
              </a:lnSpc>
              <a:spcAft>
                <a:spcPts val="500"/>
              </a:spcAft>
              <a:buSzPct val="100000"/>
              <a:buChar char="•"/>
            </a:pPr>
            <a:r>
              <a:rPr lang="en-US" sz="1100" dirty="0">
                <a:solidFill>
                  <a:srgbClr val="475569"/>
                </a:solidFill>
                <a:latin typeface="Arial" pitchFamily="34" charset="0"/>
                <a:ea typeface="Arial" pitchFamily="34" charset="-122"/>
                <a:cs typeface="Arial" pitchFamily="34" charset="-120"/>
              </a:rPr>
              <a:t>14.550 Beschäftigte, die jede Stunde produktiv brauchen</a:t>
            </a:r>
            <a:endParaRPr lang="en-US" sz="1100" dirty="0"/>
          </a:p>
        </p:txBody>
      </p:sp>
      <p:sp>
        <p:nvSpPr>
          <p:cNvPr id="31" name="Text 25"/>
          <p:cNvSpPr/>
          <p:nvPr/>
        </p:nvSpPr>
        <p:spPr>
          <a:xfrm>
            <a:off x="7040880" y="5632704"/>
            <a:ext cx="4583887" cy="228600"/>
          </a:xfrm>
          <a:prstGeom prst="rect">
            <a:avLst/>
          </a:prstGeom>
          <a:noFill/>
          <a:ln/>
        </p:spPr>
        <p:txBody>
          <a:bodyPr wrap="square" lIns="0" tIns="0" rIns="0" bIns="0" rtlCol="0" anchor="ctr"/>
          <a:lstStyle/>
          <a:p>
            <a:pPr marL="0" indent="0" algn="ctr">
              <a:buNone/>
            </a:pPr>
            <a:r>
              <a:rPr lang="en-US" sz="850" i="1" dirty="0">
                <a:solidFill>
                  <a:srgbClr val="7C8AA0"/>
                </a:solidFill>
                <a:latin typeface="Arial" pitchFamily="34" charset="0"/>
                <a:ea typeface="Arial" pitchFamily="34" charset="-122"/>
                <a:cs typeface="Arial" pitchFamily="34" charset="-120"/>
              </a:rPr>
              <a:t>Quelle: BDU, Facts &amp; Figures zum Personalberatungsmarkt 2024</a:t>
            </a:r>
            <a:endParaRPr lang="en-US" sz="850" dirty="0"/>
          </a:p>
        </p:txBody>
      </p:sp>
      <p:sp>
        <p:nvSpPr>
          <p:cNvPr id="32" name="Text 26"/>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3" name="Text 27"/>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02 / 14</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577438" y="58569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DIE LÖSUNG</a:t>
            </a:r>
            <a:endParaRPr lang="en-US" sz="1150" dirty="0"/>
          </a:p>
        </p:txBody>
      </p:sp>
      <p:sp>
        <p:nvSpPr>
          <p:cNvPr id="3" name="Text 1"/>
          <p:cNvSpPr/>
          <p:nvPr/>
        </p:nvSpPr>
        <p:spPr>
          <a:xfrm>
            <a:off x="566928" y="868680"/>
            <a:ext cx="11155680" cy="868680"/>
          </a:xfrm>
          <a:prstGeom prst="rect">
            <a:avLst/>
          </a:prstGeom>
          <a:noFill/>
          <a:ln/>
        </p:spPr>
        <p:txBody>
          <a:bodyPr wrap="square" lIns="0" tIns="0" rIns="0" bIns="0" rtlCol="0" anchor="ctr"/>
          <a:lstStyle/>
          <a:p>
            <a:pPr marL="0" indent="0" algn="l">
              <a:lnSpc>
                <a:spcPts val="2625"/>
              </a:lnSpc>
              <a:buNone/>
            </a:pPr>
            <a:r>
              <a:rPr lang="en-US" sz="2500" b="1" dirty="0">
                <a:solidFill>
                  <a:srgbClr val="0F172A"/>
                </a:solidFill>
                <a:latin typeface="Arial" pitchFamily="34" charset="0"/>
                <a:ea typeface="Arial" pitchFamily="34" charset="-122"/>
                <a:cs typeface="Arial" pitchFamily="34" charset="-120"/>
              </a:rPr>
              <a:t>Ein </a:t>
            </a:r>
            <a:r>
              <a:rPr lang="en-US" sz="2500" b="1" dirty="0">
                <a:solidFill>
                  <a:srgbClr val="2976D6"/>
                </a:solidFill>
                <a:latin typeface="Arial" pitchFamily="34" charset="0"/>
                <a:ea typeface="Arial" pitchFamily="34" charset="-122"/>
                <a:cs typeface="Arial" pitchFamily="34" charset="-120"/>
              </a:rPr>
              <a:t>KI-Agentensystem</a:t>
            </a:r>
            <a:r>
              <a:rPr lang="en-US" sz="2500" b="1" dirty="0">
                <a:solidFill>
                  <a:srgbClr val="0F172A"/>
                </a:solidFill>
                <a:latin typeface="Arial" pitchFamily="34" charset="0"/>
                <a:ea typeface="Arial" pitchFamily="34" charset="-122"/>
                <a:cs typeface="Arial" pitchFamily="34" charset="-120"/>
              </a:rPr>
              <a:t>, das den Vermittlungsprozess automatisiert –</a:t>
            </a:r>
            <a:endParaRPr lang="en-US" sz="2500" dirty="0"/>
          </a:p>
          <a:p>
            <a:pPr marL="0" indent="0" algn="l">
              <a:lnSpc>
                <a:spcPts val="2625"/>
              </a:lnSpc>
              <a:buNone/>
            </a:pPr>
            <a:r>
              <a:rPr lang="en-US" sz="2500" b="1" dirty="0">
                <a:solidFill>
                  <a:srgbClr val="0F172A"/>
                </a:solidFill>
                <a:latin typeface="Arial" pitchFamily="34" charset="0"/>
                <a:ea typeface="Arial" pitchFamily="34" charset="-122"/>
                <a:cs typeface="Arial" pitchFamily="34" charset="-120"/>
              </a:rPr>
              <a:t>und die Entscheidung beim Berater lässt.</a:t>
            </a:r>
            <a:endParaRPr lang="en-US" sz="2500" dirty="0"/>
          </a:p>
        </p:txBody>
      </p:sp>
      <p:sp>
        <p:nvSpPr>
          <p:cNvPr id="4" name="Shape 2"/>
          <p:cNvSpPr/>
          <p:nvPr/>
        </p:nvSpPr>
        <p:spPr>
          <a:xfrm>
            <a:off x="566928" y="2331720"/>
            <a:ext cx="3442106" cy="2286000"/>
          </a:xfrm>
          <a:prstGeom prst="roundRect">
            <a:avLst>
              <a:gd name="adj" fmla="val 360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5" name="Shape 3"/>
          <p:cNvSpPr/>
          <p:nvPr/>
        </p:nvSpPr>
        <p:spPr>
          <a:xfrm>
            <a:off x="877824" y="2651760"/>
            <a:ext cx="566928" cy="566928"/>
          </a:xfrm>
          <a:prstGeom prst="roundRect">
            <a:avLst>
              <a:gd name="adj" fmla="val 11290"/>
            </a:avLst>
          </a:prstGeom>
          <a:solidFill>
            <a:srgbClr val="2976D6"/>
          </a:solidFill>
          <a:ln/>
        </p:spPr>
        <p:txBody>
          <a:bodyPr/>
          <a:lstStyle/>
          <a:p>
            <a:endParaRPr lang="de-DE"/>
          </a:p>
        </p:txBody>
      </p:sp>
      <p:pic>
        <p:nvPicPr>
          <p:cNvPr id="6" name="Image 0" descr="preencoded.png"/>
          <p:cNvPicPr>
            <a:picLocks noChangeAspect="1"/>
          </p:cNvPicPr>
          <p:nvPr/>
        </p:nvPicPr>
        <p:blipFill>
          <a:blip r:embed="rId3"/>
          <a:stretch>
            <a:fillRect/>
          </a:stretch>
        </p:blipFill>
        <p:spPr>
          <a:xfrm>
            <a:off x="1013887" y="2787823"/>
            <a:ext cx="294803" cy="294803"/>
          </a:xfrm>
          <a:prstGeom prst="rect">
            <a:avLst/>
          </a:prstGeom>
        </p:spPr>
      </p:pic>
      <p:sp>
        <p:nvSpPr>
          <p:cNvPr id="7" name="Text 4"/>
          <p:cNvSpPr/>
          <p:nvPr/>
        </p:nvSpPr>
        <p:spPr>
          <a:xfrm>
            <a:off x="877824" y="3383280"/>
            <a:ext cx="2820314" cy="365760"/>
          </a:xfrm>
          <a:prstGeom prst="rect">
            <a:avLst/>
          </a:prstGeom>
          <a:noFill/>
          <a:ln/>
        </p:spPr>
        <p:txBody>
          <a:bodyPr wrap="square" lIns="0" tIns="0" rIns="0" bIns="0" rtlCol="0" anchor="ctr"/>
          <a:lstStyle/>
          <a:p>
            <a:pPr marL="0" indent="0">
              <a:buNone/>
            </a:pPr>
            <a:r>
              <a:rPr lang="en-US" sz="1500" b="1" dirty="0">
                <a:solidFill>
                  <a:srgbClr val="0F172A"/>
                </a:solidFill>
                <a:latin typeface="Arial" pitchFamily="34" charset="0"/>
                <a:ea typeface="Arial" pitchFamily="34" charset="-122"/>
                <a:cs typeface="Arial" pitchFamily="34" charset="-120"/>
              </a:rPr>
              <a:t>Automatisiert die Routine</a:t>
            </a:r>
            <a:endParaRPr lang="en-US" sz="1500" dirty="0"/>
          </a:p>
        </p:txBody>
      </p:sp>
      <p:sp>
        <p:nvSpPr>
          <p:cNvPr id="8" name="Text 5"/>
          <p:cNvSpPr/>
          <p:nvPr/>
        </p:nvSpPr>
        <p:spPr>
          <a:xfrm>
            <a:off x="877824" y="3767328"/>
            <a:ext cx="2875178" cy="777240"/>
          </a:xfrm>
          <a:prstGeom prst="rect">
            <a:avLst/>
          </a:prstGeom>
          <a:noFill/>
          <a:ln/>
        </p:spPr>
        <p:txBody>
          <a:bodyPr wrap="square" lIns="0" tIns="0" rIns="0" bIns="0" rtlCol="0" anchor="ctr"/>
          <a:lstStyle/>
          <a:p>
            <a:pPr marL="0" indent="0">
              <a:lnSpc>
                <a:spcPts val="1500"/>
              </a:lnSpc>
              <a:buNone/>
            </a:pPr>
            <a:r>
              <a:rPr lang="en-US" sz="1150" dirty="0">
                <a:solidFill>
                  <a:srgbClr val="475569"/>
                </a:solidFill>
                <a:latin typeface="Arial" pitchFamily="34" charset="0"/>
                <a:ea typeface="Arial" pitchFamily="34" charset="-122"/>
                <a:cs typeface="Arial" pitchFamily="34" charset="-120"/>
              </a:rPr>
              <a:t>Marktanalyse, Matching und Anschreiben laufen im Hintergrund automatisch zu – statt manueller Klickarbeit.</a:t>
            </a:r>
            <a:endParaRPr lang="en-US" sz="1150" dirty="0"/>
          </a:p>
        </p:txBody>
      </p:sp>
      <p:sp>
        <p:nvSpPr>
          <p:cNvPr id="9" name="Shape 6"/>
          <p:cNvSpPr/>
          <p:nvPr/>
        </p:nvSpPr>
        <p:spPr>
          <a:xfrm>
            <a:off x="4374794" y="2331720"/>
            <a:ext cx="3442106" cy="2286000"/>
          </a:xfrm>
          <a:prstGeom prst="roundRect">
            <a:avLst>
              <a:gd name="adj" fmla="val 360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0" name="Shape 7"/>
          <p:cNvSpPr/>
          <p:nvPr/>
        </p:nvSpPr>
        <p:spPr>
          <a:xfrm>
            <a:off x="4685690" y="2651760"/>
            <a:ext cx="566928" cy="566928"/>
          </a:xfrm>
          <a:prstGeom prst="roundRect">
            <a:avLst>
              <a:gd name="adj" fmla="val 11290"/>
            </a:avLst>
          </a:prstGeom>
          <a:solidFill>
            <a:srgbClr val="2976D6"/>
          </a:solidFill>
          <a:ln/>
        </p:spPr>
        <p:txBody>
          <a:bodyPr/>
          <a:lstStyle/>
          <a:p>
            <a:endParaRPr lang="de-DE"/>
          </a:p>
        </p:txBody>
      </p:sp>
      <p:pic>
        <p:nvPicPr>
          <p:cNvPr id="11" name="Image 1" descr="preencoded.png"/>
          <p:cNvPicPr>
            <a:picLocks noChangeAspect="1"/>
          </p:cNvPicPr>
          <p:nvPr/>
        </p:nvPicPr>
        <p:blipFill>
          <a:blip r:embed="rId4"/>
          <a:stretch>
            <a:fillRect/>
          </a:stretch>
        </p:blipFill>
        <p:spPr>
          <a:xfrm>
            <a:off x="4821753" y="2787823"/>
            <a:ext cx="294803" cy="294803"/>
          </a:xfrm>
          <a:prstGeom prst="rect">
            <a:avLst/>
          </a:prstGeom>
        </p:spPr>
      </p:pic>
      <p:sp>
        <p:nvSpPr>
          <p:cNvPr id="12" name="Text 8"/>
          <p:cNvSpPr/>
          <p:nvPr/>
        </p:nvSpPr>
        <p:spPr>
          <a:xfrm>
            <a:off x="4685690" y="3383280"/>
            <a:ext cx="2820314" cy="365760"/>
          </a:xfrm>
          <a:prstGeom prst="rect">
            <a:avLst/>
          </a:prstGeom>
          <a:noFill/>
          <a:ln/>
        </p:spPr>
        <p:txBody>
          <a:bodyPr wrap="square" lIns="0" tIns="0" rIns="0" bIns="0" rtlCol="0" anchor="ctr"/>
          <a:lstStyle/>
          <a:p>
            <a:pPr marL="0" indent="0">
              <a:buNone/>
            </a:pPr>
            <a:r>
              <a:rPr lang="en-US" sz="1500" b="1" dirty="0">
                <a:solidFill>
                  <a:srgbClr val="0F172A"/>
                </a:solidFill>
                <a:latin typeface="Arial" pitchFamily="34" charset="0"/>
                <a:ea typeface="Arial" pitchFamily="34" charset="-122"/>
                <a:cs typeface="Arial" pitchFamily="34" charset="-120"/>
              </a:rPr>
              <a:t>Nachvollziehbare KI</a:t>
            </a:r>
            <a:endParaRPr lang="en-US" sz="1500" dirty="0"/>
          </a:p>
        </p:txBody>
      </p:sp>
      <p:sp>
        <p:nvSpPr>
          <p:cNvPr id="13" name="Text 9"/>
          <p:cNvSpPr/>
          <p:nvPr/>
        </p:nvSpPr>
        <p:spPr>
          <a:xfrm>
            <a:off x="4685690" y="3767328"/>
            <a:ext cx="2875178" cy="777240"/>
          </a:xfrm>
          <a:prstGeom prst="rect">
            <a:avLst/>
          </a:prstGeom>
          <a:noFill/>
          <a:ln/>
        </p:spPr>
        <p:txBody>
          <a:bodyPr wrap="square" lIns="0" tIns="0" rIns="0" bIns="0" rtlCol="0" anchor="ctr"/>
          <a:lstStyle/>
          <a:p>
            <a:pPr marL="0" indent="0">
              <a:lnSpc>
                <a:spcPts val="1500"/>
              </a:lnSpc>
              <a:buNone/>
            </a:pPr>
            <a:r>
              <a:rPr lang="en-US" sz="1150" dirty="0">
                <a:solidFill>
                  <a:srgbClr val="475569"/>
                </a:solidFill>
                <a:latin typeface="Arial" pitchFamily="34" charset="0"/>
                <a:ea typeface="Arial" pitchFamily="34" charset="-122"/>
                <a:cs typeface="Arial" pitchFamily="34" charset="-120"/>
              </a:rPr>
              <a:t>Jede Empfehlung kommt mit einem Score und einer Begründung, die sich dem Kunden direkt präsentieren lässt.</a:t>
            </a:r>
            <a:endParaRPr lang="en-US" sz="1150" dirty="0"/>
          </a:p>
        </p:txBody>
      </p:sp>
      <p:sp>
        <p:nvSpPr>
          <p:cNvPr id="14" name="Shape 10"/>
          <p:cNvSpPr/>
          <p:nvPr/>
        </p:nvSpPr>
        <p:spPr>
          <a:xfrm>
            <a:off x="8182661" y="2331720"/>
            <a:ext cx="3442106" cy="2286000"/>
          </a:xfrm>
          <a:prstGeom prst="roundRect">
            <a:avLst>
              <a:gd name="adj" fmla="val 360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5" name="Shape 11"/>
          <p:cNvSpPr/>
          <p:nvPr/>
        </p:nvSpPr>
        <p:spPr>
          <a:xfrm>
            <a:off x="8493557" y="2651760"/>
            <a:ext cx="566928" cy="566928"/>
          </a:xfrm>
          <a:prstGeom prst="roundRect">
            <a:avLst>
              <a:gd name="adj" fmla="val 11290"/>
            </a:avLst>
          </a:prstGeom>
          <a:solidFill>
            <a:srgbClr val="2976D6"/>
          </a:solidFill>
          <a:ln/>
        </p:spPr>
        <p:txBody>
          <a:bodyPr/>
          <a:lstStyle/>
          <a:p>
            <a:endParaRPr lang="de-DE"/>
          </a:p>
        </p:txBody>
      </p:sp>
      <p:pic>
        <p:nvPicPr>
          <p:cNvPr id="16" name="Image 2" descr="preencoded.png"/>
          <p:cNvPicPr>
            <a:picLocks noChangeAspect="1"/>
          </p:cNvPicPr>
          <p:nvPr/>
        </p:nvPicPr>
        <p:blipFill>
          <a:blip r:embed="rId5"/>
          <a:stretch>
            <a:fillRect/>
          </a:stretch>
        </p:blipFill>
        <p:spPr>
          <a:xfrm>
            <a:off x="8629620" y="2787823"/>
            <a:ext cx="294803" cy="294803"/>
          </a:xfrm>
          <a:prstGeom prst="rect">
            <a:avLst/>
          </a:prstGeom>
        </p:spPr>
      </p:pic>
      <p:sp>
        <p:nvSpPr>
          <p:cNvPr id="17" name="Text 12"/>
          <p:cNvSpPr/>
          <p:nvPr/>
        </p:nvSpPr>
        <p:spPr>
          <a:xfrm>
            <a:off x="8493557" y="3383280"/>
            <a:ext cx="2820314" cy="365760"/>
          </a:xfrm>
          <a:prstGeom prst="rect">
            <a:avLst/>
          </a:prstGeom>
          <a:noFill/>
          <a:ln/>
        </p:spPr>
        <p:txBody>
          <a:bodyPr wrap="square" lIns="0" tIns="0" rIns="0" bIns="0" rtlCol="0" anchor="ctr"/>
          <a:lstStyle/>
          <a:p>
            <a:pPr marL="0" indent="0">
              <a:buNone/>
            </a:pPr>
            <a:r>
              <a:rPr lang="en-US" sz="1500" b="1" dirty="0">
                <a:solidFill>
                  <a:srgbClr val="0F172A"/>
                </a:solidFill>
                <a:latin typeface="Arial" pitchFamily="34" charset="0"/>
                <a:ea typeface="Arial" pitchFamily="34" charset="-122"/>
                <a:cs typeface="Arial" pitchFamily="34" charset="-120"/>
              </a:rPr>
              <a:t>Human-in-the-Loop</a:t>
            </a:r>
            <a:endParaRPr lang="en-US" sz="1500" dirty="0"/>
          </a:p>
        </p:txBody>
      </p:sp>
      <p:sp>
        <p:nvSpPr>
          <p:cNvPr id="18" name="Text 13"/>
          <p:cNvSpPr/>
          <p:nvPr/>
        </p:nvSpPr>
        <p:spPr>
          <a:xfrm>
            <a:off x="8493557" y="3767328"/>
            <a:ext cx="2875178" cy="777240"/>
          </a:xfrm>
          <a:prstGeom prst="rect">
            <a:avLst/>
          </a:prstGeom>
          <a:noFill/>
          <a:ln/>
        </p:spPr>
        <p:txBody>
          <a:bodyPr wrap="square" lIns="0" tIns="0" rIns="0" bIns="0" rtlCol="0" anchor="ctr"/>
          <a:lstStyle/>
          <a:p>
            <a:pPr marL="0" indent="0">
              <a:lnSpc>
                <a:spcPts val="1500"/>
              </a:lnSpc>
              <a:buNone/>
            </a:pPr>
            <a:r>
              <a:rPr lang="en-US" sz="1150" dirty="0">
                <a:solidFill>
                  <a:srgbClr val="475569"/>
                </a:solidFill>
                <a:latin typeface="Arial" pitchFamily="34" charset="0"/>
                <a:ea typeface="Arial" pitchFamily="34" charset="-122"/>
                <a:cs typeface="Arial" pitchFamily="34" charset="-120"/>
              </a:rPr>
              <a:t>Die KI bereitet alles bis zum Versand vor. Erst der Berater gibt die Nachricht frei – die Kontrolle bleibt bei ihm.</a:t>
            </a:r>
            <a:endParaRPr lang="en-US" sz="1150" dirty="0"/>
          </a:p>
        </p:txBody>
      </p:sp>
      <p:sp>
        <p:nvSpPr>
          <p:cNvPr id="19" name="Shape 14"/>
          <p:cNvSpPr/>
          <p:nvPr/>
        </p:nvSpPr>
        <p:spPr>
          <a:xfrm>
            <a:off x="566928" y="4983480"/>
            <a:ext cx="11057839" cy="1051560"/>
          </a:xfrm>
          <a:prstGeom prst="roundRect">
            <a:avLst>
              <a:gd name="adj" fmla="val 7826"/>
            </a:avLst>
          </a:prstGeom>
          <a:solidFill>
            <a:srgbClr val="172B4D"/>
          </a:solidFill>
          <a:ln/>
          <a:effectLst>
            <a:outerShdw blurRad="114300" dist="38100" dir="5400000" algn="bl" rotWithShape="0">
              <a:srgbClr val="0B1B3A">
                <a:alpha val="13000"/>
              </a:srgbClr>
            </a:outerShdw>
          </a:effectLst>
        </p:spPr>
        <p:txBody>
          <a:bodyPr/>
          <a:lstStyle/>
          <a:p>
            <a:endParaRPr lang="de-DE"/>
          </a:p>
        </p:txBody>
      </p:sp>
      <p:sp>
        <p:nvSpPr>
          <p:cNvPr id="20" name="Text 15"/>
          <p:cNvSpPr/>
          <p:nvPr/>
        </p:nvSpPr>
        <p:spPr>
          <a:xfrm>
            <a:off x="1024128" y="4983480"/>
            <a:ext cx="10143439" cy="1051560"/>
          </a:xfrm>
          <a:prstGeom prst="rect">
            <a:avLst/>
          </a:prstGeom>
          <a:noFill/>
          <a:ln/>
        </p:spPr>
        <p:txBody>
          <a:bodyPr wrap="square" lIns="0" tIns="0" rIns="0" bIns="0" rtlCol="0" anchor="ctr"/>
          <a:lstStyle/>
          <a:p>
            <a:pPr marL="0" indent="0">
              <a:lnSpc>
                <a:spcPts val="1850"/>
              </a:lnSpc>
              <a:buNone/>
            </a:pPr>
            <a:r>
              <a:rPr lang="en-US" sz="1400" b="1" dirty="0">
                <a:solidFill>
                  <a:srgbClr val="5FA0EA"/>
                </a:solidFill>
                <a:latin typeface="Arial" pitchFamily="34" charset="0"/>
                <a:ea typeface="Arial" pitchFamily="34" charset="-122"/>
                <a:cs typeface="Arial" pitchFamily="34" charset="-120"/>
              </a:rPr>
              <a:t>Ein System für den ganzen Workflow:  </a:t>
            </a:r>
            <a:r>
              <a:rPr lang="en-US" sz="1400" dirty="0">
                <a:solidFill>
                  <a:srgbClr val="FFFFFF"/>
                </a:solidFill>
                <a:latin typeface="Arial" pitchFamily="34" charset="0"/>
                <a:ea typeface="Arial" pitchFamily="34" charset="-122"/>
                <a:cs typeface="Arial" pitchFamily="34" charset="-120"/>
              </a:rPr>
              <a:t>Die vier Agenten bündeln jeden Schritt – für die Kandidaten im Pool findet matchmaker.hr laufend passende Stellen (</a:t>
            </a:r>
            <a:r>
              <a:rPr lang="en-US" sz="1400" b="1" dirty="0">
                <a:solidFill>
                  <a:srgbClr val="FFFFFF"/>
                </a:solidFill>
                <a:latin typeface="Arial" pitchFamily="34" charset="0"/>
                <a:ea typeface="Arial" pitchFamily="34" charset="-122"/>
                <a:cs typeface="Arial" pitchFamily="34" charset="-120"/>
              </a:rPr>
              <a:t>Kandidat → Vakanz</a:t>
            </a:r>
            <a:r>
              <a:rPr lang="en-US" sz="1400" dirty="0">
                <a:solidFill>
                  <a:srgbClr val="FFFFFF"/>
                </a:solidFill>
                <a:latin typeface="Arial" pitchFamily="34" charset="0"/>
                <a:ea typeface="Arial" pitchFamily="34" charset="-122"/>
                <a:cs typeface="Arial" pitchFamily="34" charset="-120"/>
              </a:rPr>
              <a:t>), versandfertig vorbereitet, freigegeben per Klick.</a:t>
            </a:r>
            <a:endParaRPr lang="en-US" sz="1400" dirty="0"/>
          </a:p>
        </p:txBody>
      </p:sp>
      <p:sp>
        <p:nvSpPr>
          <p:cNvPr id="21" name="Text 16"/>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22" name="Text 17"/>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03 / 14</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66928" y="805620"/>
            <a:ext cx="10972800" cy="868680"/>
          </a:xfrm>
          <a:prstGeom prst="rect">
            <a:avLst/>
          </a:prstGeom>
          <a:noFill/>
          <a:ln/>
        </p:spPr>
        <p:txBody>
          <a:bodyPr wrap="square" lIns="0" tIns="0" rIns="0" bIns="0" rtlCol="0" anchor="ctr"/>
          <a:lstStyle/>
          <a:p>
            <a:pPr marL="0" indent="0" algn="l">
              <a:lnSpc>
                <a:spcPts val="2835"/>
              </a:lnSpc>
              <a:buNone/>
            </a:pPr>
            <a:r>
              <a:rPr lang="en-US" sz="2700" b="1" dirty="0">
                <a:solidFill>
                  <a:srgbClr val="0F172A"/>
                </a:solidFill>
                <a:latin typeface="Arial" pitchFamily="34" charset="0"/>
                <a:ea typeface="Arial" pitchFamily="34" charset="-122"/>
                <a:cs typeface="Arial" pitchFamily="34" charset="-120"/>
              </a:rPr>
              <a:t>Vier Agenten arbeiten zu. </a:t>
            </a:r>
            <a:r>
              <a:rPr lang="en-US" sz="2700" b="1" dirty="0">
                <a:solidFill>
                  <a:srgbClr val="2976D6"/>
                </a:solidFill>
                <a:latin typeface="Arial" pitchFamily="34" charset="0"/>
                <a:ea typeface="Arial" pitchFamily="34" charset="-122"/>
                <a:cs typeface="Arial" pitchFamily="34" charset="-120"/>
              </a:rPr>
              <a:t>Ein Berater entscheidet.</a:t>
            </a:r>
            <a:endParaRPr lang="en-US" sz="2700" dirty="0"/>
          </a:p>
        </p:txBody>
      </p:sp>
      <p:sp>
        <p:nvSpPr>
          <p:cNvPr id="4" name="Shape 2"/>
          <p:cNvSpPr/>
          <p:nvPr/>
        </p:nvSpPr>
        <p:spPr>
          <a:xfrm>
            <a:off x="566928" y="2148840"/>
            <a:ext cx="2542032" cy="2423160"/>
          </a:xfrm>
          <a:prstGeom prst="roundRect">
            <a:avLst>
              <a:gd name="adj" fmla="val 339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5" name="Shape 3"/>
          <p:cNvSpPr/>
          <p:nvPr/>
        </p:nvSpPr>
        <p:spPr>
          <a:xfrm>
            <a:off x="822960" y="2423160"/>
            <a:ext cx="530352" cy="530352"/>
          </a:xfrm>
          <a:prstGeom prst="roundRect">
            <a:avLst>
              <a:gd name="adj" fmla="val 12069"/>
            </a:avLst>
          </a:prstGeom>
          <a:solidFill>
            <a:srgbClr val="172B4D"/>
          </a:solidFill>
          <a:ln/>
        </p:spPr>
        <p:txBody>
          <a:bodyPr/>
          <a:lstStyle/>
          <a:p>
            <a:endParaRPr lang="de-DE"/>
          </a:p>
        </p:txBody>
      </p:sp>
      <p:pic>
        <p:nvPicPr>
          <p:cNvPr id="6" name="Image 0" descr="preencoded.png"/>
          <p:cNvPicPr>
            <a:picLocks noChangeAspect="1"/>
          </p:cNvPicPr>
          <p:nvPr/>
        </p:nvPicPr>
        <p:blipFill>
          <a:blip r:embed="rId3"/>
          <a:stretch>
            <a:fillRect/>
          </a:stretch>
        </p:blipFill>
        <p:spPr>
          <a:xfrm>
            <a:off x="950244" y="2550444"/>
            <a:ext cx="275783" cy="275783"/>
          </a:xfrm>
          <a:prstGeom prst="rect">
            <a:avLst/>
          </a:prstGeom>
        </p:spPr>
      </p:pic>
      <p:sp>
        <p:nvSpPr>
          <p:cNvPr id="7" name="Text 4"/>
          <p:cNvSpPr/>
          <p:nvPr/>
        </p:nvSpPr>
        <p:spPr>
          <a:xfrm>
            <a:off x="2450592" y="2350008"/>
            <a:ext cx="457200" cy="457200"/>
          </a:xfrm>
          <a:prstGeom prst="rect">
            <a:avLst/>
          </a:prstGeom>
          <a:noFill/>
          <a:ln/>
        </p:spPr>
        <p:txBody>
          <a:bodyPr wrap="square" lIns="0" tIns="0" rIns="0" bIns="0" rtlCol="0" anchor="ctr"/>
          <a:lstStyle/>
          <a:p>
            <a:pPr marL="0" indent="0" algn="r">
              <a:buNone/>
            </a:pPr>
            <a:r>
              <a:rPr lang="en-US" sz="3000" b="1" dirty="0">
                <a:solidFill>
                  <a:srgbClr val="EAF2FC"/>
                </a:solidFill>
                <a:latin typeface="Arial" pitchFamily="34" charset="0"/>
                <a:ea typeface="Arial" pitchFamily="34" charset="-122"/>
                <a:cs typeface="Arial" pitchFamily="34" charset="-120"/>
              </a:rPr>
              <a:t>1</a:t>
            </a:r>
            <a:endParaRPr lang="en-US" sz="3000" dirty="0"/>
          </a:p>
        </p:txBody>
      </p:sp>
      <p:sp>
        <p:nvSpPr>
          <p:cNvPr id="8" name="Text 5"/>
          <p:cNvSpPr/>
          <p:nvPr/>
        </p:nvSpPr>
        <p:spPr>
          <a:xfrm>
            <a:off x="822960" y="3108960"/>
            <a:ext cx="2084832"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Profiling Agent</a:t>
            </a:r>
            <a:endParaRPr lang="en-US" sz="1450" dirty="0"/>
          </a:p>
        </p:txBody>
      </p:sp>
      <p:sp>
        <p:nvSpPr>
          <p:cNvPr id="9" name="Text 6"/>
          <p:cNvSpPr/>
          <p:nvPr/>
        </p:nvSpPr>
        <p:spPr>
          <a:xfrm>
            <a:off x="822960" y="3566160"/>
            <a:ext cx="2066544" cy="914400"/>
          </a:xfrm>
          <a:prstGeom prst="rect">
            <a:avLst/>
          </a:prstGeom>
          <a:noFill/>
          <a:ln/>
        </p:spPr>
        <p:txBody>
          <a:bodyPr wrap="square" lIns="0" tIns="0" rIns="0" bIns="0" rtlCol="0" anchor="ctr"/>
          <a:lstStyle/>
          <a:p>
            <a:pPr marL="0" indent="0">
              <a:lnSpc>
                <a:spcPts val="1350"/>
              </a:lnSpc>
              <a:buNone/>
            </a:pPr>
            <a:r>
              <a:rPr lang="en-US" sz="1080" dirty="0">
                <a:solidFill>
                  <a:srgbClr val="475569"/>
                </a:solidFill>
                <a:latin typeface="Arial" pitchFamily="34" charset="0"/>
                <a:ea typeface="Arial" pitchFamily="34" charset="-122"/>
                <a:cs typeface="Arial" pitchFamily="34" charset="-120"/>
              </a:rPr>
              <a:t>Erfasst den Suchauftrag strukturiert und erstellt aus jedem Lebenslauf ein anonymisiertes Qualifikationsprofil.</a:t>
            </a:r>
            <a:endParaRPr lang="en-US" sz="1080" dirty="0"/>
          </a:p>
        </p:txBody>
      </p:sp>
      <p:sp>
        <p:nvSpPr>
          <p:cNvPr id="10" name="Text 7"/>
          <p:cNvSpPr/>
          <p:nvPr/>
        </p:nvSpPr>
        <p:spPr>
          <a:xfrm>
            <a:off x="3090672" y="3086100"/>
            <a:ext cx="365760" cy="548640"/>
          </a:xfrm>
          <a:prstGeom prst="rect">
            <a:avLst/>
          </a:prstGeom>
          <a:noFill/>
          <a:ln/>
        </p:spPr>
        <p:txBody>
          <a:bodyPr wrap="square" lIns="0" tIns="0" rIns="0" bIns="0" rtlCol="0" anchor="ctr"/>
          <a:lstStyle/>
          <a:p>
            <a:pPr marL="0" indent="0" algn="ctr">
              <a:buNone/>
            </a:pPr>
            <a:r>
              <a:rPr lang="en-US" sz="2200" b="1" dirty="0">
                <a:solidFill>
                  <a:srgbClr val="2976D6"/>
                </a:solidFill>
                <a:latin typeface="Arial" pitchFamily="34" charset="0"/>
                <a:ea typeface="Arial" pitchFamily="34" charset="-122"/>
                <a:cs typeface="Arial" pitchFamily="34" charset="-120"/>
              </a:rPr>
              <a:t>→</a:t>
            </a:r>
            <a:endParaRPr lang="en-US" sz="2200" dirty="0"/>
          </a:p>
        </p:txBody>
      </p:sp>
      <p:sp>
        <p:nvSpPr>
          <p:cNvPr id="11" name="Shape 8"/>
          <p:cNvSpPr/>
          <p:nvPr/>
        </p:nvSpPr>
        <p:spPr>
          <a:xfrm>
            <a:off x="3438144" y="2148840"/>
            <a:ext cx="2542032" cy="2423160"/>
          </a:xfrm>
          <a:prstGeom prst="roundRect">
            <a:avLst>
              <a:gd name="adj" fmla="val 339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2" name="Shape 9"/>
          <p:cNvSpPr/>
          <p:nvPr/>
        </p:nvSpPr>
        <p:spPr>
          <a:xfrm>
            <a:off x="3694176" y="2423160"/>
            <a:ext cx="530352" cy="530352"/>
          </a:xfrm>
          <a:prstGeom prst="roundRect">
            <a:avLst>
              <a:gd name="adj" fmla="val 12069"/>
            </a:avLst>
          </a:prstGeom>
          <a:solidFill>
            <a:srgbClr val="172B4D"/>
          </a:solidFill>
          <a:ln/>
        </p:spPr>
        <p:txBody>
          <a:bodyPr/>
          <a:lstStyle/>
          <a:p>
            <a:endParaRPr lang="de-DE"/>
          </a:p>
        </p:txBody>
      </p:sp>
      <p:pic>
        <p:nvPicPr>
          <p:cNvPr id="13" name="Image 1" descr="preencoded.png"/>
          <p:cNvPicPr>
            <a:picLocks noChangeAspect="1"/>
          </p:cNvPicPr>
          <p:nvPr/>
        </p:nvPicPr>
        <p:blipFill>
          <a:blip r:embed="rId4"/>
          <a:stretch>
            <a:fillRect/>
          </a:stretch>
        </p:blipFill>
        <p:spPr>
          <a:xfrm>
            <a:off x="3821460" y="2550444"/>
            <a:ext cx="275783" cy="275783"/>
          </a:xfrm>
          <a:prstGeom prst="rect">
            <a:avLst/>
          </a:prstGeom>
        </p:spPr>
      </p:pic>
      <p:sp>
        <p:nvSpPr>
          <p:cNvPr id="14" name="Text 10"/>
          <p:cNvSpPr/>
          <p:nvPr/>
        </p:nvSpPr>
        <p:spPr>
          <a:xfrm>
            <a:off x="5321808" y="2350008"/>
            <a:ext cx="457200" cy="457200"/>
          </a:xfrm>
          <a:prstGeom prst="rect">
            <a:avLst/>
          </a:prstGeom>
          <a:noFill/>
          <a:ln/>
        </p:spPr>
        <p:txBody>
          <a:bodyPr wrap="square" lIns="0" tIns="0" rIns="0" bIns="0" rtlCol="0" anchor="ctr"/>
          <a:lstStyle/>
          <a:p>
            <a:pPr marL="0" indent="0" algn="r">
              <a:buNone/>
            </a:pPr>
            <a:r>
              <a:rPr lang="en-US" sz="3000" b="1" dirty="0">
                <a:solidFill>
                  <a:srgbClr val="EAF2FC"/>
                </a:solidFill>
                <a:latin typeface="Arial" pitchFamily="34" charset="0"/>
                <a:ea typeface="Arial" pitchFamily="34" charset="-122"/>
                <a:cs typeface="Arial" pitchFamily="34" charset="-120"/>
              </a:rPr>
              <a:t>2</a:t>
            </a:r>
            <a:endParaRPr lang="en-US" sz="3000" dirty="0"/>
          </a:p>
        </p:txBody>
      </p:sp>
      <p:sp>
        <p:nvSpPr>
          <p:cNvPr id="15" name="Text 11"/>
          <p:cNvSpPr/>
          <p:nvPr/>
        </p:nvSpPr>
        <p:spPr>
          <a:xfrm>
            <a:off x="3694176" y="3108960"/>
            <a:ext cx="2084832"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Market Agent</a:t>
            </a:r>
            <a:endParaRPr lang="en-US" sz="1450" dirty="0"/>
          </a:p>
        </p:txBody>
      </p:sp>
      <p:sp>
        <p:nvSpPr>
          <p:cNvPr id="16" name="Text 12"/>
          <p:cNvSpPr/>
          <p:nvPr/>
        </p:nvSpPr>
        <p:spPr>
          <a:xfrm>
            <a:off x="3694176" y="3566160"/>
            <a:ext cx="2066544" cy="914400"/>
          </a:xfrm>
          <a:prstGeom prst="rect">
            <a:avLst/>
          </a:prstGeom>
          <a:noFill/>
          <a:ln/>
        </p:spPr>
        <p:txBody>
          <a:bodyPr wrap="square" lIns="0" tIns="0" rIns="0" bIns="0" rtlCol="0" anchor="ctr"/>
          <a:lstStyle/>
          <a:p>
            <a:pPr marL="0" indent="0">
              <a:lnSpc>
                <a:spcPts val="1350"/>
              </a:lnSpc>
              <a:buNone/>
            </a:pPr>
            <a:r>
              <a:rPr lang="en-US" sz="1080" dirty="0">
                <a:solidFill>
                  <a:srgbClr val="475569"/>
                </a:solidFill>
                <a:latin typeface="Arial" pitchFamily="34" charset="0"/>
                <a:ea typeface="Arial" pitchFamily="34" charset="-122"/>
                <a:cs typeface="Arial" pitchFamily="34" charset="-120"/>
              </a:rPr>
              <a:t>Scannt laufend Jobboards &amp; Unternehmens­websites und gleicht neue Vakanzen mit dem Pool ab.</a:t>
            </a:r>
            <a:endParaRPr lang="en-US" sz="1080" dirty="0"/>
          </a:p>
        </p:txBody>
      </p:sp>
      <p:sp>
        <p:nvSpPr>
          <p:cNvPr id="17" name="Text 13"/>
          <p:cNvSpPr/>
          <p:nvPr/>
        </p:nvSpPr>
        <p:spPr>
          <a:xfrm>
            <a:off x="5961888" y="3086100"/>
            <a:ext cx="365760" cy="548640"/>
          </a:xfrm>
          <a:prstGeom prst="rect">
            <a:avLst/>
          </a:prstGeom>
          <a:noFill/>
          <a:ln/>
        </p:spPr>
        <p:txBody>
          <a:bodyPr wrap="square" lIns="0" tIns="0" rIns="0" bIns="0" rtlCol="0" anchor="ctr"/>
          <a:lstStyle/>
          <a:p>
            <a:pPr marL="0" indent="0" algn="ctr">
              <a:buNone/>
            </a:pPr>
            <a:r>
              <a:rPr lang="en-US" sz="2200" b="1" dirty="0">
                <a:solidFill>
                  <a:srgbClr val="2976D6"/>
                </a:solidFill>
                <a:latin typeface="Arial" pitchFamily="34" charset="0"/>
                <a:ea typeface="Arial" pitchFamily="34" charset="-122"/>
                <a:cs typeface="Arial" pitchFamily="34" charset="-120"/>
              </a:rPr>
              <a:t>→</a:t>
            </a:r>
            <a:endParaRPr lang="en-US" sz="2200" dirty="0"/>
          </a:p>
        </p:txBody>
      </p:sp>
      <p:sp>
        <p:nvSpPr>
          <p:cNvPr id="18" name="Shape 14"/>
          <p:cNvSpPr/>
          <p:nvPr/>
        </p:nvSpPr>
        <p:spPr>
          <a:xfrm>
            <a:off x="6309360" y="2148840"/>
            <a:ext cx="2542032" cy="2423160"/>
          </a:xfrm>
          <a:prstGeom prst="roundRect">
            <a:avLst>
              <a:gd name="adj" fmla="val 339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9" name="Shape 15"/>
          <p:cNvSpPr/>
          <p:nvPr/>
        </p:nvSpPr>
        <p:spPr>
          <a:xfrm>
            <a:off x="6565392" y="2423160"/>
            <a:ext cx="530352" cy="530352"/>
          </a:xfrm>
          <a:prstGeom prst="roundRect">
            <a:avLst>
              <a:gd name="adj" fmla="val 12069"/>
            </a:avLst>
          </a:prstGeom>
          <a:solidFill>
            <a:srgbClr val="172B4D"/>
          </a:solidFill>
          <a:ln/>
        </p:spPr>
        <p:txBody>
          <a:bodyPr/>
          <a:lstStyle/>
          <a:p>
            <a:endParaRPr lang="de-DE"/>
          </a:p>
        </p:txBody>
      </p:sp>
      <p:pic>
        <p:nvPicPr>
          <p:cNvPr id="20" name="Image 2" descr="preencoded.png"/>
          <p:cNvPicPr>
            <a:picLocks noChangeAspect="1"/>
          </p:cNvPicPr>
          <p:nvPr/>
        </p:nvPicPr>
        <p:blipFill>
          <a:blip r:embed="rId5"/>
          <a:stretch>
            <a:fillRect/>
          </a:stretch>
        </p:blipFill>
        <p:spPr>
          <a:xfrm>
            <a:off x="6692676" y="2550444"/>
            <a:ext cx="275783" cy="275783"/>
          </a:xfrm>
          <a:prstGeom prst="rect">
            <a:avLst/>
          </a:prstGeom>
        </p:spPr>
      </p:pic>
      <p:sp>
        <p:nvSpPr>
          <p:cNvPr id="21" name="Text 16"/>
          <p:cNvSpPr/>
          <p:nvPr/>
        </p:nvSpPr>
        <p:spPr>
          <a:xfrm>
            <a:off x="8193024" y="2350008"/>
            <a:ext cx="457200" cy="457200"/>
          </a:xfrm>
          <a:prstGeom prst="rect">
            <a:avLst/>
          </a:prstGeom>
          <a:noFill/>
          <a:ln/>
        </p:spPr>
        <p:txBody>
          <a:bodyPr wrap="square" lIns="0" tIns="0" rIns="0" bIns="0" rtlCol="0" anchor="ctr"/>
          <a:lstStyle/>
          <a:p>
            <a:pPr marL="0" indent="0" algn="r">
              <a:buNone/>
            </a:pPr>
            <a:r>
              <a:rPr lang="en-US" sz="3000" b="1" dirty="0">
                <a:solidFill>
                  <a:srgbClr val="EAF2FC"/>
                </a:solidFill>
                <a:latin typeface="Arial" pitchFamily="34" charset="0"/>
                <a:ea typeface="Arial" pitchFamily="34" charset="-122"/>
                <a:cs typeface="Arial" pitchFamily="34" charset="-120"/>
              </a:rPr>
              <a:t>3</a:t>
            </a:r>
            <a:endParaRPr lang="en-US" sz="3000" dirty="0"/>
          </a:p>
        </p:txBody>
      </p:sp>
      <p:sp>
        <p:nvSpPr>
          <p:cNvPr id="22" name="Text 17"/>
          <p:cNvSpPr/>
          <p:nvPr/>
        </p:nvSpPr>
        <p:spPr>
          <a:xfrm>
            <a:off x="6565392" y="3108960"/>
            <a:ext cx="2084832"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Matching Agent</a:t>
            </a:r>
            <a:endParaRPr lang="en-US" sz="1450" dirty="0"/>
          </a:p>
        </p:txBody>
      </p:sp>
      <p:sp>
        <p:nvSpPr>
          <p:cNvPr id="23" name="Text 18"/>
          <p:cNvSpPr/>
          <p:nvPr/>
        </p:nvSpPr>
        <p:spPr>
          <a:xfrm>
            <a:off x="6565392" y="3566160"/>
            <a:ext cx="2066544" cy="914400"/>
          </a:xfrm>
          <a:prstGeom prst="rect">
            <a:avLst/>
          </a:prstGeom>
          <a:noFill/>
          <a:ln/>
        </p:spPr>
        <p:txBody>
          <a:bodyPr wrap="square" lIns="0" tIns="0" rIns="0" bIns="0" rtlCol="0" anchor="ctr"/>
          <a:lstStyle/>
          <a:p>
            <a:pPr marL="0" indent="0">
              <a:lnSpc>
                <a:spcPts val="1350"/>
              </a:lnSpc>
              <a:buNone/>
            </a:pPr>
            <a:r>
              <a:rPr lang="en-US" sz="1080" dirty="0">
                <a:solidFill>
                  <a:srgbClr val="475569"/>
                </a:solidFill>
                <a:latin typeface="Arial" pitchFamily="34" charset="0"/>
                <a:ea typeface="Arial" pitchFamily="34" charset="-122"/>
                <a:cs typeface="Arial" pitchFamily="34" charset="-120"/>
              </a:rPr>
              <a:t>Semantisches Scoring nach Qualifikation &amp; Karriereverlauf – mit nachvollziehbarer Begründung je Treffer.</a:t>
            </a:r>
            <a:endParaRPr lang="en-US" sz="1080" dirty="0"/>
          </a:p>
        </p:txBody>
      </p:sp>
      <p:sp>
        <p:nvSpPr>
          <p:cNvPr id="24" name="Text 19"/>
          <p:cNvSpPr/>
          <p:nvPr/>
        </p:nvSpPr>
        <p:spPr>
          <a:xfrm>
            <a:off x="8833104" y="3086100"/>
            <a:ext cx="365760" cy="548640"/>
          </a:xfrm>
          <a:prstGeom prst="rect">
            <a:avLst/>
          </a:prstGeom>
          <a:noFill/>
          <a:ln/>
        </p:spPr>
        <p:txBody>
          <a:bodyPr wrap="square" lIns="0" tIns="0" rIns="0" bIns="0" rtlCol="0" anchor="ctr"/>
          <a:lstStyle/>
          <a:p>
            <a:pPr marL="0" indent="0" algn="ctr">
              <a:buNone/>
            </a:pPr>
            <a:r>
              <a:rPr lang="en-US" sz="2200" b="1" dirty="0">
                <a:solidFill>
                  <a:srgbClr val="2976D6"/>
                </a:solidFill>
                <a:latin typeface="Arial" pitchFamily="34" charset="0"/>
                <a:ea typeface="Arial" pitchFamily="34" charset="-122"/>
                <a:cs typeface="Arial" pitchFamily="34" charset="-120"/>
              </a:rPr>
              <a:t>→</a:t>
            </a:r>
            <a:endParaRPr lang="en-US" sz="2200" dirty="0"/>
          </a:p>
        </p:txBody>
      </p:sp>
      <p:sp>
        <p:nvSpPr>
          <p:cNvPr id="25" name="Shape 20"/>
          <p:cNvSpPr/>
          <p:nvPr/>
        </p:nvSpPr>
        <p:spPr>
          <a:xfrm>
            <a:off x="9180576" y="2148840"/>
            <a:ext cx="2542032" cy="2423160"/>
          </a:xfrm>
          <a:prstGeom prst="roundRect">
            <a:avLst>
              <a:gd name="adj" fmla="val 339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26" name="Shape 21"/>
          <p:cNvSpPr/>
          <p:nvPr/>
        </p:nvSpPr>
        <p:spPr>
          <a:xfrm>
            <a:off x="9436608" y="2423160"/>
            <a:ext cx="530352" cy="530352"/>
          </a:xfrm>
          <a:prstGeom prst="roundRect">
            <a:avLst>
              <a:gd name="adj" fmla="val 12069"/>
            </a:avLst>
          </a:prstGeom>
          <a:solidFill>
            <a:srgbClr val="172B4D"/>
          </a:solidFill>
          <a:ln/>
        </p:spPr>
        <p:txBody>
          <a:bodyPr/>
          <a:lstStyle/>
          <a:p>
            <a:endParaRPr lang="de-DE"/>
          </a:p>
        </p:txBody>
      </p:sp>
      <p:pic>
        <p:nvPicPr>
          <p:cNvPr id="27" name="Image 3" descr="preencoded.png"/>
          <p:cNvPicPr>
            <a:picLocks noChangeAspect="1"/>
          </p:cNvPicPr>
          <p:nvPr/>
        </p:nvPicPr>
        <p:blipFill>
          <a:blip r:embed="rId6"/>
          <a:stretch>
            <a:fillRect/>
          </a:stretch>
        </p:blipFill>
        <p:spPr>
          <a:xfrm>
            <a:off x="9563892" y="2550444"/>
            <a:ext cx="275783" cy="275783"/>
          </a:xfrm>
          <a:prstGeom prst="rect">
            <a:avLst/>
          </a:prstGeom>
        </p:spPr>
      </p:pic>
      <p:sp>
        <p:nvSpPr>
          <p:cNvPr id="28" name="Text 22"/>
          <p:cNvSpPr/>
          <p:nvPr/>
        </p:nvSpPr>
        <p:spPr>
          <a:xfrm>
            <a:off x="11064240" y="2350008"/>
            <a:ext cx="457200" cy="457200"/>
          </a:xfrm>
          <a:prstGeom prst="rect">
            <a:avLst/>
          </a:prstGeom>
          <a:noFill/>
          <a:ln/>
        </p:spPr>
        <p:txBody>
          <a:bodyPr wrap="square" lIns="0" tIns="0" rIns="0" bIns="0" rtlCol="0" anchor="ctr"/>
          <a:lstStyle/>
          <a:p>
            <a:pPr marL="0" indent="0" algn="r">
              <a:buNone/>
            </a:pPr>
            <a:r>
              <a:rPr lang="en-US" sz="3000" b="1" dirty="0">
                <a:solidFill>
                  <a:srgbClr val="EAF2FC"/>
                </a:solidFill>
                <a:latin typeface="Arial" pitchFamily="34" charset="0"/>
                <a:ea typeface="Arial" pitchFamily="34" charset="-122"/>
                <a:cs typeface="Arial" pitchFamily="34" charset="-120"/>
              </a:rPr>
              <a:t>4</a:t>
            </a:r>
            <a:endParaRPr lang="en-US" sz="3000" dirty="0"/>
          </a:p>
        </p:txBody>
      </p:sp>
      <p:sp>
        <p:nvSpPr>
          <p:cNvPr id="29" name="Text 23"/>
          <p:cNvSpPr/>
          <p:nvPr/>
        </p:nvSpPr>
        <p:spPr>
          <a:xfrm>
            <a:off x="9436608" y="3108960"/>
            <a:ext cx="2084832"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Outreach Agent</a:t>
            </a:r>
            <a:endParaRPr lang="en-US" sz="1450" dirty="0"/>
          </a:p>
        </p:txBody>
      </p:sp>
      <p:sp>
        <p:nvSpPr>
          <p:cNvPr id="30" name="Text 24"/>
          <p:cNvSpPr/>
          <p:nvPr/>
        </p:nvSpPr>
        <p:spPr>
          <a:xfrm>
            <a:off x="9436608" y="3566160"/>
            <a:ext cx="2066544" cy="914400"/>
          </a:xfrm>
          <a:prstGeom prst="rect">
            <a:avLst/>
          </a:prstGeom>
          <a:noFill/>
          <a:ln/>
        </p:spPr>
        <p:txBody>
          <a:bodyPr wrap="square" lIns="0" tIns="0" rIns="0" bIns="0" rtlCol="0" anchor="ctr"/>
          <a:lstStyle/>
          <a:p>
            <a:pPr marL="0" indent="0">
              <a:lnSpc>
                <a:spcPts val="1350"/>
              </a:lnSpc>
              <a:buNone/>
            </a:pPr>
            <a:r>
              <a:rPr lang="en-US" sz="1080" dirty="0">
                <a:solidFill>
                  <a:srgbClr val="475569"/>
                </a:solidFill>
                <a:latin typeface="Arial" pitchFamily="34" charset="0"/>
                <a:ea typeface="Arial" pitchFamily="34" charset="-122"/>
                <a:cs typeface="Arial" pitchFamily="34" charset="-120"/>
              </a:rPr>
              <a:t>Recherchiert den Ansprechpartner und formuliert ein individuelles Anschreiben – versandfertig als Entwurf.</a:t>
            </a:r>
            <a:endParaRPr lang="en-US" sz="1080" dirty="0"/>
          </a:p>
        </p:txBody>
      </p:sp>
      <p:sp>
        <p:nvSpPr>
          <p:cNvPr id="31" name="Shape 25"/>
          <p:cNvSpPr/>
          <p:nvPr/>
        </p:nvSpPr>
        <p:spPr>
          <a:xfrm>
            <a:off x="566928" y="4983480"/>
            <a:ext cx="11057839" cy="1051560"/>
          </a:xfrm>
          <a:prstGeom prst="roundRect">
            <a:avLst>
              <a:gd name="adj" fmla="val 7826"/>
            </a:avLst>
          </a:prstGeom>
          <a:solidFill>
            <a:srgbClr val="172B4D"/>
          </a:solidFill>
          <a:ln/>
          <a:effectLst>
            <a:outerShdw blurRad="114300" dist="38100" dir="5400000" algn="bl" rotWithShape="0">
              <a:srgbClr val="0B1B3A">
                <a:alpha val="13000"/>
              </a:srgbClr>
            </a:outerShdw>
          </a:effectLst>
        </p:spPr>
        <p:txBody>
          <a:bodyPr/>
          <a:lstStyle/>
          <a:p>
            <a:endParaRPr lang="de-DE"/>
          </a:p>
        </p:txBody>
      </p:sp>
      <p:sp>
        <p:nvSpPr>
          <p:cNvPr id="32" name="Shape 26"/>
          <p:cNvSpPr/>
          <p:nvPr/>
        </p:nvSpPr>
        <p:spPr>
          <a:xfrm>
            <a:off x="932688" y="5248656"/>
            <a:ext cx="512064" cy="512064"/>
          </a:xfrm>
          <a:prstGeom prst="roundRect">
            <a:avLst>
              <a:gd name="adj" fmla="val 12500"/>
            </a:avLst>
          </a:prstGeom>
          <a:solidFill>
            <a:srgbClr val="2976D6"/>
          </a:solidFill>
          <a:ln/>
        </p:spPr>
        <p:txBody>
          <a:bodyPr/>
          <a:lstStyle/>
          <a:p>
            <a:endParaRPr lang="de-DE"/>
          </a:p>
        </p:txBody>
      </p:sp>
      <p:pic>
        <p:nvPicPr>
          <p:cNvPr id="33" name="Image 4" descr="preencoded.png"/>
          <p:cNvPicPr>
            <a:picLocks noChangeAspect="1"/>
          </p:cNvPicPr>
          <p:nvPr/>
        </p:nvPicPr>
        <p:blipFill>
          <a:blip r:embed="rId7"/>
          <a:stretch>
            <a:fillRect/>
          </a:stretch>
        </p:blipFill>
        <p:spPr>
          <a:xfrm>
            <a:off x="1055583" y="5371551"/>
            <a:ext cx="266273" cy="266273"/>
          </a:xfrm>
          <a:prstGeom prst="rect">
            <a:avLst/>
          </a:prstGeom>
        </p:spPr>
      </p:pic>
      <p:sp>
        <p:nvSpPr>
          <p:cNvPr id="34" name="Text 27"/>
          <p:cNvSpPr/>
          <p:nvPr/>
        </p:nvSpPr>
        <p:spPr>
          <a:xfrm>
            <a:off x="1618487" y="4983480"/>
            <a:ext cx="8054583" cy="1051560"/>
          </a:xfrm>
          <a:prstGeom prst="rect">
            <a:avLst/>
          </a:prstGeom>
          <a:noFill/>
          <a:ln/>
        </p:spPr>
        <p:txBody>
          <a:bodyPr wrap="square" lIns="0" tIns="0" rIns="0" bIns="0" rtlCol="0" anchor="ctr"/>
          <a:lstStyle/>
          <a:p>
            <a:pPr marL="0" indent="0">
              <a:lnSpc>
                <a:spcPts val="1700"/>
              </a:lnSpc>
              <a:buNone/>
            </a:pPr>
            <a:r>
              <a:rPr lang="en-US" sz="1300" b="1" dirty="0">
                <a:solidFill>
                  <a:srgbClr val="FFFFFF"/>
                </a:solidFill>
                <a:latin typeface="Arial" pitchFamily="34" charset="0"/>
                <a:ea typeface="Arial" pitchFamily="34" charset="-122"/>
                <a:cs typeface="Arial" pitchFamily="34" charset="-120"/>
              </a:rPr>
              <a:t>Human-in-the-Loop.  </a:t>
            </a:r>
            <a:r>
              <a:rPr lang="en-US" sz="1300" dirty="0">
                <a:solidFill>
                  <a:srgbClr val="C9D6EC"/>
                </a:solidFill>
                <a:latin typeface="Arial" pitchFamily="34" charset="0"/>
                <a:ea typeface="Arial" pitchFamily="34" charset="-122"/>
                <a:cs typeface="Arial" pitchFamily="34" charset="-120"/>
              </a:rPr>
              <a:t>Von der Marktanalyse bis zum fertigen Anschreiben automatisiert die KI jeden Schritt. Das tatsächliche Versenden gibt der Berater frei.</a:t>
            </a:r>
            <a:endParaRPr lang="en-US" sz="1300" dirty="0"/>
          </a:p>
        </p:txBody>
      </p:sp>
      <p:sp>
        <p:nvSpPr>
          <p:cNvPr id="35" name="Shape 28"/>
          <p:cNvSpPr/>
          <p:nvPr/>
        </p:nvSpPr>
        <p:spPr>
          <a:xfrm>
            <a:off x="9795966" y="5330952"/>
            <a:ext cx="1707185" cy="347472"/>
          </a:xfrm>
          <a:prstGeom prst="roundRect">
            <a:avLst>
              <a:gd name="adj" fmla="val 50000"/>
            </a:avLst>
          </a:prstGeom>
          <a:solidFill>
            <a:srgbClr val="16A34A">
              <a:alpha val="22000"/>
            </a:srgbClr>
          </a:solidFill>
          <a:ln w="9525">
            <a:solidFill>
              <a:srgbClr val="16A34A"/>
            </a:solidFill>
            <a:prstDash val="solid"/>
          </a:ln>
        </p:spPr>
        <p:txBody>
          <a:bodyPr/>
          <a:lstStyle/>
          <a:p>
            <a:endParaRPr lang="de-DE"/>
          </a:p>
        </p:txBody>
      </p:sp>
      <p:sp>
        <p:nvSpPr>
          <p:cNvPr id="36" name="Text 29"/>
          <p:cNvSpPr/>
          <p:nvPr/>
        </p:nvSpPr>
        <p:spPr>
          <a:xfrm>
            <a:off x="9795966" y="5330952"/>
            <a:ext cx="1743761" cy="347472"/>
          </a:xfrm>
          <a:prstGeom prst="rect">
            <a:avLst/>
          </a:prstGeom>
          <a:noFill/>
          <a:ln/>
        </p:spPr>
        <p:txBody>
          <a:bodyPr wrap="square" lIns="0" tIns="0" rIns="0" bIns="0" rtlCol="0" anchor="ctr"/>
          <a:lstStyle/>
          <a:p>
            <a:pPr marL="0" indent="0" algn="ctr">
              <a:buNone/>
            </a:pPr>
            <a:r>
              <a:rPr lang="en-US" sz="900" b="1" dirty="0">
                <a:solidFill>
                  <a:srgbClr val="BBF0CE"/>
                </a:solidFill>
                <a:latin typeface="Arial" pitchFamily="34" charset="0"/>
                <a:ea typeface="Arial" pitchFamily="34" charset="-122"/>
                <a:cs typeface="Arial" pitchFamily="34" charset="-120"/>
              </a:rPr>
              <a:t>Berater behält die Kontrolle</a:t>
            </a:r>
            <a:endParaRPr lang="en-US" sz="900" dirty="0"/>
          </a:p>
        </p:txBody>
      </p:sp>
      <p:sp>
        <p:nvSpPr>
          <p:cNvPr id="37" name="Text 30"/>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8" name="Text 31"/>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04 / 14</a:t>
            </a:r>
            <a:endParaRPr lang="en-US" sz="950" dirty="0"/>
          </a:p>
        </p:txBody>
      </p:sp>
      <p:sp>
        <p:nvSpPr>
          <p:cNvPr id="39" name="Text 0">
            <a:extLst>
              <a:ext uri="{FF2B5EF4-FFF2-40B4-BE49-F238E27FC236}">
                <a16:creationId xmlns:a16="http://schemas.microsoft.com/office/drawing/2014/main" id="{825FBA49-A187-59F6-9F59-D5A18E340BAA}"/>
              </a:ext>
            </a:extLst>
          </p:cNvPr>
          <p:cNvSpPr/>
          <p:nvPr/>
        </p:nvSpPr>
        <p:spPr>
          <a:xfrm>
            <a:off x="577438" y="585690"/>
            <a:ext cx="7315200" cy="274320"/>
          </a:xfrm>
          <a:prstGeom prst="rect">
            <a:avLst/>
          </a:prstGeom>
          <a:noFill/>
          <a:ln/>
        </p:spPr>
        <p:txBody>
          <a:bodyPr wrap="square" lIns="0" tIns="0" rIns="0" bIns="0" rtlCol="0" anchor="ctr"/>
          <a:lstStyle/>
          <a:p>
            <a:r>
              <a:rPr lang="en-US" sz="1150" b="1" kern="0" spc="200" dirty="0">
                <a:solidFill>
                  <a:srgbClr val="2976D6"/>
                </a:solidFill>
                <a:latin typeface="Arial" pitchFamily="34" charset="0"/>
                <a:ea typeface="Arial" pitchFamily="34" charset="-122"/>
                <a:cs typeface="Arial" pitchFamily="34" charset="-120"/>
              </a:rPr>
              <a:t>SO FUNKTIONIERT'S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PRODUKT-EINBLICK</a:t>
            </a:r>
            <a:endParaRPr lang="en-US" sz="1150" dirty="0"/>
          </a:p>
        </p:txBody>
      </p:sp>
      <p:sp>
        <p:nvSpPr>
          <p:cNvPr id="3" name="Text 1"/>
          <p:cNvSpPr/>
          <p:nvPr/>
        </p:nvSpPr>
        <p:spPr>
          <a:xfrm>
            <a:off x="566928" y="868680"/>
            <a:ext cx="11338560" cy="868680"/>
          </a:xfrm>
          <a:prstGeom prst="rect">
            <a:avLst/>
          </a:prstGeom>
          <a:noFill/>
          <a:ln/>
        </p:spPr>
        <p:txBody>
          <a:bodyPr wrap="square" lIns="0" tIns="0" rIns="0" bIns="0" rtlCol="0" anchor="ctr"/>
          <a:lstStyle/>
          <a:p>
            <a:pPr marL="0" indent="0" algn="l">
              <a:lnSpc>
                <a:spcPts val="2835"/>
              </a:lnSpc>
              <a:buNone/>
            </a:pPr>
            <a:r>
              <a:rPr lang="en-US" sz="2700" b="1" dirty="0">
                <a:solidFill>
                  <a:srgbClr val="0F172A"/>
                </a:solidFill>
                <a:latin typeface="Arial" pitchFamily="34" charset="0"/>
                <a:ea typeface="Arial" pitchFamily="34" charset="-122"/>
                <a:cs typeface="Arial" pitchFamily="34" charset="-120"/>
              </a:rPr>
              <a:t>Kein Konzept – </a:t>
            </a:r>
            <a:r>
              <a:rPr lang="en-US" sz="2700" b="1" dirty="0">
                <a:solidFill>
                  <a:srgbClr val="2976D6"/>
                </a:solidFill>
                <a:latin typeface="Arial" pitchFamily="34" charset="0"/>
                <a:ea typeface="Arial" pitchFamily="34" charset="-122"/>
                <a:cs typeface="Arial" pitchFamily="34" charset="-120"/>
              </a:rPr>
              <a:t>ein funktionsfähiger Prototyp.</a:t>
            </a:r>
            <a:endParaRPr lang="en-US" sz="2700" dirty="0"/>
          </a:p>
        </p:txBody>
      </p:sp>
      <p:sp>
        <p:nvSpPr>
          <p:cNvPr id="4" name="Text 2"/>
          <p:cNvSpPr/>
          <p:nvPr/>
        </p:nvSpPr>
        <p:spPr>
          <a:xfrm>
            <a:off x="566928" y="1436138"/>
            <a:ext cx="10972800" cy="274320"/>
          </a:xfrm>
          <a:prstGeom prst="rect">
            <a:avLst/>
          </a:prstGeom>
          <a:noFill/>
          <a:ln/>
        </p:spPr>
        <p:txBody>
          <a:bodyPr wrap="square" lIns="0" tIns="0" rIns="0" bIns="0" rtlCol="0" anchor="ctr"/>
          <a:lstStyle/>
          <a:p>
            <a:pPr marL="0" indent="0">
              <a:buNone/>
            </a:pPr>
            <a:r>
              <a:rPr lang="en-US" sz="1050" dirty="0">
                <a:solidFill>
                  <a:srgbClr val="7C8AA0"/>
                </a:solidFill>
                <a:latin typeface="Arial" pitchFamily="34" charset="0"/>
                <a:ea typeface="Arial" pitchFamily="34" charset="-122"/>
                <a:cs typeface="Arial" pitchFamily="34" charset="-120"/>
              </a:rPr>
              <a:t>Echte Screenshots des </a:t>
            </a:r>
            <a:r>
              <a:rPr lang="en-US" sz="1050" dirty="0" err="1">
                <a:solidFill>
                  <a:srgbClr val="7C8AA0"/>
                </a:solidFill>
                <a:latin typeface="Arial" pitchFamily="34" charset="0"/>
                <a:ea typeface="Arial" pitchFamily="34" charset="-122"/>
                <a:cs typeface="Arial" pitchFamily="34" charset="-120"/>
              </a:rPr>
              <a:t>funktionsfähigen</a:t>
            </a:r>
            <a:r>
              <a:rPr lang="en-US" sz="1050" dirty="0">
                <a:solidFill>
                  <a:srgbClr val="7C8AA0"/>
                </a:solidFill>
                <a:latin typeface="Arial" pitchFamily="34" charset="0"/>
                <a:ea typeface="Arial" pitchFamily="34" charset="-122"/>
                <a:cs typeface="Arial" pitchFamily="34" charset="-120"/>
              </a:rPr>
              <a:t> </a:t>
            </a:r>
            <a:r>
              <a:rPr lang="en-US" sz="1050" dirty="0" err="1">
                <a:solidFill>
                  <a:srgbClr val="7C8AA0"/>
                </a:solidFill>
                <a:latin typeface="Arial" pitchFamily="34" charset="0"/>
                <a:ea typeface="Arial" pitchFamily="34" charset="-122"/>
                <a:cs typeface="Arial" pitchFamily="34" charset="-120"/>
              </a:rPr>
              <a:t>Prototyps</a:t>
            </a:r>
            <a:r>
              <a:rPr lang="en-US" sz="1050" dirty="0">
                <a:solidFill>
                  <a:srgbClr val="7C8AA0"/>
                </a:solidFill>
                <a:latin typeface="Arial" pitchFamily="34" charset="0"/>
                <a:ea typeface="Arial" pitchFamily="34" charset="-122"/>
                <a:cs typeface="Arial" pitchFamily="34" charset="-120"/>
              </a:rPr>
              <a:t>.</a:t>
            </a:r>
            <a:endParaRPr lang="en-US" sz="1050" dirty="0"/>
          </a:p>
        </p:txBody>
      </p:sp>
      <p:sp>
        <p:nvSpPr>
          <p:cNvPr id="5" name="Shape 3"/>
          <p:cNvSpPr/>
          <p:nvPr/>
        </p:nvSpPr>
        <p:spPr>
          <a:xfrm>
            <a:off x="1441552" y="1993392"/>
            <a:ext cx="4425696" cy="3086167"/>
          </a:xfrm>
          <a:prstGeom prst="roundRect">
            <a:avLst>
              <a:gd name="adj" fmla="val 2667"/>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pic>
        <p:nvPicPr>
          <p:cNvPr id="6" name="Image 0" descr="/Users/codenk/Documents/ODENKIRCHEN.DIGITAL/matchmaker.hr/machtmaker-landingpage/src/assets/Candidate-Mockup.png"/>
          <p:cNvPicPr>
            <a:picLocks noChangeAspect="1"/>
          </p:cNvPicPr>
          <p:nvPr/>
        </p:nvPicPr>
        <p:blipFill>
          <a:blip r:embed="rId3"/>
          <a:stretch>
            <a:fillRect/>
          </a:stretch>
        </p:blipFill>
        <p:spPr>
          <a:xfrm>
            <a:off x="1551280" y="2103120"/>
            <a:ext cx="4206240" cy="2234062"/>
          </a:xfrm>
          <a:prstGeom prst="rect">
            <a:avLst/>
          </a:prstGeom>
        </p:spPr>
      </p:pic>
      <p:sp>
        <p:nvSpPr>
          <p:cNvPr id="7" name="Text 4"/>
          <p:cNvSpPr/>
          <p:nvPr/>
        </p:nvSpPr>
        <p:spPr>
          <a:xfrm>
            <a:off x="1569568" y="4567495"/>
            <a:ext cx="4169664" cy="457200"/>
          </a:xfrm>
          <a:prstGeom prst="rect">
            <a:avLst/>
          </a:prstGeom>
          <a:noFill/>
          <a:ln/>
        </p:spPr>
        <p:txBody>
          <a:bodyPr wrap="square" lIns="0" tIns="0" rIns="0" bIns="0" rtlCol="0" anchor="ctr"/>
          <a:lstStyle/>
          <a:p>
            <a:pPr marL="0" indent="0">
              <a:lnSpc>
                <a:spcPts val="1250"/>
              </a:lnSpc>
              <a:buNone/>
            </a:pPr>
            <a:r>
              <a:rPr lang="en-US" sz="1000" b="1" dirty="0">
                <a:solidFill>
                  <a:srgbClr val="2976D6"/>
                </a:solidFill>
                <a:latin typeface="Arial" pitchFamily="34" charset="0"/>
                <a:ea typeface="Arial" pitchFamily="34" charset="-122"/>
                <a:cs typeface="Arial" pitchFamily="34" charset="-120"/>
              </a:rPr>
              <a:t>Profiling:  </a:t>
            </a:r>
            <a:r>
              <a:rPr lang="en-US" sz="1000" dirty="0">
                <a:solidFill>
                  <a:srgbClr val="475569"/>
                </a:solidFill>
                <a:latin typeface="Arial" pitchFamily="34" charset="0"/>
                <a:ea typeface="Arial" pitchFamily="34" charset="-122"/>
                <a:cs typeface="Arial" pitchFamily="34" charset="-120"/>
              </a:rPr>
              <a:t>anonymisiertes Profil aus dem Lebenslauf – Skills, Erfahrung, Verfügbarkeit.</a:t>
            </a:r>
            <a:endParaRPr lang="en-US" sz="1000" dirty="0"/>
          </a:p>
        </p:txBody>
      </p:sp>
      <p:sp>
        <p:nvSpPr>
          <p:cNvPr id="8" name="Shape 5"/>
          <p:cNvSpPr/>
          <p:nvPr/>
        </p:nvSpPr>
        <p:spPr>
          <a:xfrm>
            <a:off x="6324448" y="1993392"/>
            <a:ext cx="4425696" cy="3086167"/>
          </a:xfrm>
          <a:prstGeom prst="roundRect">
            <a:avLst>
              <a:gd name="adj" fmla="val 2667"/>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pic>
        <p:nvPicPr>
          <p:cNvPr id="9" name="Image 1" descr="/Users/codenk/Documents/ODENKIRCHEN.DIGITAL/matchmaker.hr/machtmaker-landingpage/src/assets/Scoring-Mockup.png"/>
          <p:cNvPicPr>
            <a:picLocks noChangeAspect="1"/>
          </p:cNvPicPr>
          <p:nvPr/>
        </p:nvPicPr>
        <p:blipFill>
          <a:blip r:embed="rId4"/>
          <a:stretch>
            <a:fillRect/>
          </a:stretch>
        </p:blipFill>
        <p:spPr>
          <a:xfrm>
            <a:off x="6434176" y="2103120"/>
            <a:ext cx="4206240" cy="2372935"/>
          </a:xfrm>
          <a:prstGeom prst="rect">
            <a:avLst/>
          </a:prstGeom>
        </p:spPr>
      </p:pic>
      <p:sp>
        <p:nvSpPr>
          <p:cNvPr id="10" name="Text 6"/>
          <p:cNvSpPr/>
          <p:nvPr/>
        </p:nvSpPr>
        <p:spPr>
          <a:xfrm>
            <a:off x="6452464" y="4567495"/>
            <a:ext cx="4169664" cy="457200"/>
          </a:xfrm>
          <a:prstGeom prst="rect">
            <a:avLst/>
          </a:prstGeom>
          <a:noFill/>
          <a:ln/>
        </p:spPr>
        <p:txBody>
          <a:bodyPr wrap="square" lIns="0" tIns="0" rIns="0" bIns="0" rtlCol="0" anchor="ctr"/>
          <a:lstStyle/>
          <a:p>
            <a:pPr marL="0" indent="0">
              <a:lnSpc>
                <a:spcPts val="1250"/>
              </a:lnSpc>
              <a:buNone/>
            </a:pPr>
            <a:r>
              <a:rPr lang="en-US" sz="1000" b="1" dirty="0">
                <a:solidFill>
                  <a:srgbClr val="2976D6"/>
                </a:solidFill>
                <a:latin typeface="Arial" pitchFamily="34" charset="0"/>
                <a:ea typeface="Arial" pitchFamily="34" charset="-122"/>
                <a:cs typeface="Arial" pitchFamily="34" charset="-120"/>
              </a:rPr>
              <a:t>Matching:  </a:t>
            </a:r>
            <a:r>
              <a:rPr lang="en-US" sz="1000" dirty="0">
                <a:solidFill>
                  <a:srgbClr val="475569"/>
                </a:solidFill>
                <a:latin typeface="Arial" pitchFamily="34" charset="0"/>
                <a:ea typeface="Arial" pitchFamily="34" charset="-122"/>
                <a:cs typeface="Arial" pitchFamily="34" charset="-120"/>
              </a:rPr>
              <a:t>gefundene Vakanzen mit Score (94 / 87 / 81), Quelle und KI-Begründung.</a:t>
            </a:r>
            <a:endParaRPr lang="en-US" sz="1000" dirty="0"/>
          </a:p>
        </p:txBody>
      </p:sp>
      <p:sp>
        <p:nvSpPr>
          <p:cNvPr id="11" name="Shape 7"/>
          <p:cNvSpPr/>
          <p:nvPr/>
        </p:nvSpPr>
        <p:spPr>
          <a:xfrm>
            <a:off x="566928" y="5230368"/>
            <a:ext cx="11057839" cy="896112"/>
          </a:xfrm>
          <a:prstGeom prst="roundRect">
            <a:avLst>
              <a:gd name="adj" fmla="val 9184"/>
            </a:avLst>
          </a:prstGeom>
          <a:solidFill>
            <a:srgbClr val="EAF2FC"/>
          </a:solidFill>
          <a:ln/>
        </p:spPr>
        <p:txBody>
          <a:bodyPr/>
          <a:lstStyle/>
          <a:p>
            <a:endParaRPr lang="de-DE"/>
          </a:p>
        </p:txBody>
      </p:sp>
      <p:sp>
        <p:nvSpPr>
          <p:cNvPr id="12" name="Shape 8"/>
          <p:cNvSpPr/>
          <p:nvPr/>
        </p:nvSpPr>
        <p:spPr>
          <a:xfrm>
            <a:off x="914400" y="5422392"/>
            <a:ext cx="457200" cy="457200"/>
          </a:xfrm>
          <a:prstGeom prst="roundRect">
            <a:avLst>
              <a:gd name="adj" fmla="val 14000"/>
            </a:avLst>
          </a:prstGeom>
          <a:solidFill>
            <a:srgbClr val="172B4D"/>
          </a:solidFill>
          <a:ln/>
        </p:spPr>
        <p:txBody>
          <a:bodyPr/>
          <a:lstStyle/>
          <a:p>
            <a:endParaRPr lang="de-DE"/>
          </a:p>
        </p:txBody>
      </p:sp>
      <p:pic>
        <p:nvPicPr>
          <p:cNvPr id="13" name="Image 2" descr="preencoded.png"/>
          <p:cNvPicPr>
            <a:picLocks noChangeAspect="1"/>
          </p:cNvPicPr>
          <p:nvPr/>
        </p:nvPicPr>
        <p:blipFill>
          <a:blip r:embed="rId5"/>
          <a:stretch>
            <a:fillRect/>
          </a:stretch>
        </p:blipFill>
        <p:spPr>
          <a:xfrm>
            <a:off x="1024128" y="5532120"/>
            <a:ext cx="237744" cy="237744"/>
          </a:xfrm>
          <a:prstGeom prst="rect">
            <a:avLst/>
          </a:prstGeom>
        </p:spPr>
      </p:pic>
      <p:sp>
        <p:nvSpPr>
          <p:cNvPr id="14" name="Text 9"/>
          <p:cNvSpPr/>
          <p:nvPr/>
        </p:nvSpPr>
        <p:spPr>
          <a:xfrm>
            <a:off x="1517904" y="5349240"/>
            <a:ext cx="10058400" cy="292608"/>
          </a:xfrm>
          <a:prstGeom prst="rect">
            <a:avLst/>
          </a:prstGeom>
          <a:noFill/>
          <a:ln/>
        </p:spPr>
        <p:txBody>
          <a:bodyPr wrap="square" lIns="0" tIns="0" rIns="0" bIns="0" rtlCol="0" anchor="ctr"/>
          <a:lstStyle/>
          <a:p>
            <a:pPr marL="0" indent="0">
              <a:buNone/>
            </a:pPr>
            <a:r>
              <a:rPr lang="en-US" sz="1250" b="1" dirty="0">
                <a:solidFill>
                  <a:srgbClr val="172B4D"/>
                </a:solidFill>
                <a:latin typeface="Arial" pitchFamily="34" charset="0"/>
                <a:ea typeface="Arial" pitchFamily="34" charset="-122"/>
                <a:cs typeface="Arial" pitchFamily="34" charset="-120"/>
              </a:rPr>
              <a:t>Warum bessere Treffer als generische KI (z. B. ChatGPT)?</a:t>
            </a:r>
            <a:endParaRPr lang="en-US" sz="1250" dirty="0"/>
          </a:p>
        </p:txBody>
      </p:sp>
      <p:sp>
        <p:nvSpPr>
          <p:cNvPr id="15" name="Text 10"/>
          <p:cNvSpPr/>
          <p:nvPr/>
        </p:nvSpPr>
        <p:spPr>
          <a:xfrm>
            <a:off x="1517904" y="5650992"/>
            <a:ext cx="10607040" cy="365760"/>
          </a:xfrm>
          <a:prstGeom prst="rect">
            <a:avLst/>
          </a:prstGeom>
          <a:noFill/>
          <a:ln/>
        </p:spPr>
        <p:txBody>
          <a:bodyPr wrap="square" lIns="0" tIns="0" rIns="0" bIns="0" rtlCol="0" anchor="ctr"/>
          <a:lstStyle/>
          <a:p>
            <a:pPr marL="0" indent="0">
              <a:lnSpc>
                <a:spcPts val="1300"/>
              </a:lnSpc>
              <a:buNone/>
            </a:pPr>
            <a:r>
              <a:rPr lang="en-US" sz="1100" b="1" dirty="0">
                <a:solidFill>
                  <a:srgbClr val="2976D6"/>
                </a:solidFill>
                <a:latin typeface="Arial" pitchFamily="34" charset="0"/>
                <a:ea typeface="Arial" pitchFamily="34" charset="-122"/>
                <a:cs typeface="Arial" pitchFamily="34" charset="-120"/>
              </a:rPr>
              <a:t>Semantisches Matching</a:t>
            </a:r>
            <a:r>
              <a:rPr lang="en-US" sz="1100" dirty="0">
                <a:solidFill>
                  <a:srgbClr val="7C8AA0"/>
                </a:solidFill>
                <a:latin typeface="Arial" pitchFamily="34" charset="0"/>
                <a:ea typeface="Arial" pitchFamily="34" charset="-122"/>
                <a:cs typeface="Arial" pitchFamily="34" charset="-120"/>
              </a:rPr>
              <a:t>   ·   </a:t>
            </a:r>
            <a:r>
              <a:rPr lang="en-US" sz="1100" b="1" dirty="0">
                <a:solidFill>
                  <a:srgbClr val="2976D6"/>
                </a:solidFill>
                <a:latin typeface="Arial" pitchFamily="34" charset="0"/>
                <a:ea typeface="Arial" pitchFamily="34" charset="-122"/>
                <a:cs typeface="Arial" pitchFamily="34" charset="-120"/>
              </a:rPr>
              <a:t>Karriereverlauf statt Keywords</a:t>
            </a:r>
            <a:r>
              <a:rPr lang="en-US" sz="1100" dirty="0">
                <a:solidFill>
                  <a:srgbClr val="7C8AA0"/>
                </a:solidFill>
                <a:latin typeface="Arial" pitchFamily="34" charset="0"/>
                <a:ea typeface="Arial" pitchFamily="34" charset="-122"/>
                <a:cs typeface="Arial" pitchFamily="34" charset="-120"/>
              </a:rPr>
              <a:t>   ·   </a:t>
            </a:r>
            <a:r>
              <a:rPr lang="en-US" sz="1100" b="1" dirty="0">
                <a:solidFill>
                  <a:srgbClr val="2976D6"/>
                </a:solidFill>
                <a:latin typeface="Arial" pitchFamily="34" charset="0"/>
                <a:ea typeface="Arial" pitchFamily="34" charset="-122"/>
                <a:cs typeface="Arial" pitchFamily="34" charset="-120"/>
              </a:rPr>
              <a:t>Erklärbares Scoring</a:t>
            </a:r>
            <a:r>
              <a:rPr lang="en-US" sz="1100" dirty="0">
                <a:solidFill>
                  <a:srgbClr val="7C8AA0"/>
                </a:solidFill>
                <a:latin typeface="Arial" pitchFamily="34" charset="0"/>
                <a:ea typeface="Arial" pitchFamily="34" charset="-122"/>
                <a:cs typeface="Arial" pitchFamily="34" charset="-120"/>
              </a:rPr>
              <a:t>   ·   </a:t>
            </a:r>
            <a:r>
              <a:rPr lang="en-US" sz="1100" b="1" dirty="0">
                <a:solidFill>
                  <a:srgbClr val="2976D6"/>
                </a:solidFill>
                <a:latin typeface="Arial" pitchFamily="34" charset="0"/>
                <a:ea typeface="Arial" pitchFamily="34" charset="-122"/>
                <a:cs typeface="Arial" pitchFamily="34" charset="-120"/>
              </a:rPr>
              <a:t>Kontinuierliche Marktanalyse</a:t>
            </a:r>
            <a:endParaRPr lang="en-US" sz="1100" dirty="0"/>
          </a:p>
        </p:txBody>
      </p:sp>
      <p:sp>
        <p:nvSpPr>
          <p:cNvPr id="16" name="Text 11"/>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17" name="Text 12"/>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05 / 14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2B4D"/>
        </a:solidFill>
        <a:effectLst/>
      </p:bgPr>
    </p:bg>
    <p:spTree>
      <p:nvGrpSpPr>
        <p:cNvPr id="1" name=""/>
        <p:cNvGrpSpPr/>
        <p:nvPr/>
      </p:nvGrpSpPr>
      <p:grpSpPr>
        <a:xfrm>
          <a:off x="0" y="0"/>
          <a:ext cx="0" cy="0"/>
          <a:chOff x="0" y="0"/>
          <a:chExt cx="0" cy="0"/>
        </a:xfrm>
      </p:grpSpPr>
      <p:sp>
        <p:nvSpPr>
          <p:cNvPr id="2" name="Shape 0"/>
          <p:cNvSpPr/>
          <p:nvPr/>
        </p:nvSpPr>
        <p:spPr>
          <a:xfrm>
            <a:off x="2926080" y="-3108960"/>
            <a:ext cx="6400800" cy="5486400"/>
          </a:xfrm>
          <a:prstGeom prst="ellipse">
            <a:avLst/>
          </a:prstGeom>
          <a:solidFill>
            <a:srgbClr val="2976D6">
              <a:alpha val="20000"/>
            </a:srgbClr>
          </a:solidFill>
          <a:ln/>
        </p:spPr>
        <p:txBody>
          <a:bodyPr/>
          <a:lstStyle/>
          <a:p>
            <a:endParaRPr lang="de-DE"/>
          </a:p>
        </p:txBody>
      </p:sp>
      <p:sp>
        <p:nvSpPr>
          <p:cNvPr id="3" name="Text 1"/>
          <p:cNvSpPr/>
          <p:nvPr/>
        </p:nvSpPr>
        <p:spPr>
          <a:xfrm>
            <a:off x="566928" y="548640"/>
            <a:ext cx="7315200" cy="274320"/>
          </a:xfrm>
          <a:prstGeom prst="rect">
            <a:avLst/>
          </a:prstGeom>
          <a:noFill/>
          <a:ln/>
        </p:spPr>
        <p:txBody>
          <a:bodyPr wrap="square" lIns="0" tIns="0" rIns="0" bIns="0" rtlCol="0" anchor="ctr"/>
          <a:lstStyle/>
          <a:p>
            <a:pPr marL="0" indent="0">
              <a:buNone/>
            </a:pPr>
            <a:r>
              <a:rPr lang="en-US" sz="1150" b="1" kern="0" spc="200" dirty="0">
                <a:solidFill>
                  <a:srgbClr val="5FA0EA"/>
                </a:solidFill>
                <a:latin typeface="Arial" pitchFamily="34" charset="0"/>
                <a:ea typeface="Arial" pitchFamily="34" charset="-122"/>
                <a:cs typeface="Arial" pitchFamily="34" charset="-120"/>
              </a:rPr>
              <a:t>KUNDENNUTZEN</a:t>
            </a:r>
            <a:endParaRPr lang="en-US" sz="1150" dirty="0"/>
          </a:p>
        </p:txBody>
      </p:sp>
      <p:sp>
        <p:nvSpPr>
          <p:cNvPr id="4" name="Text 2"/>
          <p:cNvSpPr/>
          <p:nvPr/>
        </p:nvSpPr>
        <p:spPr>
          <a:xfrm>
            <a:off x="566928" y="868680"/>
            <a:ext cx="10972800" cy="868680"/>
          </a:xfrm>
          <a:prstGeom prst="rect">
            <a:avLst/>
          </a:prstGeom>
          <a:noFill/>
          <a:ln/>
        </p:spPr>
        <p:txBody>
          <a:bodyPr wrap="square" lIns="0" tIns="0" rIns="0" bIns="0" rtlCol="0" anchor="ctr"/>
          <a:lstStyle/>
          <a:p>
            <a:pPr marL="0" indent="0" algn="l">
              <a:lnSpc>
                <a:spcPts val="2940"/>
              </a:lnSpc>
              <a:buNone/>
            </a:pPr>
            <a:r>
              <a:rPr lang="en-US" sz="2800" b="1" dirty="0">
                <a:solidFill>
                  <a:srgbClr val="FFFFFF"/>
                </a:solidFill>
                <a:latin typeface="Arial" pitchFamily="34" charset="0"/>
                <a:ea typeface="Arial" pitchFamily="34" charset="-122"/>
                <a:cs typeface="Arial" pitchFamily="34" charset="-120"/>
              </a:rPr>
              <a:t>Spürbare Entlastung, </a:t>
            </a:r>
            <a:r>
              <a:rPr lang="en-US" sz="2800" b="1" dirty="0">
                <a:solidFill>
                  <a:srgbClr val="5FA0EA"/>
                </a:solidFill>
                <a:latin typeface="Arial" pitchFamily="34" charset="0"/>
                <a:ea typeface="Arial" pitchFamily="34" charset="-122"/>
                <a:cs typeface="Arial" pitchFamily="34" charset="-120"/>
              </a:rPr>
              <a:t>messbare Wirkung.</a:t>
            </a:r>
            <a:endParaRPr lang="en-US" sz="2800" dirty="0"/>
          </a:p>
        </p:txBody>
      </p:sp>
      <p:sp>
        <p:nvSpPr>
          <p:cNvPr id="5" name="Shape 3"/>
          <p:cNvSpPr/>
          <p:nvPr/>
        </p:nvSpPr>
        <p:spPr>
          <a:xfrm>
            <a:off x="566928" y="2148840"/>
            <a:ext cx="3442106" cy="1828800"/>
          </a:xfrm>
          <a:prstGeom prst="roundRect">
            <a:avLst>
              <a:gd name="adj" fmla="val 4500"/>
            </a:avLst>
          </a:prstGeom>
          <a:solidFill>
            <a:srgbClr val="FFFFFF">
              <a:alpha val="7000"/>
            </a:srgbClr>
          </a:solidFill>
          <a:ln w="9525">
            <a:solidFill>
              <a:srgbClr val="FFFFFF">
                <a:alpha val="22000"/>
              </a:srgbClr>
            </a:solidFill>
            <a:prstDash val="solid"/>
          </a:ln>
        </p:spPr>
        <p:txBody>
          <a:bodyPr/>
          <a:lstStyle/>
          <a:p>
            <a:endParaRPr lang="de-DE"/>
          </a:p>
        </p:txBody>
      </p:sp>
      <p:sp>
        <p:nvSpPr>
          <p:cNvPr id="6" name="Text 4"/>
          <p:cNvSpPr/>
          <p:nvPr/>
        </p:nvSpPr>
        <p:spPr>
          <a:xfrm>
            <a:off x="2820314" y="2368296"/>
            <a:ext cx="914400" cy="274320"/>
          </a:xfrm>
          <a:prstGeom prst="rect">
            <a:avLst/>
          </a:prstGeom>
          <a:noFill/>
          <a:ln/>
        </p:spPr>
        <p:txBody>
          <a:bodyPr wrap="square" lIns="0" tIns="0" rIns="0" bIns="0" rtlCol="0" anchor="ctr"/>
          <a:lstStyle/>
          <a:p>
            <a:pPr marL="0" indent="0" algn="r">
              <a:buNone/>
            </a:pPr>
            <a:r>
              <a:rPr lang="en-US" sz="1200" i="1" dirty="0">
                <a:solidFill>
                  <a:srgbClr val="5FA0EA"/>
                </a:solidFill>
                <a:latin typeface="Arial" pitchFamily="34" charset="0"/>
                <a:ea typeface="Arial" pitchFamily="34" charset="-122"/>
                <a:cs typeface="Arial" pitchFamily="34" charset="-120"/>
              </a:rPr>
              <a:t>bis zu</a:t>
            </a:r>
            <a:endParaRPr lang="en-US" sz="1200" dirty="0"/>
          </a:p>
        </p:txBody>
      </p:sp>
      <p:sp>
        <p:nvSpPr>
          <p:cNvPr id="7" name="Text 5"/>
          <p:cNvSpPr/>
          <p:nvPr/>
        </p:nvSpPr>
        <p:spPr>
          <a:xfrm>
            <a:off x="841248" y="2404872"/>
            <a:ext cx="2893466" cy="7315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−70 %</a:t>
            </a:r>
            <a:endParaRPr lang="en-US" sz="4600" dirty="0"/>
          </a:p>
        </p:txBody>
      </p:sp>
      <p:sp>
        <p:nvSpPr>
          <p:cNvPr id="8" name="Text 6"/>
          <p:cNvSpPr/>
          <p:nvPr/>
        </p:nvSpPr>
        <p:spPr>
          <a:xfrm>
            <a:off x="859536" y="3172968"/>
            <a:ext cx="2893466" cy="320040"/>
          </a:xfrm>
          <a:prstGeom prst="rect">
            <a:avLst/>
          </a:prstGeom>
          <a:noFill/>
          <a:ln/>
        </p:spPr>
        <p:txBody>
          <a:bodyPr wrap="square" lIns="0" tIns="0" rIns="0" bIns="0" rtlCol="0" anchor="ctr"/>
          <a:lstStyle/>
          <a:p>
            <a:pPr marL="0" indent="0">
              <a:buNone/>
            </a:pPr>
            <a:r>
              <a:rPr lang="en-US" sz="1400" b="1" dirty="0">
                <a:solidFill>
                  <a:srgbClr val="5FA0EA"/>
                </a:solidFill>
                <a:latin typeface="Arial" pitchFamily="34" charset="0"/>
                <a:ea typeface="Arial" pitchFamily="34" charset="-122"/>
                <a:cs typeface="Arial" pitchFamily="34" charset="-120"/>
              </a:rPr>
              <a:t>weniger Aufwand</a:t>
            </a:r>
            <a:endParaRPr lang="en-US" sz="1400" dirty="0"/>
          </a:p>
        </p:txBody>
      </p:sp>
      <p:sp>
        <p:nvSpPr>
          <p:cNvPr id="9" name="Text 7"/>
          <p:cNvSpPr/>
          <p:nvPr/>
        </p:nvSpPr>
        <p:spPr>
          <a:xfrm>
            <a:off x="859536" y="3502152"/>
            <a:ext cx="2893466" cy="411480"/>
          </a:xfrm>
          <a:prstGeom prst="rect">
            <a:avLst/>
          </a:prstGeom>
          <a:noFill/>
          <a:ln/>
        </p:spPr>
        <p:txBody>
          <a:bodyPr wrap="square" lIns="0" tIns="0" rIns="0" bIns="0" rtlCol="0" anchor="ctr"/>
          <a:lstStyle/>
          <a:p>
            <a:pPr marL="0" indent="0">
              <a:lnSpc>
                <a:spcPts val="1300"/>
              </a:lnSpc>
              <a:buNone/>
            </a:pPr>
            <a:r>
              <a:rPr lang="en-US" sz="1100" dirty="0">
                <a:solidFill>
                  <a:srgbClr val="C9D6EC"/>
                </a:solidFill>
                <a:latin typeface="Arial" pitchFamily="34" charset="0"/>
                <a:ea typeface="Arial" pitchFamily="34" charset="-122"/>
                <a:cs typeface="Arial" pitchFamily="34" charset="-120"/>
              </a:rPr>
              <a:t>Kein manuelles Jobboard-Screening mehr.</a:t>
            </a:r>
            <a:endParaRPr lang="en-US" sz="1100" dirty="0"/>
          </a:p>
        </p:txBody>
      </p:sp>
      <p:sp>
        <p:nvSpPr>
          <p:cNvPr id="10" name="Shape 8"/>
          <p:cNvSpPr/>
          <p:nvPr/>
        </p:nvSpPr>
        <p:spPr>
          <a:xfrm>
            <a:off x="4374794" y="2148840"/>
            <a:ext cx="3442106" cy="1828800"/>
          </a:xfrm>
          <a:prstGeom prst="roundRect">
            <a:avLst>
              <a:gd name="adj" fmla="val 4500"/>
            </a:avLst>
          </a:prstGeom>
          <a:solidFill>
            <a:srgbClr val="FFFFFF">
              <a:alpha val="7000"/>
            </a:srgbClr>
          </a:solidFill>
          <a:ln w="9525">
            <a:solidFill>
              <a:srgbClr val="FFFFFF">
                <a:alpha val="22000"/>
              </a:srgbClr>
            </a:solidFill>
            <a:prstDash val="solid"/>
          </a:ln>
        </p:spPr>
        <p:txBody>
          <a:bodyPr/>
          <a:lstStyle/>
          <a:p>
            <a:endParaRPr lang="de-DE"/>
          </a:p>
        </p:txBody>
      </p:sp>
      <p:sp>
        <p:nvSpPr>
          <p:cNvPr id="11" name="Text 9"/>
          <p:cNvSpPr/>
          <p:nvPr/>
        </p:nvSpPr>
        <p:spPr>
          <a:xfrm>
            <a:off x="4649114" y="2404872"/>
            <a:ext cx="2893466" cy="7315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4 → 1</a:t>
            </a:r>
            <a:endParaRPr lang="en-US" sz="4600" dirty="0"/>
          </a:p>
        </p:txBody>
      </p:sp>
      <p:sp>
        <p:nvSpPr>
          <p:cNvPr id="12" name="Text 10"/>
          <p:cNvSpPr/>
          <p:nvPr/>
        </p:nvSpPr>
        <p:spPr>
          <a:xfrm>
            <a:off x="4667402" y="3172968"/>
            <a:ext cx="2893466" cy="320040"/>
          </a:xfrm>
          <a:prstGeom prst="rect">
            <a:avLst/>
          </a:prstGeom>
          <a:noFill/>
          <a:ln/>
        </p:spPr>
        <p:txBody>
          <a:bodyPr wrap="square" lIns="0" tIns="0" rIns="0" bIns="0" rtlCol="0" anchor="ctr"/>
          <a:lstStyle/>
          <a:p>
            <a:pPr marL="0" indent="0">
              <a:buNone/>
            </a:pPr>
            <a:r>
              <a:rPr lang="en-US" sz="1400" b="1" dirty="0">
                <a:solidFill>
                  <a:srgbClr val="5FA0EA"/>
                </a:solidFill>
                <a:latin typeface="Arial" pitchFamily="34" charset="0"/>
                <a:ea typeface="Arial" pitchFamily="34" charset="-122"/>
                <a:cs typeface="Arial" pitchFamily="34" charset="-120"/>
              </a:rPr>
              <a:t>Schritte bis zur Freigabe</a:t>
            </a:r>
            <a:endParaRPr lang="en-US" sz="1400" dirty="0"/>
          </a:p>
        </p:txBody>
      </p:sp>
      <p:sp>
        <p:nvSpPr>
          <p:cNvPr id="13" name="Text 11"/>
          <p:cNvSpPr/>
          <p:nvPr/>
        </p:nvSpPr>
        <p:spPr>
          <a:xfrm>
            <a:off x="4667402" y="3502152"/>
            <a:ext cx="2893466" cy="411480"/>
          </a:xfrm>
          <a:prstGeom prst="rect">
            <a:avLst/>
          </a:prstGeom>
          <a:noFill/>
          <a:ln/>
        </p:spPr>
        <p:txBody>
          <a:bodyPr wrap="square" lIns="0" tIns="0" rIns="0" bIns="0" rtlCol="0" anchor="ctr"/>
          <a:lstStyle/>
          <a:p>
            <a:pPr marL="0" indent="0">
              <a:lnSpc>
                <a:spcPts val="1300"/>
              </a:lnSpc>
              <a:buNone/>
            </a:pPr>
            <a:r>
              <a:rPr lang="en-US" sz="1100" dirty="0">
                <a:solidFill>
                  <a:srgbClr val="C9D6EC"/>
                </a:solidFill>
                <a:latin typeface="Arial" pitchFamily="34" charset="0"/>
                <a:ea typeface="Arial" pitchFamily="34" charset="-122"/>
                <a:cs typeface="Arial" pitchFamily="34" charset="-120"/>
              </a:rPr>
              <a:t>Vier Agenten arbeiten zu, der Berater gibt frei.</a:t>
            </a:r>
            <a:endParaRPr lang="en-US" sz="1100" dirty="0"/>
          </a:p>
        </p:txBody>
      </p:sp>
      <p:sp>
        <p:nvSpPr>
          <p:cNvPr id="14" name="Shape 12"/>
          <p:cNvSpPr/>
          <p:nvPr/>
        </p:nvSpPr>
        <p:spPr>
          <a:xfrm>
            <a:off x="8182661" y="2148840"/>
            <a:ext cx="3442106" cy="1828800"/>
          </a:xfrm>
          <a:prstGeom prst="roundRect">
            <a:avLst>
              <a:gd name="adj" fmla="val 4500"/>
            </a:avLst>
          </a:prstGeom>
          <a:solidFill>
            <a:srgbClr val="FFFFFF">
              <a:alpha val="7000"/>
            </a:srgbClr>
          </a:solidFill>
          <a:ln w="9525">
            <a:solidFill>
              <a:srgbClr val="FFFFFF">
                <a:alpha val="22000"/>
              </a:srgbClr>
            </a:solidFill>
            <a:prstDash val="solid"/>
          </a:ln>
        </p:spPr>
        <p:txBody>
          <a:bodyPr/>
          <a:lstStyle/>
          <a:p>
            <a:endParaRPr lang="de-DE"/>
          </a:p>
        </p:txBody>
      </p:sp>
      <p:sp>
        <p:nvSpPr>
          <p:cNvPr id="15" name="Text 13"/>
          <p:cNvSpPr/>
          <p:nvPr/>
        </p:nvSpPr>
        <p:spPr>
          <a:xfrm>
            <a:off x="8456981" y="2404872"/>
            <a:ext cx="2893466" cy="73152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100 %</a:t>
            </a:r>
            <a:endParaRPr lang="en-US" sz="4600" dirty="0"/>
          </a:p>
        </p:txBody>
      </p:sp>
      <p:sp>
        <p:nvSpPr>
          <p:cNvPr id="16" name="Text 14"/>
          <p:cNvSpPr/>
          <p:nvPr/>
        </p:nvSpPr>
        <p:spPr>
          <a:xfrm>
            <a:off x="8475269" y="3172968"/>
            <a:ext cx="2893466" cy="320040"/>
          </a:xfrm>
          <a:prstGeom prst="rect">
            <a:avLst/>
          </a:prstGeom>
          <a:noFill/>
          <a:ln/>
        </p:spPr>
        <p:txBody>
          <a:bodyPr wrap="square" lIns="0" tIns="0" rIns="0" bIns="0" rtlCol="0" anchor="ctr"/>
          <a:lstStyle/>
          <a:p>
            <a:pPr marL="0" indent="0">
              <a:buNone/>
            </a:pPr>
            <a:r>
              <a:rPr lang="en-US" sz="1400" b="1" dirty="0">
                <a:solidFill>
                  <a:srgbClr val="5FA0EA"/>
                </a:solidFill>
                <a:latin typeface="Arial" pitchFamily="34" charset="0"/>
                <a:ea typeface="Arial" pitchFamily="34" charset="-122"/>
                <a:cs typeface="Arial" pitchFamily="34" charset="-120"/>
              </a:rPr>
              <a:t>EU-Hosting</a:t>
            </a:r>
            <a:endParaRPr lang="en-US" sz="1400" dirty="0"/>
          </a:p>
        </p:txBody>
      </p:sp>
      <p:sp>
        <p:nvSpPr>
          <p:cNvPr id="17" name="Text 15"/>
          <p:cNvSpPr/>
          <p:nvPr/>
        </p:nvSpPr>
        <p:spPr>
          <a:xfrm>
            <a:off x="8475269" y="3502152"/>
            <a:ext cx="2893466" cy="411480"/>
          </a:xfrm>
          <a:prstGeom prst="rect">
            <a:avLst/>
          </a:prstGeom>
          <a:noFill/>
          <a:ln/>
        </p:spPr>
        <p:txBody>
          <a:bodyPr wrap="square" lIns="0" tIns="0" rIns="0" bIns="0" rtlCol="0" anchor="ctr"/>
          <a:lstStyle/>
          <a:p>
            <a:pPr marL="0" indent="0">
              <a:lnSpc>
                <a:spcPts val="1300"/>
              </a:lnSpc>
              <a:buNone/>
            </a:pPr>
            <a:r>
              <a:rPr lang="en-US" sz="1100" dirty="0">
                <a:solidFill>
                  <a:srgbClr val="C9D6EC"/>
                </a:solidFill>
                <a:latin typeface="Arial" pitchFamily="34" charset="0"/>
                <a:ea typeface="Arial" pitchFamily="34" charset="-122"/>
                <a:cs typeface="Arial" pitchFamily="34" charset="-120"/>
              </a:rPr>
              <a:t>DSGVO-konform, Daten bleiben in der EU.</a:t>
            </a:r>
            <a:endParaRPr lang="en-US" sz="1100" dirty="0"/>
          </a:p>
        </p:txBody>
      </p:sp>
      <p:sp>
        <p:nvSpPr>
          <p:cNvPr id="18" name="Shape 16"/>
          <p:cNvSpPr/>
          <p:nvPr/>
        </p:nvSpPr>
        <p:spPr>
          <a:xfrm>
            <a:off x="566928" y="4343400"/>
            <a:ext cx="457200" cy="457200"/>
          </a:xfrm>
          <a:prstGeom prst="roundRect">
            <a:avLst>
              <a:gd name="adj" fmla="val 14000"/>
            </a:avLst>
          </a:prstGeom>
          <a:solidFill>
            <a:srgbClr val="2976D6"/>
          </a:solidFill>
          <a:ln/>
        </p:spPr>
        <p:txBody>
          <a:bodyPr/>
          <a:lstStyle/>
          <a:p>
            <a:endParaRPr lang="de-DE"/>
          </a:p>
        </p:txBody>
      </p:sp>
      <p:pic>
        <p:nvPicPr>
          <p:cNvPr id="19" name="Image 0" descr="preencoded.png"/>
          <p:cNvPicPr>
            <a:picLocks noChangeAspect="1"/>
          </p:cNvPicPr>
          <p:nvPr/>
        </p:nvPicPr>
        <p:blipFill>
          <a:blip r:embed="rId3"/>
          <a:stretch>
            <a:fillRect/>
          </a:stretch>
        </p:blipFill>
        <p:spPr>
          <a:xfrm>
            <a:off x="676656" y="4453128"/>
            <a:ext cx="237744" cy="237744"/>
          </a:xfrm>
          <a:prstGeom prst="rect">
            <a:avLst/>
          </a:prstGeom>
        </p:spPr>
      </p:pic>
      <p:sp>
        <p:nvSpPr>
          <p:cNvPr id="20" name="Text 17"/>
          <p:cNvSpPr/>
          <p:nvPr/>
        </p:nvSpPr>
        <p:spPr>
          <a:xfrm>
            <a:off x="1188720" y="4306824"/>
            <a:ext cx="2820314"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Mehr Zeit für Beratung</a:t>
            </a:r>
            <a:endParaRPr lang="en-US" sz="1350" dirty="0"/>
          </a:p>
        </p:txBody>
      </p:sp>
      <p:sp>
        <p:nvSpPr>
          <p:cNvPr id="21" name="Text 18"/>
          <p:cNvSpPr/>
          <p:nvPr/>
        </p:nvSpPr>
        <p:spPr>
          <a:xfrm>
            <a:off x="566928" y="4892040"/>
            <a:ext cx="3259226" cy="640080"/>
          </a:xfrm>
          <a:prstGeom prst="rect">
            <a:avLst/>
          </a:prstGeom>
          <a:noFill/>
          <a:ln/>
        </p:spPr>
        <p:txBody>
          <a:bodyPr wrap="square" lIns="0" tIns="0" rIns="0" bIns="0" rtlCol="0" anchor="ctr"/>
          <a:lstStyle/>
          <a:p>
            <a:pPr marL="0" indent="0">
              <a:lnSpc>
                <a:spcPts val="1400"/>
              </a:lnSpc>
              <a:buNone/>
            </a:pPr>
            <a:r>
              <a:rPr lang="en-US" sz="1100" dirty="0">
                <a:solidFill>
                  <a:srgbClr val="C9D6EC"/>
                </a:solidFill>
                <a:latin typeface="Arial" pitchFamily="34" charset="0"/>
                <a:ea typeface="Arial" pitchFamily="34" charset="-122"/>
                <a:cs typeface="Arial" pitchFamily="34" charset="-120"/>
              </a:rPr>
              <a:t>Die gewonnene Zeit fließt in Mandate, Kundengespräche und Abschlüsse.</a:t>
            </a:r>
            <a:endParaRPr lang="en-US" sz="1100" dirty="0"/>
          </a:p>
        </p:txBody>
      </p:sp>
      <p:sp>
        <p:nvSpPr>
          <p:cNvPr id="22" name="Shape 19"/>
          <p:cNvSpPr/>
          <p:nvPr/>
        </p:nvSpPr>
        <p:spPr>
          <a:xfrm>
            <a:off x="4374794" y="4343400"/>
            <a:ext cx="457200" cy="457200"/>
          </a:xfrm>
          <a:prstGeom prst="roundRect">
            <a:avLst>
              <a:gd name="adj" fmla="val 14000"/>
            </a:avLst>
          </a:prstGeom>
          <a:solidFill>
            <a:srgbClr val="2976D6"/>
          </a:solidFill>
          <a:ln/>
        </p:spPr>
        <p:txBody>
          <a:bodyPr/>
          <a:lstStyle/>
          <a:p>
            <a:endParaRPr lang="de-DE"/>
          </a:p>
        </p:txBody>
      </p:sp>
      <p:pic>
        <p:nvPicPr>
          <p:cNvPr id="23" name="Image 1" descr="preencoded.png"/>
          <p:cNvPicPr>
            <a:picLocks noChangeAspect="1"/>
          </p:cNvPicPr>
          <p:nvPr/>
        </p:nvPicPr>
        <p:blipFill>
          <a:blip r:embed="rId4"/>
          <a:stretch>
            <a:fillRect/>
          </a:stretch>
        </p:blipFill>
        <p:spPr>
          <a:xfrm>
            <a:off x="4484522" y="4453128"/>
            <a:ext cx="237744" cy="237744"/>
          </a:xfrm>
          <a:prstGeom prst="rect">
            <a:avLst/>
          </a:prstGeom>
        </p:spPr>
      </p:pic>
      <p:sp>
        <p:nvSpPr>
          <p:cNvPr id="24" name="Text 20"/>
          <p:cNvSpPr/>
          <p:nvPr/>
        </p:nvSpPr>
        <p:spPr>
          <a:xfrm>
            <a:off x="4996586" y="4306824"/>
            <a:ext cx="2820314"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Skalierung ohne Neueinstellung</a:t>
            </a:r>
            <a:endParaRPr lang="en-US" sz="1350" dirty="0"/>
          </a:p>
        </p:txBody>
      </p:sp>
      <p:sp>
        <p:nvSpPr>
          <p:cNvPr id="25" name="Text 21"/>
          <p:cNvSpPr/>
          <p:nvPr/>
        </p:nvSpPr>
        <p:spPr>
          <a:xfrm>
            <a:off x="4374794" y="4892040"/>
            <a:ext cx="3259226" cy="640080"/>
          </a:xfrm>
          <a:prstGeom prst="rect">
            <a:avLst/>
          </a:prstGeom>
          <a:noFill/>
          <a:ln/>
        </p:spPr>
        <p:txBody>
          <a:bodyPr wrap="square" lIns="0" tIns="0" rIns="0" bIns="0" rtlCol="0" anchor="ctr"/>
          <a:lstStyle/>
          <a:p>
            <a:pPr marL="0" indent="0">
              <a:lnSpc>
                <a:spcPts val="1400"/>
              </a:lnSpc>
              <a:buNone/>
            </a:pPr>
            <a:r>
              <a:rPr lang="en-US" sz="1100" dirty="0">
                <a:solidFill>
                  <a:srgbClr val="C9D6EC"/>
                </a:solidFill>
                <a:latin typeface="Arial" pitchFamily="34" charset="0"/>
                <a:ea typeface="Arial" pitchFamily="34" charset="-122"/>
                <a:cs typeface="Arial" pitchFamily="34" charset="-120"/>
              </a:rPr>
              <a:t>Mehr Suchaufträge bewältigen, ohne den Personalkörper zu vergrößern.</a:t>
            </a:r>
            <a:endParaRPr lang="en-US" sz="1100" dirty="0"/>
          </a:p>
        </p:txBody>
      </p:sp>
      <p:sp>
        <p:nvSpPr>
          <p:cNvPr id="26" name="Shape 22"/>
          <p:cNvSpPr/>
          <p:nvPr/>
        </p:nvSpPr>
        <p:spPr>
          <a:xfrm>
            <a:off x="8182661" y="4343400"/>
            <a:ext cx="457200" cy="457200"/>
          </a:xfrm>
          <a:prstGeom prst="roundRect">
            <a:avLst>
              <a:gd name="adj" fmla="val 14000"/>
            </a:avLst>
          </a:prstGeom>
          <a:solidFill>
            <a:srgbClr val="2976D6"/>
          </a:solidFill>
          <a:ln/>
        </p:spPr>
        <p:txBody>
          <a:bodyPr/>
          <a:lstStyle/>
          <a:p>
            <a:endParaRPr lang="de-DE"/>
          </a:p>
        </p:txBody>
      </p:sp>
      <p:pic>
        <p:nvPicPr>
          <p:cNvPr id="27" name="Image 2" descr="preencoded.png"/>
          <p:cNvPicPr>
            <a:picLocks noChangeAspect="1"/>
          </p:cNvPicPr>
          <p:nvPr/>
        </p:nvPicPr>
        <p:blipFill>
          <a:blip r:embed="rId5"/>
          <a:stretch>
            <a:fillRect/>
          </a:stretch>
        </p:blipFill>
        <p:spPr>
          <a:xfrm>
            <a:off x="8292389" y="4453128"/>
            <a:ext cx="237744" cy="237744"/>
          </a:xfrm>
          <a:prstGeom prst="rect">
            <a:avLst/>
          </a:prstGeom>
        </p:spPr>
      </p:pic>
      <p:sp>
        <p:nvSpPr>
          <p:cNvPr id="28" name="Text 23"/>
          <p:cNvSpPr/>
          <p:nvPr/>
        </p:nvSpPr>
        <p:spPr>
          <a:xfrm>
            <a:off x="8804453" y="4306824"/>
            <a:ext cx="2820314" cy="502920"/>
          </a:xfrm>
          <a:prstGeom prst="rect">
            <a:avLst/>
          </a:prstGeom>
          <a:noFill/>
          <a:ln/>
        </p:spPr>
        <p:txBody>
          <a:bodyPr wrap="square" lIns="0" tIns="0" rIns="0" bIns="0" rtlCol="0" anchor="ctr"/>
          <a:lstStyle/>
          <a:p>
            <a:pPr marL="0" indent="0">
              <a:buNone/>
            </a:pPr>
            <a:r>
              <a:rPr lang="en-US" sz="1350" b="1" dirty="0">
                <a:solidFill>
                  <a:srgbClr val="FFFFFF"/>
                </a:solidFill>
                <a:latin typeface="Arial" pitchFamily="34" charset="0"/>
                <a:ea typeface="Arial" pitchFamily="34" charset="-122"/>
                <a:cs typeface="Arial" pitchFamily="34" charset="-120"/>
              </a:rPr>
              <a:t>Verkaufbare Begründung</a:t>
            </a:r>
            <a:endParaRPr lang="en-US" sz="1350" dirty="0"/>
          </a:p>
        </p:txBody>
      </p:sp>
      <p:sp>
        <p:nvSpPr>
          <p:cNvPr id="29" name="Text 24"/>
          <p:cNvSpPr/>
          <p:nvPr/>
        </p:nvSpPr>
        <p:spPr>
          <a:xfrm>
            <a:off x="8182661" y="4892040"/>
            <a:ext cx="3259226" cy="640080"/>
          </a:xfrm>
          <a:prstGeom prst="rect">
            <a:avLst/>
          </a:prstGeom>
          <a:noFill/>
          <a:ln/>
        </p:spPr>
        <p:txBody>
          <a:bodyPr wrap="square" lIns="0" tIns="0" rIns="0" bIns="0" rtlCol="0" anchor="ctr"/>
          <a:lstStyle/>
          <a:p>
            <a:pPr marL="0" indent="0">
              <a:lnSpc>
                <a:spcPts val="1400"/>
              </a:lnSpc>
              <a:buNone/>
            </a:pPr>
            <a:r>
              <a:rPr lang="en-US" sz="1100" dirty="0">
                <a:solidFill>
                  <a:srgbClr val="C9D6EC"/>
                </a:solidFill>
                <a:latin typeface="Arial" pitchFamily="34" charset="0"/>
                <a:ea typeface="Arial" pitchFamily="34" charset="-122"/>
                <a:cs typeface="Arial" pitchFamily="34" charset="-120"/>
              </a:rPr>
              <a:t>Nicht die meisten Treffer, sondern die richtigen – belegbar gegenüber Kunden.</a:t>
            </a:r>
            <a:endParaRPr lang="en-US" sz="1100" dirty="0"/>
          </a:p>
        </p:txBody>
      </p:sp>
      <p:sp>
        <p:nvSpPr>
          <p:cNvPr id="30" name="Text 25"/>
          <p:cNvSpPr/>
          <p:nvPr/>
        </p:nvSpPr>
        <p:spPr>
          <a:xfrm>
            <a:off x="566928" y="5897880"/>
            <a:ext cx="11057839" cy="411480"/>
          </a:xfrm>
          <a:prstGeom prst="rect">
            <a:avLst/>
          </a:prstGeom>
          <a:noFill/>
          <a:ln/>
        </p:spPr>
        <p:txBody>
          <a:bodyPr wrap="square" lIns="0" tIns="0" rIns="0" bIns="0" rtlCol="0" anchor="ctr"/>
          <a:lstStyle/>
          <a:p>
            <a:pPr marL="0" indent="0">
              <a:lnSpc>
                <a:spcPts val="1150"/>
              </a:lnSpc>
              <a:buNone/>
            </a:pPr>
            <a:r>
              <a:rPr lang="en-US" sz="900" i="1" dirty="0">
                <a:solidFill>
                  <a:srgbClr val="8FA8CC"/>
                </a:solidFill>
                <a:latin typeface="Arial" pitchFamily="34" charset="0"/>
                <a:ea typeface="Arial" pitchFamily="34" charset="-122"/>
                <a:cs typeface="Arial" pitchFamily="34" charset="-120"/>
              </a:rPr>
              <a:t>„bis zu −70 %" ist ein Zielwert aus interner Produktmessung; die tatsächliche Aufwandsreduktion wird in der Pilotphase 2026 belastbar gemessen. „4 → 1 Schritte" und „100 % EU-Hosting" sind belegbare Produkteigenschaften.</a:t>
            </a:r>
            <a:endParaRPr lang="en-US" sz="900" dirty="0"/>
          </a:p>
        </p:txBody>
      </p:sp>
      <p:sp>
        <p:nvSpPr>
          <p:cNvPr id="31" name="Text 26"/>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2" name="Text 27"/>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9DB8DD"/>
                </a:solidFill>
                <a:latin typeface="Arial" pitchFamily="34" charset="0"/>
                <a:ea typeface="Arial" pitchFamily="34" charset="-122"/>
                <a:cs typeface="Arial" pitchFamily="34" charset="-120"/>
              </a:rPr>
              <a:t>06 / 14</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ZIELGRUPPE &amp; MARKT</a:t>
            </a:r>
            <a:endParaRPr lang="en-US" sz="1150" dirty="0"/>
          </a:p>
        </p:txBody>
      </p:sp>
      <p:sp>
        <p:nvSpPr>
          <p:cNvPr id="3" name="Text 1"/>
          <p:cNvSpPr/>
          <p:nvPr/>
        </p:nvSpPr>
        <p:spPr>
          <a:xfrm>
            <a:off x="566928" y="868680"/>
            <a:ext cx="10972800" cy="868680"/>
          </a:xfrm>
          <a:prstGeom prst="rect">
            <a:avLst/>
          </a:prstGeom>
          <a:noFill/>
          <a:ln/>
        </p:spPr>
        <p:txBody>
          <a:bodyPr wrap="square" lIns="0" tIns="0" rIns="0" bIns="0" rtlCol="0" anchor="ctr"/>
          <a:lstStyle/>
          <a:p>
            <a:pPr marL="0" indent="0" algn="l">
              <a:lnSpc>
                <a:spcPts val="2730"/>
              </a:lnSpc>
              <a:buNone/>
            </a:pPr>
            <a:r>
              <a:rPr lang="en-US" sz="2600" b="1" dirty="0">
                <a:solidFill>
                  <a:srgbClr val="0F172A"/>
                </a:solidFill>
                <a:latin typeface="Arial" pitchFamily="34" charset="0"/>
                <a:ea typeface="Arial" pitchFamily="34" charset="-122"/>
                <a:cs typeface="Arial" pitchFamily="34" charset="-120"/>
              </a:rPr>
              <a:t>Ein klar umrissener Markt – </a:t>
            </a:r>
            <a:r>
              <a:rPr lang="en-US" sz="2600" b="1" dirty="0">
                <a:solidFill>
                  <a:srgbClr val="2976D6"/>
                </a:solidFill>
                <a:latin typeface="Arial" pitchFamily="34" charset="0"/>
                <a:ea typeface="Arial" pitchFamily="34" charset="-122"/>
                <a:cs typeface="Arial" pitchFamily="34" charset="-120"/>
              </a:rPr>
              <a:t>und wo wir starten.</a:t>
            </a:r>
            <a:endParaRPr lang="en-US" sz="2600" dirty="0"/>
          </a:p>
        </p:txBody>
      </p:sp>
      <p:sp>
        <p:nvSpPr>
          <p:cNvPr id="4" name="Shape 2"/>
          <p:cNvSpPr/>
          <p:nvPr/>
        </p:nvSpPr>
        <p:spPr>
          <a:xfrm>
            <a:off x="566928" y="2011680"/>
            <a:ext cx="4937760" cy="3063240"/>
          </a:xfrm>
          <a:prstGeom prst="roundRect">
            <a:avLst>
              <a:gd name="adj" fmla="val 2687"/>
            </a:avLst>
          </a:prstGeom>
          <a:solidFill>
            <a:srgbClr val="F6F8FC"/>
          </a:solidFill>
          <a:ln w="12700">
            <a:solidFill>
              <a:srgbClr val="E7EBF1"/>
            </a:solidFill>
            <a:prstDash val="solid"/>
          </a:ln>
        </p:spPr>
        <p:txBody>
          <a:bodyPr/>
          <a:lstStyle/>
          <a:p>
            <a:endParaRPr lang="de-DE"/>
          </a:p>
        </p:txBody>
      </p:sp>
      <p:sp>
        <p:nvSpPr>
          <p:cNvPr id="5" name="Text 3"/>
          <p:cNvSpPr/>
          <p:nvPr/>
        </p:nvSpPr>
        <p:spPr>
          <a:xfrm>
            <a:off x="877824" y="2194560"/>
            <a:ext cx="4389120" cy="292608"/>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Unser Idealkunde (ICP)</a:t>
            </a:r>
            <a:endParaRPr lang="en-US" sz="1400" dirty="0"/>
          </a:p>
        </p:txBody>
      </p:sp>
      <p:sp>
        <p:nvSpPr>
          <p:cNvPr id="6" name="Shape 4"/>
          <p:cNvSpPr/>
          <p:nvPr/>
        </p:nvSpPr>
        <p:spPr>
          <a:xfrm>
            <a:off x="877824" y="2578608"/>
            <a:ext cx="402336" cy="402336"/>
          </a:xfrm>
          <a:prstGeom prst="roundRect">
            <a:avLst>
              <a:gd name="adj" fmla="val 15909"/>
            </a:avLst>
          </a:prstGeom>
          <a:solidFill>
            <a:srgbClr val="EAF2FC"/>
          </a:solidFill>
          <a:ln/>
        </p:spPr>
        <p:txBody>
          <a:bodyPr/>
          <a:lstStyle/>
          <a:p>
            <a:endParaRPr lang="de-DE"/>
          </a:p>
        </p:txBody>
      </p:sp>
      <p:pic>
        <p:nvPicPr>
          <p:cNvPr id="7" name="Image 0" descr="preencoded.png"/>
          <p:cNvPicPr>
            <a:picLocks noChangeAspect="1"/>
          </p:cNvPicPr>
          <p:nvPr/>
        </p:nvPicPr>
        <p:blipFill>
          <a:blip r:embed="rId3"/>
          <a:stretch>
            <a:fillRect/>
          </a:stretch>
        </p:blipFill>
        <p:spPr>
          <a:xfrm>
            <a:off x="974385" y="2675169"/>
            <a:ext cx="209215" cy="209215"/>
          </a:xfrm>
          <a:prstGeom prst="rect">
            <a:avLst/>
          </a:prstGeom>
        </p:spPr>
      </p:pic>
      <p:sp>
        <p:nvSpPr>
          <p:cNvPr id="8" name="Text 5"/>
          <p:cNvSpPr/>
          <p:nvPr/>
        </p:nvSpPr>
        <p:spPr>
          <a:xfrm>
            <a:off x="1389888" y="2560320"/>
            <a:ext cx="3840480" cy="274320"/>
          </a:xfrm>
          <a:prstGeom prst="rect">
            <a:avLst/>
          </a:prstGeom>
          <a:noFill/>
          <a:ln/>
        </p:spPr>
        <p:txBody>
          <a:bodyPr wrap="square" lIns="0" tIns="0" rIns="0" bIns="0" rtlCol="0" anchor="ctr"/>
          <a:lstStyle/>
          <a:p>
            <a:pPr marL="0" indent="0">
              <a:buNone/>
            </a:pPr>
            <a:r>
              <a:rPr lang="en-US" sz="1180" b="1" dirty="0">
                <a:solidFill>
                  <a:srgbClr val="0F172A"/>
                </a:solidFill>
                <a:latin typeface="Arial" pitchFamily="34" charset="0"/>
                <a:ea typeface="Arial" pitchFamily="34" charset="-122"/>
                <a:cs typeface="Arial" pitchFamily="34" charset="-120"/>
              </a:rPr>
              <a:t>Kleine &amp; mittlere Personalberatungen</a:t>
            </a:r>
            <a:endParaRPr lang="en-US" sz="1180" dirty="0"/>
          </a:p>
        </p:txBody>
      </p:sp>
      <p:sp>
        <p:nvSpPr>
          <p:cNvPr id="9" name="Text 6"/>
          <p:cNvSpPr/>
          <p:nvPr/>
        </p:nvSpPr>
        <p:spPr>
          <a:xfrm>
            <a:off x="1389888" y="2825496"/>
            <a:ext cx="3886200" cy="457200"/>
          </a:xfrm>
          <a:prstGeom prst="rect">
            <a:avLst/>
          </a:prstGeom>
          <a:noFill/>
          <a:ln/>
        </p:spPr>
        <p:txBody>
          <a:bodyPr wrap="square" lIns="0" tIns="0" rIns="0" bIns="0" rtlCol="0" anchor="ctr"/>
          <a:lstStyle/>
          <a:p>
            <a:pPr marL="0" indent="0">
              <a:lnSpc>
                <a:spcPts val="1230"/>
              </a:lnSpc>
              <a:buNone/>
            </a:pPr>
            <a:r>
              <a:rPr lang="en-US" sz="1020" dirty="0">
                <a:solidFill>
                  <a:srgbClr val="475569"/>
                </a:solidFill>
                <a:latin typeface="Arial" pitchFamily="34" charset="0"/>
                <a:ea typeface="Arial" pitchFamily="34" charset="-122"/>
                <a:cs typeface="Arial" pitchFamily="34" charset="-120"/>
              </a:rPr>
              <a:t>1–20 Berater – über 80 % des Marktes, ohne eigenes Tech-Team.</a:t>
            </a:r>
            <a:endParaRPr lang="en-US" sz="1020" dirty="0"/>
          </a:p>
        </p:txBody>
      </p:sp>
      <p:sp>
        <p:nvSpPr>
          <p:cNvPr id="10" name="Shape 7"/>
          <p:cNvSpPr/>
          <p:nvPr/>
        </p:nvSpPr>
        <p:spPr>
          <a:xfrm>
            <a:off x="877824" y="3364992"/>
            <a:ext cx="402336" cy="402336"/>
          </a:xfrm>
          <a:prstGeom prst="roundRect">
            <a:avLst>
              <a:gd name="adj" fmla="val 15909"/>
            </a:avLst>
          </a:prstGeom>
          <a:solidFill>
            <a:srgbClr val="EAF2FC"/>
          </a:solidFill>
          <a:ln/>
        </p:spPr>
        <p:txBody>
          <a:bodyPr/>
          <a:lstStyle/>
          <a:p>
            <a:endParaRPr lang="de-DE"/>
          </a:p>
        </p:txBody>
      </p:sp>
      <p:pic>
        <p:nvPicPr>
          <p:cNvPr id="11" name="Image 1" descr="preencoded.png"/>
          <p:cNvPicPr>
            <a:picLocks noChangeAspect="1"/>
          </p:cNvPicPr>
          <p:nvPr/>
        </p:nvPicPr>
        <p:blipFill>
          <a:blip r:embed="rId4"/>
          <a:stretch>
            <a:fillRect/>
          </a:stretch>
        </p:blipFill>
        <p:spPr>
          <a:xfrm>
            <a:off x="974385" y="3461553"/>
            <a:ext cx="209215" cy="209215"/>
          </a:xfrm>
          <a:prstGeom prst="rect">
            <a:avLst/>
          </a:prstGeom>
        </p:spPr>
      </p:pic>
      <p:sp>
        <p:nvSpPr>
          <p:cNvPr id="12" name="Text 8"/>
          <p:cNvSpPr/>
          <p:nvPr/>
        </p:nvSpPr>
        <p:spPr>
          <a:xfrm>
            <a:off x="1389888" y="3346704"/>
            <a:ext cx="3840480" cy="274320"/>
          </a:xfrm>
          <a:prstGeom prst="rect">
            <a:avLst/>
          </a:prstGeom>
          <a:noFill/>
          <a:ln/>
        </p:spPr>
        <p:txBody>
          <a:bodyPr wrap="square" lIns="0" tIns="0" rIns="0" bIns="0" rtlCol="0" anchor="ctr"/>
          <a:lstStyle/>
          <a:p>
            <a:pPr marL="0" indent="0">
              <a:buNone/>
            </a:pPr>
            <a:r>
              <a:rPr lang="en-US" sz="1180" b="1" dirty="0">
                <a:solidFill>
                  <a:srgbClr val="0F172A"/>
                </a:solidFill>
                <a:latin typeface="Arial" pitchFamily="34" charset="0"/>
                <a:ea typeface="Arial" pitchFamily="34" charset="-122"/>
                <a:cs typeface="Arial" pitchFamily="34" charset="-120"/>
              </a:rPr>
              <a:t>Pool-getriebenes Geschäft</a:t>
            </a:r>
            <a:endParaRPr lang="en-US" sz="1180" dirty="0"/>
          </a:p>
        </p:txBody>
      </p:sp>
      <p:sp>
        <p:nvSpPr>
          <p:cNvPr id="13" name="Text 9"/>
          <p:cNvSpPr/>
          <p:nvPr/>
        </p:nvSpPr>
        <p:spPr>
          <a:xfrm>
            <a:off x="1389888" y="3611880"/>
            <a:ext cx="3886200" cy="457200"/>
          </a:xfrm>
          <a:prstGeom prst="rect">
            <a:avLst/>
          </a:prstGeom>
          <a:noFill/>
          <a:ln/>
        </p:spPr>
        <p:txBody>
          <a:bodyPr wrap="square" lIns="0" tIns="0" rIns="0" bIns="0" rtlCol="0" anchor="ctr"/>
          <a:lstStyle/>
          <a:p>
            <a:pPr marL="0" indent="0">
              <a:lnSpc>
                <a:spcPts val="1230"/>
              </a:lnSpc>
              <a:buNone/>
            </a:pPr>
            <a:r>
              <a:rPr lang="en-US" sz="1020" dirty="0">
                <a:solidFill>
                  <a:srgbClr val="475569"/>
                </a:solidFill>
                <a:latin typeface="Arial" pitchFamily="34" charset="0"/>
                <a:ea typeface="Arial" pitchFamily="34" charset="-122"/>
                <a:cs typeface="Arial" pitchFamily="34" charset="-120"/>
              </a:rPr>
              <a:t>Beratungen, die einen Kandidatenstamm pflegen und aktiv vermitteln.</a:t>
            </a:r>
            <a:endParaRPr lang="en-US" sz="1020" dirty="0"/>
          </a:p>
        </p:txBody>
      </p:sp>
      <p:sp>
        <p:nvSpPr>
          <p:cNvPr id="14" name="Shape 10"/>
          <p:cNvSpPr/>
          <p:nvPr/>
        </p:nvSpPr>
        <p:spPr>
          <a:xfrm>
            <a:off x="877824" y="4151376"/>
            <a:ext cx="402336" cy="402336"/>
          </a:xfrm>
          <a:prstGeom prst="roundRect">
            <a:avLst>
              <a:gd name="adj" fmla="val 15909"/>
            </a:avLst>
          </a:prstGeom>
          <a:solidFill>
            <a:srgbClr val="EAF2FC"/>
          </a:solidFill>
          <a:ln/>
        </p:spPr>
        <p:txBody>
          <a:bodyPr/>
          <a:lstStyle/>
          <a:p>
            <a:endParaRPr lang="de-DE"/>
          </a:p>
        </p:txBody>
      </p:sp>
      <p:pic>
        <p:nvPicPr>
          <p:cNvPr id="15" name="Image 2" descr="preencoded.png"/>
          <p:cNvPicPr>
            <a:picLocks noChangeAspect="1"/>
          </p:cNvPicPr>
          <p:nvPr/>
        </p:nvPicPr>
        <p:blipFill>
          <a:blip r:embed="rId5"/>
          <a:stretch>
            <a:fillRect/>
          </a:stretch>
        </p:blipFill>
        <p:spPr>
          <a:xfrm>
            <a:off x="974385" y="4247937"/>
            <a:ext cx="209215" cy="209215"/>
          </a:xfrm>
          <a:prstGeom prst="rect">
            <a:avLst/>
          </a:prstGeom>
        </p:spPr>
      </p:pic>
      <p:sp>
        <p:nvSpPr>
          <p:cNvPr id="16" name="Text 11"/>
          <p:cNvSpPr/>
          <p:nvPr/>
        </p:nvSpPr>
        <p:spPr>
          <a:xfrm>
            <a:off x="1389888" y="4133088"/>
            <a:ext cx="3840480" cy="274320"/>
          </a:xfrm>
          <a:prstGeom prst="rect">
            <a:avLst/>
          </a:prstGeom>
          <a:noFill/>
          <a:ln/>
        </p:spPr>
        <p:txBody>
          <a:bodyPr wrap="square" lIns="0" tIns="0" rIns="0" bIns="0" rtlCol="0" anchor="ctr"/>
          <a:lstStyle/>
          <a:p>
            <a:pPr marL="0" indent="0">
              <a:buNone/>
            </a:pPr>
            <a:r>
              <a:rPr lang="en-US" sz="1180" b="1" dirty="0">
                <a:solidFill>
                  <a:srgbClr val="0F172A"/>
                </a:solidFill>
                <a:latin typeface="Arial" pitchFamily="34" charset="0"/>
                <a:ea typeface="Arial" pitchFamily="34" charset="-122"/>
                <a:cs typeface="Arial" pitchFamily="34" charset="-120"/>
              </a:rPr>
              <a:t>Erstfokus IT &amp; Engineering</a:t>
            </a:r>
            <a:endParaRPr lang="en-US" sz="1180" dirty="0"/>
          </a:p>
        </p:txBody>
      </p:sp>
      <p:sp>
        <p:nvSpPr>
          <p:cNvPr id="17" name="Text 12"/>
          <p:cNvSpPr/>
          <p:nvPr/>
        </p:nvSpPr>
        <p:spPr>
          <a:xfrm>
            <a:off x="1389888" y="4398264"/>
            <a:ext cx="3886200" cy="457200"/>
          </a:xfrm>
          <a:prstGeom prst="rect">
            <a:avLst/>
          </a:prstGeom>
          <a:noFill/>
          <a:ln/>
        </p:spPr>
        <p:txBody>
          <a:bodyPr wrap="square" lIns="0" tIns="0" rIns="0" bIns="0" rtlCol="0" anchor="ctr"/>
          <a:lstStyle/>
          <a:p>
            <a:pPr marL="0" indent="0">
              <a:lnSpc>
                <a:spcPts val="1230"/>
              </a:lnSpc>
              <a:buNone/>
            </a:pPr>
            <a:r>
              <a:rPr lang="en-US" sz="1020" dirty="0">
                <a:solidFill>
                  <a:srgbClr val="475569"/>
                </a:solidFill>
                <a:latin typeface="Arial" pitchFamily="34" charset="0"/>
                <a:ea typeface="Arial" pitchFamily="34" charset="-122"/>
                <a:cs typeface="Arial" pitchFamily="34" charset="-120"/>
              </a:rPr>
              <a:t>Hohe Vakanzdichte, klar strukturierte Profile – ideal fürs Matching.</a:t>
            </a:r>
            <a:endParaRPr lang="en-US" sz="1020" dirty="0"/>
          </a:p>
        </p:txBody>
      </p:sp>
      <p:sp>
        <p:nvSpPr>
          <p:cNvPr id="18" name="Text 13"/>
          <p:cNvSpPr/>
          <p:nvPr/>
        </p:nvSpPr>
        <p:spPr>
          <a:xfrm>
            <a:off x="5961888" y="2194560"/>
            <a:ext cx="5662879" cy="274320"/>
          </a:xfrm>
          <a:prstGeom prst="rect">
            <a:avLst/>
          </a:prstGeom>
          <a:noFill/>
          <a:ln/>
        </p:spPr>
        <p:txBody>
          <a:bodyPr wrap="square" lIns="0" tIns="0" rIns="0" bIns="0" rtlCol="0" anchor="ctr"/>
          <a:lstStyle/>
          <a:p>
            <a:pPr marL="0" indent="0">
              <a:buNone/>
            </a:pPr>
            <a:r>
              <a:rPr lang="en-US" sz="1400" b="1" dirty="0">
                <a:solidFill>
                  <a:srgbClr val="0F172A"/>
                </a:solidFill>
                <a:latin typeface="Arial" pitchFamily="34" charset="0"/>
                <a:ea typeface="Arial" pitchFamily="34" charset="-122"/>
                <a:cs typeface="Arial" pitchFamily="34" charset="-120"/>
              </a:rPr>
              <a:t>Marktpotenzial – bottom-up gerechnet</a:t>
            </a:r>
            <a:endParaRPr lang="en-US" sz="1400" dirty="0"/>
          </a:p>
        </p:txBody>
      </p:sp>
      <p:sp>
        <p:nvSpPr>
          <p:cNvPr id="19" name="Shape 14"/>
          <p:cNvSpPr/>
          <p:nvPr/>
        </p:nvSpPr>
        <p:spPr>
          <a:xfrm>
            <a:off x="5961888" y="2578608"/>
            <a:ext cx="5662879" cy="1783080"/>
          </a:xfrm>
          <a:prstGeom prst="roundRect">
            <a:avLst>
              <a:gd name="adj" fmla="val 4615"/>
            </a:avLst>
          </a:prstGeom>
          <a:solidFill>
            <a:srgbClr val="172B4D"/>
          </a:solidFill>
          <a:ln/>
          <a:effectLst>
            <a:outerShdw blurRad="114300" dist="38100" dir="5400000" algn="bl" rotWithShape="0">
              <a:srgbClr val="0B1B3A">
                <a:alpha val="13000"/>
              </a:srgbClr>
            </a:outerShdw>
          </a:effectLst>
        </p:spPr>
        <p:txBody>
          <a:bodyPr/>
          <a:lstStyle/>
          <a:p>
            <a:endParaRPr lang="de-DE"/>
          </a:p>
        </p:txBody>
      </p:sp>
      <p:sp>
        <p:nvSpPr>
          <p:cNvPr id="20" name="Text 15"/>
          <p:cNvSpPr/>
          <p:nvPr/>
        </p:nvSpPr>
        <p:spPr>
          <a:xfrm>
            <a:off x="6254496" y="2743200"/>
            <a:ext cx="3834079" cy="274320"/>
          </a:xfrm>
          <a:prstGeom prst="rect">
            <a:avLst/>
          </a:prstGeom>
          <a:noFill/>
          <a:ln/>
        </p:spPr>
        <p:txBody>
          <a:bodyPr wrap="square" lIns="0" tIns="0" rIns="0" bIns="0" rtlCol="0" anchor="ctr"/>
          <a:lstStyle/>
          <a:p>
            <a:pPr marL="0" indent="0">
              <a:buNone/>
            </a:pPr>
            <a:r>
              <a:rPr lang="en-US" sz="1100" dirty="0">
                <a:solidFill>
                  <a:srgbClr val="C9D6EC"/>
                </a:solidFill>
                <a:latin typeface="Arial" pitchFamily="34" charset="0"/>
                <a:ea typeface="Arial" pitchFamily="34" charset="-122"/>
                <a:cs typeface="Arial" pitchFamily="34" charset="-120"/>
              </a:rPr>
              <a:t>Zielfirmen (DACH-Beratungen)</a:t>
            </a:r>
            <a:endParaRPr lang="en-US" sz="1100" dirty="0"/>
          </a:p>
        </p:txBody>
      </p:sp>
      <p:sp>
        <p:nvSpPr>
          <p:cNvPr id="21" name="Text 16"/>
          <p:cNvSpPr/>
          <p:nvPr/>
        </p:nvSpPr>
        <p:spPr>
          <a:xfrm>
            <a:off x="9795967" y="2743200"/>
            <a:ext cx="1536192" cy="274320"/>
          </a:xfrm>
          <a:prstGeom prst="rect">
            <a:avLst/>
          </a:prstGeom>
          <a:noFill/>
          <a:ln/>
        </p:spPr>
        <p:txBody>
          <a:bodyPr wrap="square" lIns="0" tIns="0" rIns="0" bIns="0" rtlCol="0" anchor="ctr"/>
          <a:lstStyle/>
          <a:p>
            <a:pPr marL="0" indent="0" algn="r">
              <a:buNone/>
            </a:pPr>
            <a:r>
              <a:rPr lang="en-US" sz="1250" b="1" dirty="0">
                <a:solidFill>
                  <a:srgbClr val="FFFFFF"/>
                </a:solidFill>
                <a:latin typeface="Arial" pitchFamily="34" charset="0"/>
                <a:ea typeface="Arial" pitchFamily="34" charset="-122"/>
                <a:cs typeface="Arial" pitchFamily="34" charset="-120"/>
              </a:rPr>
              <a:t>~ 2.800</a:t>
            </a:r>
            <a:endParaRPr lang="en-US" sz="1250" dirty="0"/>
          </a:p>
        </p:txBody>
      </p:sp>
      <p:sp>
        <p:nvSpPr>
          <p:cNvPr id="22" name="Text 17"/>
          <p:cNvSpPr/>
          <p:nvPr/>
        </p:nvSpPr>
        <p:spPr>
          <a:xfrm>
            <a:off x="6254496" y="3054096"/>
            <a:ext cx="3834079" cy="274320"/>
          </a:xfrm>
          <a:prstGeom prst="rect">
            <a:avLst/>
          </a:prstGeom>
          <a:noFill/>
          <a:ln/>
        </p:spPr>
        <p:txBody>
          <a:bodyPr wrap="square" lIns="0" tIns="0" rIns="0" bIns="0" rtlCol="0" anchor="ctr"/>
          <a:lstStyle/>
          <a:p>
            <a:pPr marL="0" indent="0">
              <a:buNone/>
            </a:pPr>
            <a:r>
              <a:rPr lang="en-US" sz="1100" dirty="0">
                <a:solidFill>
                  <a:srgbClr val="C9D6EC"/>
                </a:solidFill>
                <a:latin typeface="Arial" pitchFamily="34" charset="0"/>
                <a:ea typeface="Arial" pitchFamily="34" charset="-122"/>
                <a:cs typeface="Arial" pitchFamily="34" charset="-120"/>
              </a:rPr>
              <a:t>× Ø Lizenz / Monat</a:t>
            </a:r>
            <a:endParaRPr lang="en-US" sz="1100" dirty="0"/>
          </a:p>
        </p:txBody>
      </p:sp>
      <p:sp>
        <p:nvSpPr>
          <p:cNvPr id="23" name="Text 18"/>
          <p:cNvSpPr/>
          <p:nvPr/>
        </p:nvSpPr>
        <p:spPr>
          <a:xfrm>
            <a:off x="9795967" y="3054096"/>
            <a:ext cx="1536192" cy="274320"/>
          </a:xfrm>
          <a:prstGeom prst="rect">
            <a:avLst/>
          </a:prstGeom>
          <a:noFill/>
          <a:ln/>
        </p:spPr>
        <p:txBody>
          <a:bodyPr wrap="square" lIns="0" tIns="0" rIns="0" bIns="0" rtlCol="0" anchor="ctr"/>
          <a:lstStyle/>
          <a:p>
            <a:pPr marL="0" indent="0" algn="r">
              <a:buNone/>
            </a:pPr>
            <a:r>
              <a:rPr lang="en-US" sz="1250" b="1" dirty="0">
                <a:solidFill>
                  <a:srgbClr val="FFFFFF"/>
                </a:solidFill>
                <a:latin typeface="Arial" pitchFamily="34" charset="0"/>
                <a:ea typeface="Arial" pitchFamily="34" charset="-122"/>
                <a:cs typeface="Arial" pitchFamily="34" charset="-120"/>
              </a:rPr>
              <a:t>~ 250 €</a:t>
            </a:r>
            <a:endParaRPr lang="en-US" sz="1250" dirty="0"/>
          </a:p>
        </p:txBody>
      </p:sp>
      <p:sp>
        <p:nvSpPr>
          <p:cNvPr id="24" name="Text 19"/>
          <p:cNvSpPr/>
          <p:nvPr/>
        </p:nvSpPr>
        <p:spPr>
          <a:xfrm>
            <a:off x="6254496" y="3364992"/>
            <a:ext cx="3834079" cy="274320"/>
          </a:xfrm>
          <a:prstGeom prst="rect">
            <a:avLst/>
          </a:prstGeom>
          <a:noFill/>
          <a:ln/>
        </p:spPr>
        <p:txBody>
          <a:bodyPr wrap="square" lIns="0" tIns="0" rIns="0" bIns="0" rtlCol="0" anchor="ctr"/>
          <a:lstStyle/>
          <a:p>
            <a:pPr marL="0" indent="0">
              <a:buNone/>
            </a:pPr>
            <a:r>
              <a:rPr lang="en-US" sz="1100" dirty="0">
                <a:solidFill>
                  <a:srgbClr val="C9D6EC"/>
                </a:solidFill>
                <a:latin typeface="Arial" pitchFamily="34" charset="0"/>
                <a:ea typeface="Arial" pitchFamily="34" charset="-122"/>
                <a:cs typeface="Arial" pitchFamily="34" charset="-120"/>
              </a:rPr>
              <a:t>× 12 Monate</a:t>
            </a:r>
            <a:endParaRPr lang="en-US" sz="1100" dirty="0"/>
          </a:p>
        </p:txBody>
      </p:sp>
      <p:sp>
        <p:nvSpPr>
          <p:cNvPr id="25" name="Shape 20"/>
          <p:cNvSpPr/>
          <p:nvPr/>
        </p:nvSpPr>
        <p:spPr>
          <a:xfrm>
            <a:off x="6254496" y="3694176"/>
            <a:ext cx="5077663" cy="0"/>
          </a:xfrm>
          <a:prstGeom prst="line">
            <a:avLst/>
          </a:prstGeom>
          <a:noFill/>
          <a:ln w="9525">
            <a:solidFill>
              <a:srgbClr val="FFFFFF">
                <a:alpha val="38000"/>
              </a:srgbClr>
            </a:solidFill>
            <a:prstDash val="solid"/>
          </a:ln>
        </p:spPr>
        <p:txBody>
          <a:bodyPr/>
          <a:lstStyle/>
          <a:p>
            <a:endParaRPr lang="de-DE"/>
          </a:p>
        </p:txBody>
      </p:sp>
      <p:sp>
        <p:nvSpPr>
          <p:cNvPr id="26" name="Text 21"/>
          <p:cNvSpPr/>
          <p:nvPr/>
        </p:nvSpPr>
        <p:spPr>
          <a:xfrm>
            <a:off x="6254496" y="3785616"/>
            <a:ext cx="3468319" cy="384048"/>
          </a:xfrm>
          <a:prstGeom prst="rect">
            <a:avLst/>
          </a:prstGeom>
          <a:noFill/>
          <a:ln/>
        </p:spPr>
        <p:txBody>
          <a:bodyPr wrap="square" lIns="0" tIns="0" rIns="0" bIns="0" rtlCol="0" anchor="ctr"/>
          <a:lstStyle/>
          <a:p>
            <a:pPr marL="0" indent="0">
              <a:buNone/>
            </a:pPr>
            <a:r>
              <a:rPr lang="en-US" sz="1150" b="1" dirty="0">
                <a:solidFill>
                  <a:srgbClr val="FFFFFF"/>
                </a:solidFill>
                <a:latin typeface="Arial" pitchFamily="34" charset="0"/>
                <a:ea typeface="Arial" pitchFamily="34" charset="-122"/>
                <a:cs typeface="Arial" pitchFamily="34" charset="-120"/>
              </a:rPr>
              <a:t>= Adressierbarer Markt (SAM)</a:t>
            </a:r>
            <a:endParaRPr lang="en-US" sz="1150" dirty="0"/>
          </a:p>
        </p:txBody>
      </p:sp>
      <p:sp>
        <p:nvSpPr>
          <p:cNvPr id="27" name="Text 22"/>
          <p:cNvSpPr/>
          <p:nvPr/>
        </p:nvSpPr>
        <p:spPr>
          <a:xfrm>
            <a:off x="9338767" y="3767328"/>
            <a:ext cx="1993392" cy="420624"/>
          </a:xfrm>
          <a:prstGeom prst="rect">
            <a:avLst/>
          </a:prstGeom>
          <a:noFill/>
          <a:ln/>
        </p:spPr>
        <p:txBody>
          <a:bodyPr wrap="square" lIns="0" tIns="0" rIns="0" bIns="0" rtlCol="0" anchor="ctr"/>
          <a:lstStyle/>
          <a:p>
            <a:pPr marL="0" indent="0" algn="r">
              <a:buNone/>
            </a:pPr>
            <a:r>
              <a:rPr lang="en-US" sz="1800" b="1" dirty="0">
                <a:solidFill>
                  <a:srgbClr val="5FA0EA"/>
                </a:solidFill>
                <a:latin typeface="Arial" pitchFamily="34" charset="0"/>
                <a:ea typeface="Arial" pitchFamily="34" charset="-122"/>
                <a:cs typeface="Arial" pitchFamily="34" charset="-120"/>
              </a:rPr>
              <a:t>≈ 8,4 Mio. €</a:t>
            </a:r>
            <a:endParaRPr lang="en-US" sz="1800" dirty="0"/>
          </a:p>
        </p:txBody>
      </p:sp>
      <p:sp>
        <p:nvSpPr>
          <p:cNvPr id="28" name="Text 23"/>
          <p:cNvSpPr/>
          <p:nvPr/>
        </p:nvSpPr>
        <p:spPr>
          <a:xfrm>
            <a:off x="5961888" y="4498848"/>
            <a:ext cx="5662879" cy="566928"/>
          </a:xfrm>
          <a:prstGeom prst="rect">
            <a:avLst/>
          </a:prstGeom>
          <a:noFill/>
          <a:ln/>
        </p:spPr>
        <p:txBody>
          <a:bodyPr wrap="square" lIns="0" tIns="0" rIns="0" bIns="0" rtlCol="0" anchor="ctr"/>
          <a:lstStyle/>
          <a:p>
            <a:pPr marL="0" indent="0">
              <a:lnSpc>
                <a:spcPts val="1400"/>
              </a:lnSpc>
              <a:buNone/>
            </a:pPr>
            <a:r>
              <a:rPr lang="en-US" sz="1050" b="1" dirty="0">
                <a:solidFill>
                  <a:srgbClr val="0F172A"/>
                </a:solidFill>
                <a:latin typeface="Arial" pitchFamily="34" charset="0"/>
                <a:ea typeface="Arial" pitchFamily="34" charset="-122"/>
                <a:cs typeface="Arial" pitchFamily="34" charset="-120"/>
              </a:rPr>
              <a:t>3-Jahres-Ziel (SOM): </a:t>
            </a:r>
            <a:r>
              <a:rPr lang="en-US" sz="1050" dirty="0">
                <a:solidFill>
                  <a:srgbClr val="475569"/>
                </a:solidFill>
                <a:latin typeface="Arial" pitchFamily="34" charset="0"/>
                <a:ea typeface="Arial" pitchFamily="34" charset="-122"/>
                <a:cs typeface="Arial" pitchFamily="34" charset="-120"/>
              </a:rPr>
              <a:t>~120 Firmen ≈ 0,36 Mio. € ARR</a:t>
            </a:r>
            <a:endParaRPr lang="en-US" sz="1050" dirty="0"/>
          </a:p>
          <a:p>
            <a:pPr marL="0" indent="0">
              <a:lnSpc>
                <a:spcPts val="1400"/>
              </a:lnSpc>
              <a:buNone/>
            </a:pPr>
            <a:r>
              <a:rPr lang="en-US" sz="1050" b="1" dirty="0">
                <a:solidFill>
                  <a:srgbClr val="0F172A"/>
                </a:solidFill>
                <a:latin typeface="Arial" pitchFamily="34" charset="0"/>
                <a:ea typeface="Arial" pitchFamily="34" charset="-122"/>
                <a:cs typeface="Arial" pitchFamily="34" charset="-120"/>
              </a:rPr>
              <a:t>Markt-Kontext (TAM): </a:t>
            </a:r>
            <a:r>
              <a:rPr lang="en-US" sz="1050" dirty="0">
                <a:solidFill>
                  <a:srgbClr val="475569"/>
                </a:solidFill>
                <a:latin typeface="Arial" pitchFamily="34" charset="0"/>
                <a:ea typeface="Arial" pitchFamily="34" charset="-122"/>
                <a:cs typeface="Arial" pitchFamily="34" charset="-120"/>
              </a:rPr>
              <a:t>≈ 3,6 Mrd. € Branchenumsatz/Jahr (DACH)</a:t>
            </a:r>
            <a:endParaRPr lang="en-US" sz="1050" dirty="0"/>
          </a:p>
        </p:txBody>
      </p:sp>
      <p:sp>
        <p:nvSpPr>
          <p:cNvPr id="29" name="Shape 24"/>
          <p:cNvSpPr/>
          <p:nvPr/>
        </p:nvSpPr>
        <p:spPr>
          <a:xfrm>
            <a:off x="566928" y="5285232"/>
            <a:ext cx="11057839" cy="749808"/>
          </a:xfrm>
          <a:prstGeom prst="roundRect">
            <a:avLst>
              <a:gd name="adj" fmla="val 10976"/>
            </a:avLst>
          </a:prstGeom>
          <a:solidFill>
            <a:srgbClr val="EAF2FC"/>
          </a:solidFill>
          <a:ln/>
        </p:spPr>
        <p:txBody>
          <a:bodyPr/>
          <a:lstStyle/>
          <a:p>
            <a:endParaRPr lang="de-DE"/>
          </a:p>
        </p:txBody>
      </p:sp>
      <p:sp>
        <p:nvSpPr>
          <p:cNvPr id="30" name="Text 25"/>
          <p:cNvSpPr/>
          <p:nvPr/>
        </p:nvSpPr>
        <p:spPr>
          <a:xfrm>
            <a:off x="932688" y="5285232"/>
            <a:ext cx="10326319" cy="749808"/>
          </a:xfrm>
          <a:prstGeom prst="rect">
            <a:avLst/>
          </a:prstGeom>
          <a:noFill/>
          <a:ln/>
        </p:spPr>
        <p:txBody>
          <a:bodyPr wrap="square" lIns="0" tIns="0" rIns="0" bIns="0" rtlCol="0" anchor="ctr"/>
          <a:lstStyle/>
          <a:p>
            <a:pPr marL="0" indent="0">
              <a:lnSpc>
                <a:spcPts val="1600"/>
              </a:lnSpc>
              <a:buNone/>
            </a:pPr>
            <a:r>
              <a:rPr lang="en-US" sz="1250" b="1" dirty="0">
                <a:solidFill>
                  <a:srgbClr val="172B4D"/>
                </a:solidFill>
                <a:latin typeface="Arial" pitchFamily="34" charset="0"/>
                <a:ea typeface="Arial" pitchFamily="34" charset="-122"/>
                <a:cs typeface="Arial" pitchFamily="34" charset="-120"/>
              </a:rPr>
              <a:t>Langfristiges Skalierungspotenzial:  </a:t>
            </a:r>
            <a:r>
              <a:rPr lang="en-US" sz="1250" dirty="0">
                <a:solidFill>
                  <a:srgbClr val="475569"/>
                </a:solidFill>
                <a:latin typeface="Arial" pitchFamily="34" charset="0"/>
                <a:ea typeface="Arial" pitchFamily="34" charset="-122"/>
                <a:cs typeface="Arial" pitchFamily="34" charset="-120"/>
              </a:rPr>
              <a:t>über das Kernsegment hinaus auf </a:t>
            </a:r>
            <a:r>
              <a:rPr lang="en-US" sz="1250" b="1" dirty="0">
                <a:solidFill>
                  <a:srgbClr val="2976D6"/>
                </a:solidFill>
                <a:latin typeface="Arial" pitchFamily="34" charset="0"/>
                <a:ea typeface="Arial" pitchFamily="34" charset="-122"/>
                <a:cs typeface="Arial" pitchFamily="34" charset="-120"/>
              </a:rPr>
              <a:t>Inhouse-Recruiting · Mittelstand · Zeitarbeit</a:t>
            </a:r>
            <a:r>
              <a:rPr lang="en-US" sz="1250" dirty="0">
                <a:solidFill>
                  <a:srgbClr val="475569"/>
                </a:solidFill>
                <a:latin typeface="Arial" pitchFamily="34" charset="0"/>
                <a:ea typeface="Arial" pitchFamily="34" charset="-122"/>
                <a:cs typeface="Arial" pitchFamily="34" charset="-120"/>
              </a:rPr>
              <a:t>  – jedes Segment vervielfacht den adressierbaren Markt.</a:t>
            </a:r>
            <a:endParaRPr lang="en-US" sz="1250" dirty="0"/>
          </a:p>
        </p:txBody>
      </p:sp>
      <p:sp>
        <p:nvSpPr>
          <p:cNvPr id="31" name="Text 26"/>
          <p:cNvSpPr/>
          <p:nvPr/>
        </p:nvSpPr>
        <p:spPr>
          <a:xfrm>
            <a:off x="566928" y="6108192"/>
            <a:ext cx="11057839" cy="256032"/>
          </a:xfrm>
          <a:prstGeom prst="rect">
            <a:avLst/>
          </a:prstGeom>
          <a:noFill/>
          <a:ln/>
        </p:spPr>
        <p:txBody>
          <a:bodyPr wrap="square" lIns="0" tIns="0" rIns="0" bIns="0" rtlCol="0" anchor="ctr"/>
          <a:lstStyle/>
          <a:p>
            <a:pPr marL="0" indent="0">
              <a:buNone/>
            </a:pPr>
            <a:r>
              <a:rPr lang="en-US" sz="850" i="1" dirty="0">
                <a:solidFill>
                  <a:srgbClr val="7C8AA0"/>
                </a:solidFill>
                <a:latin typeface="Arial" pitchFamily="34" charset="0"/>
                <a:ea typeface="Arial" pitchFamily="34" charset="-122"/>
                <a:cs typeface="Arial" pitchFamily="34" charset="-120"/>
              </a:rPr>
              <a:t>Quellen &amp; Annahmen: BDU Facts &amp; Figures 2024 (DE: 2,82 Mrd. € / 2.175 Firmen) + DACH-Hochrechnung; Ø Lizenz ~250 €/Monat ≙ ARPA ~3.000 €/Jahr.</a:t>
            </a:r>
            <a:endParaRPr lang="en-US" sz="850" dirty="0"/>
          </a:p>
        </p:txBody>
      </p:sp>
      <p:sp>
        <p:nvSpPr>
          <p:cNvPr id="32" name="Text 27"/>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3" name="Text 28"/>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07 / 14</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WETTBEWERB &amp; USP</a:t>
            </a:r>
            <a:endParaRPr lang="en-US" sz="1150" dirty="0"/>
          </a:p>
        </p:txBody>
      </p:sp>
      <p:sp>
        <p:nvSpPr>
          <p:cNvPr id="3" name="Text 1"/>
          <p:cNvSpPr/>
          <p:nvPr/>
        </p:nvSpPr>
        <p:spPr>
          <a:xfrm>
            <a:off x="566928" y="868680"/>
            <a:ext cx="11338560" cy="868680"/>
          </a:xfrm>
          <a:prstGeom prst="rect">
            <a:avLst/>
          </a:prstGeom>
          <a:noFill/>
          <a:ln/>
        </p:spPr>
        <p:txBody>
          <a:bodyPr wrap="square" lIns="0" tIns="0" rIns="0" bIns="0" rtlCol="0" anchor="ctr"/>
          <a:lstStyle/>
          <a:p>
            <a:pPr marL="0" indent="0" algn="l">
              <a:lnSpc>
                <a:spcPts val="2625"/>
              </a:lnSpc>
              <a:buNone/>
            </a:pPr>
            <a:r>
              <a:rPr lang="en-US" sz="2500" b="1" dirty="0">
                <a:solidFill>
                  <a:srgbClr val="0F172A"/>
                </a:solidFill>
                <a:latin typeface="Arial" pitchFamily="34" charset="0"/>
                <a:ea typeface="Arial" pitchFamily="34" charset="-122"/>
                <a:cs typeface="Arial" pitchFamily="34" charset="-120"/>
              </a:rPr>
              <a:t>Andere lösen einen Schritt. Wir betreiben den </a:t>
            </a:r>
            <a:r>
              <a:rPr lang="en-US" sz="2500" b="1" dirty="0">
                <a:solidFill>
                  <a:srgbClr val="2976D6"/>
                </a:solidFill>
                <a:latin typeface="Arial" pitchFamily="34" charset="0"/>
                <a:ea typeface="Arial" pitchFamily="34" charset="-122"/>
                <a:cs typeface="Arial" pitchFamily="34" charset="-120"/>
              </a:rPr>
              <a:t>ganzen Workflow.</a:t>
            </a:r>
            <a:endParaRPr lang="en-US" sz="2500" dirty="0"/>
          </a:p>
        </p:txBody>
      </p:sp>
      <p:sp>
        <p:nvSpPr>
          <p:cNvPr id="4" name="Text 2"/>
          <p:cNvSpPr/>
          <p:nvPr/>
        </p:nvSpPr>
        <p:spPr>
          <a:xfrm>
            <a:off x="3675888" y="2103120"/>
            <a:ext cx="1987220" cy="512064"/>
          </a:xfrm>
          <a:prstGeom prst="rect">
            <a:avLst/>
          </a:prstGeom>
          <a:noFill/>
          <a:ln/>
        </p:spPr>
        <p:txBody>
          <a:bodyPr wrap="square" lIns="0" tIns="0" rIns="0" bIns="0" rtlCol="0" anchor="ctr"/>
          <a:lstStyle/>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Kandidat → Vakanz</a:t>
            </a:r>
            <a:endParaRPr lang="en-US" sz="1050" dirty="0"/>
          </a:p>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(Pool-getrieben)</a:t>
            </a:r>
            <a:endParaRPr lang="en-US" sz="1050" dirty="0"/>
          </a:p>
        </p:txBody>
      </p:sp>
      <p:sp>
        <p:nvSpPr>
          <p:cNvPr id="5" name="Text 3"/>
          <p:cNvSpPr/>
          <p:nvPr/>
        </p:nvSpPr>
        <p:spPr>
          <a:xfrm>
            <a:off x="5663108" y="2103120"/>
            <a:ext cx="1987220" cy="512064"/>
          </a:xfrm>
          <a:prstGeom prst="rect">
            <a:avLst/>
          </a:prstGeom>
          <a:noFill/>
          <a:ln/>
        </p:spPr>
        <p:txBody>
          <a:bodyPr wrap="square" lIns="0" tIns="0" rIns="0" bIns="0" rtlCol="0" anchor="ctr"/>
          <a:lstStyle/>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End-to-End bis</a:t>
            </a:r>
            <a:endParaRPr lang="en-US" sz="1050" dirty="0"/>
          </a:p>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zum Anschreiben</a:t>
            </a:r>
            <a:endParaRPr lang="en-US" sz="1050" dirty="0"/>
          </a:p>
        </p:txBody>
      </p:sp>
      <p:sp>
        <p:nvSpPr>
          <p:cNvPr id="6" name="Text 4"/>
          <p:cNvSpPr/>
          <p:nvPr/>
        </p:nvSpPr>
        <p:spPr>
          <a:xfrm>
            <a:off x="7650328" y="2103120"/>
            <a:ext cx="1987220" cy="512064"/>
          </a:xfrm>
          <a:prstGeom prst="rect">
            <a:avLst/>
          </a:prstGeom>
          <a:noFill/>
          <a:ln/>
        </p:spPr>
        <p:txBody>
          <a:bodyPr wrap="square" lIns="0" tIns="0" rIns="0" bIns="0" rtlCol="0" anchor="ctr"/>
          <a:lstStyle/>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Nachvollziehbare</a:t>
            </a:r>
            <a:endParaRPr lang="en-US" sz="1050" dirty="0"/>
          </a:p>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Begründung</a:t>
            </a:r>
            <a:endParaRPr lang="en-US" sz="1050" dirty="0"/>
          </a:p>
        </p:txBody>
      </p:sp>
      <p:sp>
        <p:nvSpPr>
          <p:cNvPr id="7" name="Text 5"/>
          <p:cNvSpPr/>
          <p:nvPr/>
        </p:nvSpPr>
        <p:spPr>
          <a:xfrm>
            <a:off x="9637547" y="2103120"/>
            <a:ext cx="1987220" cy="512064"/>
          </a:xfrm>
          <a:prstGeom prst="rect">
            <a:avLst/>
          </a:prstGeom>
          <a:noFill/>
          <a:ln/>
        </p:spPr>
        <p:txBody>
          <a:bodyPr wrap="square" lIns="0" tIns="0" rIns="0" bIns="0" rtlCol="0" anchor="ctr"/>
          <a:lstStyle/>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EU-Hosting /</a:t>
            </a:r>
            <a:endParaRPr lang="en-US" sz="1050" dirty="0"/>
          </a:p>
          <a:p>
            <a:pPr marL="0" indent="0" algn="ctr">
              <a:lnSpc>
                <a:spcPts val="1200"/>
              </a:lnSpc>
              <a:buNone/>
            </a:pPr>
            <a:r>
              <a:rPr lang="en-US" sz="1050" b="1" dirty="0">
                <a:solidFill>
                  <a:srgbClr val="172B4D"/>
                </a:solidFill>
                <a:latin typeface="Arial" pitchFamily="34" charset="0"/>
                <a:ea typeface="Arial" pitchFamily="34" charset="-122"/>
                <a:cs typeface="Arial" pitchFamily="34" charset="-120"/>
              </a:rPr>
              <a:t>DSGVO-first</a:t>
            </a:r>
            <a:endParaRPr lang="en-US" sz="1050" dirty="0"/>
          </a:p>
        </p:txBody>
      </p:sp>
      <p:sp>
        <p:nvSpPr>
          <p:cNvPr id="8" name="Text 6"/>
          <p:cNvSpPr/>
          <p:nvPr/>
        </p:nvSpPr>
        <p:spPr>
          <a:xfrm>
            <a:off x="731520" y="2670048"/>
            <a:ext cx="2834640" cy="457200"/>
          </a:xfrm>
          <a:prstGeom prst="rect">
            <a:avLst/>
          </a:prstGeom>
          <a:noFill/>
          <a:ln/>
        </p:spPr>
        <p:txBody>
          <a:bodyPr wrap="square" lIns="0" tIns="0" rIns="0" bIns="0" rtlCol="0" anchor="ctr"/>
          <a:lstStyle/>
          <a:p>
            <a:pPr marL="0" indent="0">
              <a:lnSpc>
                <a:spcPts val="1300"/>
              </a:lnSpc>
              <a:buNone/>
            </a:pPr>
            <a:r>
              <a:rPr lang="en-US" sz="1150" dirty="0">
                <a:solidFill>
                  <a:srgbClr val="0F172A"/>
                </a:solidFill>
                <a:latin typeface="Arial" pitchFamily="34" charset="0"/>
                <a:ea typeface="Arial" pitchFamily="34" charset="-122"/>
                <a:cs typeface="Arial" pitchFamily="34" charset="-120"/>
              </a:rPr>
              <a:t>Manuelles Sourcing</a:t>
            </a:r>
            <a:endParaRPr lang="en-US" sz="1150" dirty="0"/>
          </a:p>
        </p:txBody>
      </p:sp>
      <p:sp>
        <p:nvSpPr>
          <p:cNvPr id="9" name="Text 7"/>
          <p:cNvSpPr/>
          <p:nvPr/>
        </p:nvSpPr>
        <p:spPr>
          <a:xfrm>
            <a:off x="3675888" y="2670048"/>
            <a:ext cx="1987220" cy="457200"/>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5663108" y="2670048"/>
            <a:ext cx="1987220" cy="457200"/>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7650328" y="2670048"/>
            <a:ext cx="1987220" cy="457200"/>
          </a:xfrm>
          <a:prstGeom prst="rect">
            <a:avLst/>
          </a:prstGeom>
          <a:noFill/>
          <a:ln/>
        </p:spPr>
        <p:txBody>
          <a:bodyPr wrap="square" lIns="0" tIns="0" rIns="0" bIns="0" rtlCol="0" anchor="ctr"/>
          <a:lstStyle/>
          <a:p>
            <a:pPr marL="0" indent="0" algn="ctr">
              <a:buNone/>
            </a:pPr>
            <a:r>
              <a:rPr lang="en-US" sz="1000" b="1" dirty="0">
                <a:solidFill>
                  <a:srgbClr val="EA580C"/>
                </a:solidFill>
                <a:latin typeface="Arial" pitchFamily="34" charset="0"/>
                <a:ea typeface="Arial" pitchFamily="34" charset="-122"/>
                <a:cs typeface="Arial" pitchFamily="34" charset="-120"/>
              </a:rPr>
              <a:t>teils</a:t>
            </a:r>
            <a:endParaRPr lang="en-US" sz="1000" dirty="0"/>
          </a:p>
        </p:txBody>
      </p:sp>
      <p:sp>
        <p:nvSpPr>
          <p:cNvPr id="12" name="Text 10"/>
          <p:cNvSpPr/>
          <p:nvPr/>
        </p:nvSpPr>
        <p:spPr>
          <a:xfrm>
            <a:off x="9637547" y="2670048"/>
            <a:ext cx="1987220" cy="457200"/>
          </a:xfrm>
          <a:prstGeom prst="rect">
            <a:avLst/>
          </a:prstGeom>
          <a:noFill/>
          <a:ln/>
        </p:spPr>
        <p:txBody>
          <a:bodyPr wrap="square" lIns="0" tIns="0" rIns="0" bIns="0" rtlCol="0" anchor="ctr"/>
          <a:lstStyle/>
          <a:p>
            <a:pPr marL="0" indent="0" algn="ctr">
              <a:buNone/>
            </a:pPr>
            <a:r>
              <a:rPr lang="en-US" sz="1000" b="1" dirty="0">
                <a:solidFill>
                  <a:srgbClr val="EA580C"/>
                </a:solidFill>
                <a:latin typeface="Arial" pitchFamily="34" charset="0"/>
                <a:ea typeface="Arial" pitchFamily="34" charset="-122"/>
                <a:cs typeface="Arial" pitchFamily="34" charset="-120"/>
              </a:rPr>
              <a:t>teils</a:t>
            </a:r>
            <a:endParaRPr lang="en-US" sz="1000" dirty="0"/>
          </a:p>
        </p:txBody>
      </p:sp>
      <p:sp>
        <p:nvSpPr>
          <p:cNvPr id="13" name="Shape 11"/>
          <p:cNvSpPr/>
          <p:nvPr/>
        </p:nvSpPr>
        <p:spPr>
          <a:xfrm>
            <a:off x="566928" y="3127248"/>
            <a:ext cx="11057839" cy="0"/>
          </a:xfrm>
          <a:prstGeom prst="line">
            <a:avLst/>
          </a:prstGeom>
          <a:noFill/>
          <a:ln w="9525">
            <a:solidFill>
              <a:srgbClr val="E7EBF1"/>
            </a:solidFill>
            <a:prstDash val="solid"/>
          </a:ln>
        </p:spPr>
        <p:txBody>
          <a:bodyPr/>
          <a:lstStyle/>
          <a:p>
            <a:endParaRPr lang="de-DE"/>
          </a:p>
        </p:txBody>
      </p:sp>
      <p:sp>
        <p:nvSpPr>
          <p:cNvPr id="14" name="Text 12"/>
          <p:cNvSpPr/>
          <p:nvPr/>
        </p:nvSpPr>
        <p:spPr>
          <a:xfrm>
            <a:off x="731520" y="3182112"/>
            <a:ext cx="2834640" cy="566928"/>
          </a:xfrm>
          <a:prstGeom prst="rect">
            <a:avLst/>
          </a:prstGeom>
          <a:noFill/>
          <a:ln/>
        </p:spPr>
        <p:txBody>
          <a:bodyPr wrap="square" lIns="0" tIns="0" rIns="0" bIns="0" rtlCol="0" anchor="ctr"/>
          <a:lstStyle/>
          <a:p>
            <a:pPr marL="0" indent="0">
              <a:lnSpc>
                <a:spcPts val="1300"/>
              </a:lnSpc>
              <a:buNone/>
            </a:pPr>
            <a:r>
              <a:rPr lang="en-US" sz="1150" dirty="0">
                <a:solidFill>
                  <a:srgbClr val="0F172A"/>
                </a:solidFill>
                <a:latin typeface="Arial" pitchFamily="34" charset="0"/>
                <a:ea typeface="Arial" pitchFamily="34" charset="-122"/>
                <a:cs typeface="Arial" pitchFamily="34" charset="-120"/>
              </a:rPr>
              <a:t>ATS / HR-CRM</a:t>
            </a:r>
            <a:endParaRPr lang="en-US" sz="1150" dirty="0"/>
          </a:p>
          <a:p>
            <a:pPr marL="0" indent="0">
              <a:lnSpc>
                <a:spcPts val="1300"/>
              </a:lnSpc>
              <a:buNone/>
            </a:pPr>
            <a:r>
              <a:rPr lang="en-US" sz="1150" dirty="0">
                <a:solidFill>
                  <a:srgbClr val="0F172A"/>
                </a:solidFill>
                <a:latin typeface="Arial" pitchFamily="34" charset="0"/>
                <a:ea typeface="Arial" pitchFamily="34" charset="-122"/>
                <a:cs typeface="Arial" pitchFamily="34" charset="-120"/>
              </a:rPr>
              <a:t>(z. B. Personio, Recruitee)</a:t>
            </a:r>
            <a:endParaRPr lang="en-US" sz="1150" dirty="0"/>
          </a:p>
        </p:txBody>
      </p:sp>
      <p:sp>
        <p:nvSpPr>
          <p:cNvPr id="15" name="Text 13"/>
          <p:cNvSpPr/>
          <p:nvPr/>
        </p:nvSpPr>
        <p:spPr>
          <a:xfrm>
            <a:off x="3675888" y="3182112"/>
            <a:ext cx="1987220" cy="566928"/>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16" name="Text 14"/>
          <p:cNvSpPr/>
          <p:nvPr/>
        </p:nvSpPr>
        <p:spPr>
          <a:xfrm>
            <a:off x="5663108" y="3182112"/>
            <a:ext cx="1987220" cy="566928"/>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7650328" y="3182112"/>
            <a:ext cx="1987220" cy="566928"/>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pic>
        <p:nvPicPr>
          <p:cNvPr id="18" name="Image 0" descr="preencoded.png"/>
          <p:cNvPicPr>
            <a:picLocks noChangeAspect="1"/>
          </p:cNvPicPr>
          <p:nvPr/>
        </p:nvPicPr>
        <p:blipFill>
          <a:blip r:embed="rId3"/>
          <a:stretch>
            <a:fillRect/>
          </a:stretch>
        </p:blipFill>
        <p:spPr>
          <a:xfrm>
            <a:off x="10512285" y="3346704"/>
            <a:ext cx="237744" cy="237744"/>
          </a:xfrm>
          <a:prstGeom prst="rect">
            <a:avLst/>
          </a:prstGeom>
        </p:spPr>
      </p:pic>
      <p:sp>
        <p:nvSpPr>
          <p:cNvPr id="19" name="Shape 16"/>
          <p:cNvSpPr/>
          <p:nvPr/>
        </p:nvSpPr>
        <p:spPr>
          <a:xfrm>
            <a:off x="566928" y="3749040"/>
            <a:ext cx="11057839" cy="0"/>
          </a:xfrm>
          <a:prstGeom prst="line">
            <a:avLst/>
          </a:prstGeom>
          <a:noFill/>
          <a:ln w="9525">
            <a:solidFill>
              <a:srgbClr val="E7EBF1"/>
            </a:solidFill>
            <a:prstDash val="solid"/>
          </a:ln>
        </p:spPr>
        <p:txBody>
          <a:bodyPr/>
          <a:lstStyle/>
          <a:p>
            <a:endParaRPr lang="de-DE"/>
          </a:p>
        </p:txBody>
      </p:sp>
      <p:sp>
        <p:nvSpPr>
          <p:cNvPr id="20" name="Text 17"/>
          <p:cNvSpPr/>
          <p:nvPr/>
        </p:nvSpPr>
        <p:spPr>
          <a:xfrm>
            <a:off x="731520" y="3803904"/>
            <a:ext cx="2834640" cy="566928"/>
          </a:xfrm>
          <a:prstGeom prst="rect">
            <a:avLst/>
          </a:prstGeom>
          <a:noFill/>
          <a:ln/>
        </p:spPr>
        <p:txBody>
          <a:bodyPr wrap="square" lIns="0" tIns="0" rIns="0" bIns="0" rtlCol="0" anchor="ctr"/>
          <a:lstStyle/>
          <a:p>
            <a:pPr marL="0" indent="0">
              <a:lnSpc>
                <a:spcPts val="1300"/>
              </a:lnSpc>
              <a:buNone/>
            </a:pPr>
            <a:r>
              <a:rPr lang="en-US" sz="1150" dirty="0">
                <a:solidFill>
                  <a:srgbClr val="0F172A"/>
                </a:solidFill>
                <a:latin typeface="Arial" pitchFamily="34" charset="0"/>
                <a:ea typeface="Arial" pitchFamily="34" charset="-122"/>
                <a:cs typeface="Arial" pitchFamily="34" charset="-120"/>
              </a:rPr>
              <a:t>Sourcing-Tools</a:t>
            </a:r>
            <a:endParaRPr lang="en-US" sz="1150" dirty="0"/>
          </a:p>
          <a:p>
            <a:pPr marL="0" indent="0">
              <a:lnSpc>
                <a:spcPts val="1300"/>
              </a:lnSpc>
              <a:buNone/>
            </a:pPr>
            <a:r>
              <a:rPr lang="en-US" sz="1150" dirty="0">
                <a:solidFill>
                  <a:srgbClr val="0F172A"/>
                </a:solidFill>
                <a:latin typeface="Arial" pitchFamily="34" charset="0"/>
                <a:ea typeface="Arial" pitchFamily="34" charset="-122"/>
                <a:cs typeface="Arial" pitchFamily="34" charset="-120"/>
              </a:rPr>
              <a:t>(z. B. LinkedIn Recruiter)</a:t>
            </a:r>
            <a:endParaRPr lang="en-US" sz="1150" dirty="0"/>
          </a:p>
        </p:txBody>
      </p:sp>
      <p:sp>
        <p:nvSpPr>
          <p:cNvPr id="21" name="Text 18"/>
          <p:cNvSpPr/>
          <p:nvPr/>
        </p:nvSpPr>
        <p:spPr>
          <a:xfrm>
            <a:off x="3675888" y="3803904"/>
            <a:ext cx="1987220" cy="566928"/>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22" name="Text 19"/>
          <p:cNvSpPr/>
          <p:nvPr/>
        </p:nvSpPr>
        <p:spPr>
          <a:xfrm>
            <a:off x="5663108" y="3803904"/>
            <a:ext cx="1987220" cy="566928"/>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23" name="Text 20"/>
          <p:cNvSpPr/>
          <p:nvPr/>
        </p:nvSpPr>
        <p:spPr>
          <a:xfrm>
            <a:off x="7650328" y="3803904"/>
            <a:ext cx="1987220" cy="566928"/>
          </a:xfrm>
          <a:prstGeom prst="rect">
            <a:avLst/>
          </a:prstGeom>
          <a:noFill/>
          <a:ln/>
        </p:spPr>
        <p:txBody>
          <a:bodyPr wrap="square" lIns="0" tIns="0" rIns="0" bIns="0" rtlCol="0" anchor="ctr"/>
          <a:lstStyle/>
          <a:p>
            <a:pPr marL="0" indent="0" algn="ctr">
              <a:buNone/>
            </a:pPr>
            <a:r>
              <a:rPr lang="en-US" sz="1000" b="1" dirty="0">
                <a:solidFill>
                  <a:srgbClr val="EA580C"/>
                </a:solidFill>
                <a:latin typeface="Arial" pitchFamily="34" charset="0"/>
                <a:ea typeface="Arial" pitchFamily="34" charset="-122"/>
                <a:cs typeface="Arial" pitchFamily="34" charset="-120"/>
              </a:rPr>
              <a:t>teils</a:t>
            </a:r>
            <a:endParaRPr lang="en-US" sz="1000" dirty="0"/>
          </a:p>
        </p:txBody>
      </p:sp>
      <p:sp>
        <p:nvSpPr>
          <p:cNvPr id="24" name="Text 21"/>
          <p:cNvSpPr/>
          <p:nvPr/>
        </p:nvSpPr>
        <p:spPr>
          <a:xfrm>
            <a:off x="9637547" y="3803904"/>
            <a:ext cx="1987220" cy="566928"/>
          </a:xfrm>
          <a:prstGeom prst="rect">
            <a:avLst/>
          </a:prstGeom>
          <a:noFill/>
          <a:ln/>
        </p:spPr>
        <p:txBody>
          <a:bodyPr wrap="square" lIns="0" tIns="0" rIns="0" bIns="0" rtlCol="0" anchor="ctr"/>
          <a:lstStyle/>
          <a:p>
            <a:pPr marL="0" indent="0" algn="ctr">
              <a:buNone/>
            </a:pPr>
            <a:r>
              <a:rPr lang="en-US" sz="1400" b="1" dirty="0">
                <a:solidFill>
                  <a:srgbClr val="C2CCDA"/>
                </a:solidFill>
                <a:latin typeface="Arial" pitchFamily="34" charset="0"/>
                <a:ea typeface="Arial" pitchFamily="34" charset="-122"/>
                <a:cs typeface="Arial" pitchFamily="34" charset="-120"/>
              </a:rPr>
              <a:t>—</a:t>
            </a:r>
            <a:endParaRPr lang="en-US" sz="1400" dirty="0"/>
          </a:p>
        </p:txBody>
      </p:sp>
      <p:sp>
        <p:nvSpPr>
          <p:cNvPr id="25" name="Shape 22"/>
          <p:cNvSpPr/>
          <p:nvPr/>
        </p:nvSpPr>
        <p:spPr>
          <a:xfrm>
            <a:off x="566928" y="4370832"/>
            <a:ext cx="11057839" cy="0"/>
          </a:xfrm>
          <a:prstGeom prst="line">
            <a:avLst/>
          </a:prstGeom>
          <a:noFill/>
          <a:ln w="9525">
            <a:solidFill>
              <a:srgbClr val="E7EBF1"/>
            </a:solidFill>
            <a:prstDash val="solid"/>
          </a:ln>
        </p:spPr>
        <p:txBody>
          <a:bodyPr/>
          <a:lstStyle/>
          <a:p>
            <a:endParaRPr lang="de-DE"/>
          </a:p>
        </p:txBody>
      </p:sp>
      <p:sp>
        <p:nvSpPr>
          <p:cNvPr id="26" name="Text 23"/>
          <p:cNvSpPr/>
          <p:nvPr/>
        </p:nvSpPr>
        <p:spPr>
          <a:xfrm>
            <a:off x="731520" y="4425696"/>
            <a:ext cx="2834640" cy="566928"/>
          </a:xfrm>
          <a:prstGeom prst="rect">
            <a:avLst/>
          </a:prstGeom>
          <a:noFill/>
          <a:ln/>
        </p:spPr>
        <p:txBody>
          <a:bodyPr wrap="square" lIns="0" tIns="0" rIns="0" bIns="0" rtlCol="0" anchor="ctr"/>
          <a:lstStyle/>
          <a:p>
            <a:pPr marL="0" indent="0">
              <a:lnSpc>
                <a:spcPts val="1300"/>
              </a:lnSpc>
              <a:buNone/>
            </a:pPr>
            <a:r>
              <a:rPr lang="en-US" sz="1150" dirty="0">
                <a:solidFill>
                  <a:srgbClr val="0F172A"/>
                </a:solidFill>
                <a:latin typeface="Arial" pitchFamily="34" charset="0"/>
                <a:ea typeface="Arial" pitchFamily="34" charset="-122"/>
                <a:cs typeface="Arial" pitchFamily="34" charset="-120"/>
              </a:rPr>
              <a:t>Carv</a:t>
            </a:r>
            <a:endParaRPr lang="en-US" sz="1150" dirty="0"/>
          </a:p>
          <a:p>
            <a:pPr marL="0" indent="0">
              <a:lnSpc>
                <a:spcPts val="1300"/>
              </a:lnSpc>
              <a:buNone/>
            </a:pPr>
            <a:r>
              <a:rPr lang="en-US" sz="1150" dirty="0">
                <a:solidFill>
                  <a:srgbClr val="0F172A"/>
                </a:solidFill>
                <a:latin typeface="Arial" pitchFamily="34" charset="0"/>
                <a:ea typeface="Arial" pitchFamily="34" charset="-122"/>
                <a:cs typeface="Arial" pitchFamily="34" charset="-120"/>
              </a:rPr>
              <a:t>(AI-Recruiting-Agent)</a:t>
            </a:r>
            <a:endParaRPr lang="en-US" sz="1150" dirty="0"/>
          </a:p>
        </p:txBody>
      </p:sp>
      <p:sp>
        <p:nvSpPr>
          <p:cNvPr id="27" name="Text 24"/>
          <p:cNvSpPr/>
          <p:nvPr/>
        </p:nvSpPr>
        <p:spPr>
          <a:xfrm>
            <a:off x="3675888" y="4425696"/>
            <a:ext cx="1987220" cy="566928"/>
          </a:xfrm>
          <a:prstGeom prst="rect">
            <a:avLst/>
          </a:prstGeom>
          <a:noFill/>
          <a:ln/>
        </p:spPr>
        <p:txBody>
          <a:bodyPr wrap="square" lIns="0" tIns="0" rIns="0" bIns="0" rtlCol="0" anchor="ctr"/>
          <a:lstStyle/>
          <a:p>
            <a:pPr marL="0" indent="0" algn="ctr">
              <a:buNone/>
            </a:pPr>
            <a:r>
              <a:rPr lang="en-US" sz="1000" b="1" dirty="0">
                <a:solidFill>
                  <a:srgbClr val="EA580C"/>
                </a:solidFill>
                <a:latin typeface="Arial" pitchFamily="34" charset="0"/>
                <a:ea typeface="Arial" pitchFamily="34" charset="-122"/>
                <a:cs typeface="Arial" pitchFamily="34" charset="-120"/>
              </a:rPr>
              <a:t>teils</a:t>
            </a:r>
            <a:endParaRPr lang="en-US" sz="1000" dirty="0"/>
          </a:p>
        </p:txBody>
      </p:sp>
      <p:pic>
        <p:nvPicPr>
          <p:cNvPr id="28" name="Image 1" descr="preencoded.png"/>
          <p:cNvPicPr>
            <a:picLocks noChangeAspect="1"/>
          </p:cNvPicPr>
          <p:nvPr/>
        </p:nvPicPr>
        <p:blipFill>
          <a:blip r:embed="rId3"/>
          <a:stretch>
            <a:fillRect/>
          </a:stretch>
        </p:blipFill>
        <p:spPr>
          <a:xfrm>
            <a:off x="6537846" y="4590288"/>
            <a:ext cx="237744" cy="237744"/>
          </a:xfrm>
          <a:prstGeom prst="rect">
            <a:avLst/>
          </a:prstGeom>
        </p:spPr>
      </p:pic>
      <p:sp>
        <p:nvSpPr>
          <p:cNvPr id="29" name="Text 25"/>
          <p:cNvSpPr/>
          <p:nvPr/>
        </p:nvSpPr>
        <p:spPr>
          <a:xfrm>
            <a:off x="7650328" y="4425696"/>
            <a:ext cx="1987220" cy="566928"/>
          </a:xfrm>
          <a:prstGeom prst="rect">
            <a:avLst/>
          </a:prstGeom>
          <a:noFill/>
          <a:ln/>
        </p:spPr>
        <p:txBody>
          <a:bodyPr wrap="square" lIns="0" tIns="0" rIns="0" bIns="0" rtlCol="0" anchor="ctr"/>
          <a:lstStyle/>
          <a:p>
            <a:pPr marL="0" indent="0" algn="ctr">
              <a:buNone/>
            </a:pPr>
            <a:r>
              <a:rPr lang="en-US" sz="1000" b="1" dirty="0">
                <a:solidFill>
                  <a:srgbClr val="EA580C"/>
                </a:solidFill>
                <a:latin typeface="Arial" pitchFamily="34" charset="0"/>
                <a:ea typeface="Arial" pitchFamily="34" charset="-122"/>
                <a:cs typeface="Arial" pitchFamily="34" charset="-120"/>
              </a:rPr>
              <a:t>teils</a:t>
            </a:r>
            <a:endParaRPr lang="en-US" sz="1000" dirty="0"/>
          </a:p>
        </p:txBody>
      </p:sp>
      <p:pic>
        <p:nvPicPr>
          <p:cNvPr id="30" name="Image 2" descr="preencoded.png"/>
          <p:cNvPicPr>
            <a:picLocks noChangeAspect="1"/>
          </p:cNvPicPr>
          <p:nvPr/>
        </p:nvPicPr>
        <p:blipFill>
          <a:blip r:embed="rId3"/>
          <a:stretch>
            <a:fillRect/>
          </a:stretch>
        </p:blipFill>
        <p:spPr>
          <a:xfrm>
            <a:off x="10512285" y="4590288"/>
            <a:ext cx="237744" cy="237744"/>
          </a:xfrm>
          <a:prstGeom prst="rect">
            <a:avLst/>
          </a:prstGeom>
        </p:spPr>
      </p:pic>
      <p:sp>
        <p:nvSpPr>
          <p:cNvPr id="31" name="Shape 26"/>
          <p:cNvSpPr/>
          <p:nvPr/>
        </p:nvSpPr>
        <p:spPr>
          <a:xfrm>
            <a:off x="566928" y="4992624"/>
            <a:ext cx="11057839" cy="0"/>
          </a:xfrm>
          <a:prstGeom prst="line">
            <a:avLst/>
          </a:prstGeom>
          <a:noFill/>
          <a:ln w="9525">
            <a:solidFill>
              <a:srgbClr val="E7EBF1"/>
            </a:solidFill>
            <a:prstDash val="solid"/>
          </a:ln>
        </p:spPr>
        <p:txBody>
          <a:bodyPr/>
          <a:lstStyle/>
          <a:p>
            <a:endParaRPr lang="de-DE"/>
          </a:p>
        </p:txBody>
      </p:sp>
      <p:sp>
        <p:nvSpPr>
          <p:cNvPr id="32" name="Shape 27"/>
          <p:cNvSpPr/>
          <p:nvPr/>
        </p:nvSpPr>
        <p:spPr>
          <a:xfrm>
            <a:off x="521208" y="5020056"/>
            <a:ext cx="11149279" cy="585216"/>
          </a:xfrm>
          <a:prstGeom prst="roundRect">
            <a:avLst>
              <a:gd name="adj" fmla="val 10938"/>
            </a:avLst>
          </a:prstGeom>
          <a:solidFill>
            <a:srgbClr val="EAF2FC"/>
          </a:solidFill>
          <a:ln w="12700">
            <a:solidFill>
              <a:srgbClr val="2976D6"/>
            </a:solidFill>
            <a:prstDash val="solid"/>
          </a:ln>
        </p:spPr>
        <p:txBody>
          <a:bodyPr/>
          <a:lstStyle/>
          <a:p>
            <a:endParaRPr lang="de-DE"/>
          </a:p>
        </p:txBody>
      </p:sp>
      <p:sp>
        <p:nvSpPr>
          <p:cNvPr id="33" name="Text 28"/>
          <p:cNvSpPr/>
          <p:nvPr/>
        </p:nvSpPr>
        <p:spPr>
          <a:xfrm>
            <a:off x="731520" y="5047488"/>
            <a:ext cx="2834640" cy="530352"/>
          </a:xfrm>
          <a:prstGeom prst="rect">
            <a:avLst/>
          </a:prstGeom>
          <a:noFill/>
          <a:ln/>
        </p:spPr>
        <p:txBody>
          <a:bodyPr wrap="square" lIns="0" tIns="0" rIns="0" bIns="0" rtlCol="0" anchor="ctr"/>
          <a:lstStyle/>
          <a:p>
            <a:pPr marL="0" indent="0">
              <a:lnSpc>
                <a:spcPts val="1300"/>
              </a:lnSpc>
              <a:buNone/>
            </a:pPr>
            <a:r>
              <a:rPr lang="en-US" sz="1300" b="1" dirty="0">
                <a:solidFill>
                  <a:srgbClr val="2976D6"/>
                </a:solidFill>
                <a:latin typeface="Arial" pitchFamily="34" charset="0"/>
                <a:ea typeface="Arial" pitchFamily="34" charset="-122"/>
                <a:cs typeface="Arial" pitchFamily="34" charset="-120"/>
              </a:rPr>
              <a:t>matchmaker.hr</a:t>
            </a:r>
            <a:endParaRPr lang="en-US" sz="1300" dirty="0"/>
          </a:p>
        </p:txBody>
      </p:sp>
      <p:pic>
        <p:nvPicPr>
          <p:cNvPr id="34" name="Image 3" descr="preencoded.png"/>
          <p:cNvPicPr>
            <a:picLocks noChangeAspect="1"/>
          </p:cNvPicPr>
          <p:nvPr/>
        </p:nvPicPr>
        <p:blipFill>
          <a:blip r:embed="rId3"/>
          <a:stretch>
            <a:fillRect/>
          </a:stretch>
        </p:blipFill>
        <p:spPr>
          <a:xfrm>
            <a:off x="4550626" y="5193792"/>
            <a:ext cx="237744" cy="237744"/>
          </a:xfrm>
          <a:prstGeom prst="rect">
            <a:avLst/>
          </a:prstGeom>
        </p:spPr>
      </p:pic>
      <p:pic>
        <p:nvPicPr>
          <p:cNvPr id="35" name="Image 4" descr="preencoded.png"/>
          <p:cNvPicPr>
            <a:picLocks noChangeAspect="1"/>
          </p:cNvPicPr>
          <p:nvPr/>
        </p:nvPicPr>
        <p:blipFill>
          <a:blip r:embed="rId3"/>
          <a:stretch>
            <a:fillRect/>
          </a:stretch>
        </p:blipFill>
        <p:spPr>
          <a:xfrm>
            <a:off x="6537846" y="5193792"/>
            <a:ext cx="237744" cy="237744"/>
          </a:xfrm>
          <a:prstGeom prst="rect">
            <a:avLst/>
          </a:prstGeom>
        </p:spPr>
      </p:pic>
      <p:pic>
        <p:nvPicPr>
          <p:cNvPr id="36" name="Image 5" descr="preencoded.png"/>
          <p:cNvPicPr>
            <a:picLocks noChangeAspect="1"/>
          </p:cNvPicPr>
          <p:nvPr/>
        </p:nvPicPr>
        <p:blipFill>
          <a:blip r:embed="rId3"/>
          <a:stretch>
            <a:fillRect/>
          </a:stretch>
        </p:blipFill>
        <p:spPr>
          <a:xfrm>
            <a:off x="8525065" y="5193792"/>
            <a:ext cx="237744" cy="237744"/>
          </a:xfrm>
          <a:prstGeom prst="rect">
            <a:avLst/>
          </a:prstGeom>
        </p:spPr>
      </p:pic>
      <p:pic>
        <p:nvPicPr>
          <p:cNvPr id="37" name="Image 6" descr="preencoded.png"/>
          <p:cNvPicPr>
            <a:picLocks noChangeAspect="1"/>
          </p:cNvPicPr>
          <p:nvPr/>
        </p:nvPicPr>
        <p:blipFill>
          <a:blip r:embed="rId3"/>
          <a:stretch>
            <a:fillRect/>
          </a:stretch>
        </p:blipFill>
        <p:spPr>
          <a:xfrm>
            <a:off x="10512285" y="5193792"/>
            <a:ext cx="237744" cy="237744"/>
          </a:xfrm>
          <a:prstGeom prst="rect">
            <a:avLst/>
          </a:prstGeom>
        </p:spPr>
      </p:pic>
      <p:sp>
        <p:nvSpPr>
          <p:cNvPr id="38" name="Shape 29"/>
          <p:cNvSpPr/>
          <p:nvPr/>
        </p:nvSpPr>
        <p:spPr>
          <a:xfrm>
            <a:off x="566928" y="5577840"/>
            <a:ext cx="11057839" cy="0"/>
          </a:xfrm>
          <a:prstGeom prst="line">
            <a:avLst/>
          </a:prstGeom>
          <a:noFill/>
          <a:ln w="9525">
            <a:solidFill>
              <a:srgbClr val="E7EBF1"/>
            </a:solidFill>
            <a:prstDash val="solid"/>
          </a:ln>
        </p:spPr>
        <p:txBody>
          <a:bodyPr/>
          <a:lstStyle/>
          <a:p>
            <a:endParaRPr lang="de-DE"/>
          </a:p>
        </p:txBody>
      </p:sp>
      <p:sp>
        <p:nvSpPr>
          <p:cNvPr id="39" name="Text 30"/>
          <p:cNvSpPr/>
          <p:nvPr/>
        </p:nvSpPr>
        <p:spPr>
          <a:xfrm>
            <a:off x="566928" y="5870448"/>
            <a:ext cx="11057839" cy="566928"/>
          </a:xfrm>
          <a:prstGeom prst="rect">
            <a:avLst/>
          </a:prstGeom>
          <a:noFill/>
          <a:ln/>
        </p:spPr>
        <p:txBody>
          <a:bodyPr wrap="square" lIns="0" tIns="0" rIns="0" bIns="0" rtlCol="0" anchor="ctr"/>
          <a:lstStyle/>
          <a:p>
            <a:pPr marL="0" indent="0">
              <a:lnSpc>
                <a:spcPts val="1450"/>
              </a:lnSpc>
              <a:buNone/>
            </a:pPr>
            <a:r>
              <a:rPr lang="en-US" sz="1150" b="1" dirty="0">
                <a:solidFill>
                  <a:srgbClr val="2976D6"/>
                </a:solidFill>
                <a:latin typeface="Arial" pitchFamily="34" charset="0"/>
                <a:ea typeface="Arial" pitchFamily="34" charset="-122"/>
                <a:cs typeface="Arial" pitchFamily="34" charset="-120"/>
              </a:rPr>
              <a:t>Unser Moat:  </a:t>
            </a:r>
            <a:r>
              <a:rPr lang="en-US" sz="1150" dirty="0">
                <a:solidFill>
                  <a:srgbClr val="475569"/>
                </a:solidFill>
                <a:latin typeface="Arial" pitchFamily="34" charset="0"/>
                <a:ea typeface="Arial" pitchFamily="34" charset="-122"/>
                <a:cs typeface="Arial" pitchFamily="34" charset="-120"/>
              </a:rPr>
              <a:t>nicht ein einzelnes Feature, sondern der vollständige, transparente Workflow als integriertes System – von der Analyse über erklärbares Matching bis zum Anschreiben. Diese Durchgängigkeit ist schwer zu kopieren; kein Wettbewerber deckt die Kombination ab.</a:t>
            </a:r>
            <a:endParaRPr lang="en-US" sz="1150" dirty="0"/>
          </a:p>
        </p:txBody>
      </p:sp>
      <p:sp>
        <p:nvSpPr>
          <p:cNvPr id="40" name="Text 31"/>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41" name="Text 32"/>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08 / 14</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GESCHÄFTSMODELL</a:t>
            </a:r>
            <a:endParaRPr lang="en-US" sz="1150" dirty="0"/>
          </a:p>
        </p:txBody>
      </p:sp>
      <p:sp>
        <p:nvSpPr>
          <p:cNvPr id="3" name="Text 1"/>
          <p:cNvSpPr/>
          <p:nvPr/>
        </p:nvSpPr>
        <p:spPr>
          <a:xfrm>
            <a:off x="566928" y="868680"/>
            <a:ext cx="11155680" cy="868680"/>
          </a:xfrm>
          <a:prstGeom prst="rect">
            <a:avLst/>
          </a:prstGeom>
          <a:noFill/>
          <a:ln/>
        </p:spPr>
        <p:txBody>
          <a:bodyPr wrap="square" lIns="0" tIns="0" rIns="0" bIns="0" rtlCol="0" anchor="ctr"/>
          <a:lstStyle/>
          <a:p>
            <a:pPr marL="0" indent="0" algn="l">
              <a:lnSpc>
                <a:spcPts val="2625"/>
              </a:lnSpc>
              <a:buNone/>
            </a:pPr>
            <a:r>
              <a:rPr lang="en-US" sz="2500" b="1" dirty="0">
                <a:solidFill>
                  <a:srgbClr val="0F172A"/>
                </a:solidFill>
                <a:latin typeface="Arial" pitchFamily="34" charset="0"/>
                <a:ea typeface="Arial" pitchFamily="34" charset="-122"/>
                <a:cs typeface="Arial" pitchFamily="34" charset="-120"/>
              </a:rPr>
              <a:t>SaaS-Abo mit </a:t>
            </a:r>
            <a:r>
              <a:rPr lang="en-US" sz="2500" b="1" dirty="0">
                <a:solidFill>
                  <a:srgbClr val="2976D6"/>
                </a:solidFill>
                <a:latin typeface="Arial" pitchFamily="34" charset="0"/>
                <a:ea typeface="Arial" pitchFamily="34" charset="-122"/>
                <a:cs typeface="Arial" pitchFamily="34" charset="-120"/>
              </a:rPr>
              <a:t>hoher Marge</a:t>
            </a:r>
            <a:r>
              <a:rPr lang="en-US" sz="2500" b="1" dirty="0">
                <a:solidFill>
                  <a:srgbClr val="0F172A"/>
                </a:solidFill>
                <a:latin typeface="Arial" pitchFamily="34" charset="0"/>
                <a:ea typeface="Arial" pitchFamily="34" charset="-122"/>
                <a:cs typeface="Arial" pitchFamily="34" charset="-120"/>
              </a:rPr>
              <a:t> – Einstieg kostenlos, Wachstum eingebaut.</a:t>
            </a:r>
            <a:endParaRPr lang="en-US" sz="2500" dirty="0"/>
          </a:p>
        </p:txBody>
      </p:sp>
      <p:sp>
        <p:nvSpPr>
          <p:cNvPr id="4" name="Shape 2"/>
          <p:cNvSpPr/>
          <p:nvPr/>
        </p:nvSpPr>
        <p:spPr>
          <a:xfrm>
            <a:off x="566928" y="2148840"/>
            <a:ext cx="3442106" cy="2606040"/>
          </a:xfrm>
          <a:prstGeom prst="roundRect">
            <a:avLst>
              <a:gd name="adj" fmla="val 3158"/>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5" name="Shape 3"/>
          <p:cNvSpPr/>
          <p:nvPr/>
        </p:nvSpPr>
        <p:spPr>
          <a:xfrm>
            <a:off x="859536" y="2441448"/>
            <a:ext cx="475488" cy="475488"/>
          </a:xfrm>
          <a:prstGeom prst="roundRect">
            <a:avLst>
              <a:gd name="adj" fmla="val 13462"/>
            </a:avLst>
          </a:prstGeom>
          <a:solidFill>
            <a:srgbClr val="172B4D"/>
          </a:solidFill>
          <a:ln/>
        </p:spPr>
        <p:txBody>
          <a:bodyPr/>
          <a:lstStyle/>
          <a:p>
            <a:endParaRPr lang="de-DE"/>
          </a:p>
        </p:txBody>
      </p:sp>
      <p:pic>
        <p:nvPicPr>
          <p:cNvPr id="6" name="Image 0" descr="preencoded.png"/>
          <p:cNvPicPr>
            <a:picLocks noChangeAspect="1"/>
          </p:cNvPicPr>
          <p:nvPr/>
        </p:nvPicPr>
        <p:blipFill>
          <a:blip r:embed="rId3"/>
          <a:stretch>
            <a:fillRect/>
          </a:stretch>
        </p:blipFill>
        <p:spPr>
          <a:xfrm>
            <a:off x="973653" y="2555565"/>
            <a:ext cx="247254" cy="247254"/>
          </a:xfrm>
          <a:prstGeom prst="rect">
            <a:avLst/>
          </a:prstGeom>
        </p:spPr>
      </p:pic>
      <p:sp>
        <p:nvSpPr>
          <p:cNvPr id="7" name="Text 4"/>
          <p:cNvSpPr/>
          <p:nvPr/>
        </p:nvSpPr>
        <p:spPr>
          <a:xfrm>
            <a:off x="859536" y="3063240"/>
            <a:ext cx="2893466" cy="32004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Bring Your Own Key</a:t>
            </a:r>
            <a:endParaRPr lang="en-US" sz="1450" dirty="0"/>
          </a:p>
        </p:txBody>
      </p:sp>
      <p:sp>
        <p:nvSpPr>
          <p:cNvPr id="8" name="Text 5"/>
          <p:cNvSpPr/>
          <p:nvPr/>
        </p:nvSpPr>
        <p:spPr>
          <a:xfrm>
            <a:off x="859536" y="3410712"/>
            <a:ext cx="2893466" cy="457200"/>
          </a:xfrm>
          <a:prstGeom prst="rect">
            <a:avLst/>
          </a:prstGeom>
          <a:noFill/>
          <a:ln/>
        </p:spPr>
        <p:txBody>
          <a:bodyPr wrap="square" lIns="0" tIns="0" rIns="0" bIns="0" rtlCol="0" anchor="ctr"/>
          <a:lstStyle/>
          <a:p>
            <a:pPr marL="0" indent="0">
              <a:buNone/>
            </a:pPr>
            <a:r>
              <a:rPr lang="en-US" sz="2600" b="1" dirty="0">
                <a:solidFill>
                  <a:srgbClr val="0F172A"/>
                </a:solidFill>
                <a:latin typeface="Arial" pitchFamily="34" charset="0"/>
                <a:ea typeface="Arial" pitchFamily="34" charset="-122"/>
                <a:cs typeface="Arial" pitchFamily="34" charset="-120"/>
              </a:rPr>
              <a:t>Kostenlos</a:t>
            </a:r>
            <a:endParaRPr lang="en-US" sz="2600" dirty="0"/>
          </a:p>
        </p:txBody>
      </p:sp>
      <p:sp>
        <p:nvSpPr>
          <p:cNvPr id="9" name="Text 6"/>
          <p:cNvSpPr/>
          <p:nvPr/>
        </p:nvSpPr>
        <p:spPr>
          <a:xfrm>
            <a:off x="859536" y="3931920"/>
            <a:ext cx="2893466" cy="640080"/>
          </a:xfrm>
          <a:prstGeom prst="rect">
            <a:avLst/>
          </a:prstGeom>
          <a:noFill/>
          <a:ln/>
        </p:spPr>
        <p:txBody>
          <a:bodyPr wrap="square" lIns="0" tIns="0" rIns="0" bIns="0" rtlCol="0" anchor="ctr"/>
          <a:lstStyle/>
          <a:p>
            <a:pPr marL="0" indent="0">
              <a:lnSpc>
                <a:spcPts val="1350"/>
              </a:lnSpc>
              <a:buNone/>
            </a:pPr>
            <a:r>
              <a:rPr lang="en-US" sz="1080" dirty="0">
                <a:solidFill>
                  <a:srgbClr val="475569"/>
                </a:solidFill>
                <a:latin typeface="Arial" pitchFamily="34" charset="0"/>
                <a:ea typeface="Arial" pitchFamily="34" charset="-122"/>
                <a:cs typeface="Arial" pitchFamily="34" charset="-120"/>
              </a:rPr>
              <a:t>Volle Funktion, Abrechnung der KI-Kosten direkt über den eigenen API-Account.</a:t>
            </a:r>
            <a:endParaRPr lang="en-US" sz="1080" dirty="0"/>
          </a:p>
        </p:txBody>
      </p:sp>
      <p:sp>
        <p:nvSpPr>
          <p:cNvPr id="10" name="Shape 7"/>
          <p:cNvSpPr/>
          <p:nvPr/>
        </p:nvSpPr>
        <p:spPr>
          <a:xfrm>
            <a:off x="2299106" y="2514600"/>
            <a:ext cx="1417320" cy="310896"/>
          </a:xfrm>
          <a:prstGeom prst="roundRect">
            <a:avLst>
              <a:gd name="adj" fmla="val 50000"/>
            </a:avLst>
          </a:prstGeom>
          <a:solidFill>
            <a:srgbClr val="EAF2FC"/>
          </a:solidFill>
          <a:ln/>
        </p:spPr>
        <p:txBody>
          <a:bodyPr/>
          <a:lstStyle/>
          <a:p>
            <a:endParaRPr lang="de-DE"/>
          </a:p>
        </p:txBody>
      </p:sp>
      <p:sp>
        <p:nvSpPr>
          <p:cNvPr id="11" name="Text 8"/>
          <p:cNvSpPr/>
          <p:nvPr/>
        </p:nvSpPr>
        <p:spPr>
          <a:xfrm>
            <a:off x="2299106" y="2514600"/>
            <a:ext cx="1417320" cy="310896"/>
          </a:xfrm>
          <a:prstGeom prst="rect">
            <a:avLst/>
          </a:prstGeom>
          <a:noFill/>
          <a:ln/>
        </p:spPr>
        <p:txBody>
          <a:bodyPr wrap="square" lIns="0" tIns="0" rIns="0" bIns="0" rtlCol="0" anchor="ctr"/>
          <a:lstStyle/>
          <a:p>
            <a:pPr marL="0" indent="0" algn="ctr">
              <a:buNone/>
            </a:pPr>
            <a:r>
              <a:rPr lang="en-US" sz="950" b="1" dirty="0">
                <a:solidFill>
                  <a:srgbClr val="2976D6"/>
                </a:solidFill>
                <a:latin typeface="Arial" pitchFamily="34" charset="0"/>
                <a:ea typeface="Arial" pitchFamily="34" charset="-122"/>
                <a:cs typeface="Arial" pitchFamily="34" charset="-120"/>
              </a:rPr>
              <a:t>Einstieg &amp; Funnel</a:t>
            </a:r>
            <a:endParaRPr lang="en-US" sz="950" dirty="0"/>
          </a:p>
        </p:txBody>
      </p:sp>
      <p:sp>
        <p:nvSpPr>
          <p:cNvPr id="12" name="Shape 9"/>
          <p:cNvSpPr/>
          <p:nvPr/>
        </p:nvSpPr>
        <p:spPr>
          <a:xfrm>
            <a:off x="4374794" y="2148840"/>
            <a:ext cx="3442106" cy="2606040"/>
          </a:xfrm>
          <a:prstGeom prst="roundRect">
            <a:avLst>
              <a:gd name="adj" fmla="val 3158"/>
            </a:avLst>
          </a:prstGeom>
          <a:solidFill>
            <a:srgbClr val="172B4D"/>
          </a:solidFill>
          <a:ln/>
          <a:effectLst>
            <a:outerShdw blurRad="114300" dist="38100" dir="5400000" algn="bl" rotWithShape="0">
              <a:srgbClr val="0B1B3A">
                <a:alpha val="13000"/>
              </a:srgbClr>
            </a:outerShdw>
          </a:effectLst>
        </p:spPr>
        <p:txBody>
          <a:bodyPr/>
          <a:lstStyle/>
          <a:p>
            <a:endParaRPr lang="de-DE"/>
          </a:p>
        </p:txBody>
      </p:sp>
      <p:sp>
        <p:nvSpPr>
          <p:cNvPr id="13" name="Shape 10"/>
          <p:cNvSpPr/>
          <p:nvPr/>
        </p:nvSpPr>
        <p:spPr>
          <a:xfrm>
            <a:off x="4667402" y="2441448"/>
            <a:ext cx="475488" cy="475488"/>
          </a:xfrm>
          <a:prstGeom prst="roundRect">
            <a:avLst>
              <a:gd name="adj" fmla="val 13462"/>
            </a:avLst>
          </a:prstGeom>
          <a:solidFill>
            <a:srgbClr val="2976D6"/>
          </a:solidFill>
          <a:ln/>
        </p:spPr>
        <p:txBody>
          <a:bodyPr/>
          <a:lstStyle/>
          <a:p>
            <a:endParaRPr lang="de-DE"/>
          </a:p>
        </p:txBody>
      </p:sp>
      <p:pic>
        <p:nvPicPr>
          <p:cNvPr id="14" name="Image 1" descr="preencoded.png"/>
          <p:cNvPicPr>
            <a:picLocks noChangeAspect="1"/>
          </p:cNvPicPr>
          <p:nvPr/>
        </p:nvPicPr>
        <p:blipFill>
          <a:blip r:embed="rId4"/>
          <a:stretch>
            <a:fillRect/>
          </a:stretch>
        </p:blipFill>
        <p:spPr>
          <a:xfrm>
            <a:off x="4781520" y="2555565"/>
            <a:ext cx="247254" cy="247254"/>
          </a:xfrm>
          <a:prstGeom prst="rect">
            <a:avLst/>
          </a:prstGeom>
        </p:spPr>
      </p:pic>
      <p:sp>
        <p:nvSpPr>
          <p:cNvPr id="15" name="Text 11"/>
          <p:cNvSpPr/>
          <p:nvPr/>
        </p:nvSpPr>
        <p:spPr>
          <a:xfrm>
            <a:off x="4667402" y="3063240"/>
            <a:ext cx="2893466" cy="320040"/>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Enterprise Lizenz</a:t>
            </a:r>
            <a:endParaRPr lang="en-US" sz="1450" dirty="0"/>
          </a:p>
        </p:txBody>
      </p:sp>
      <p:sp>
        <p:nvSpPr>
          <p:cNvPr id="16" name="Text 12"/>
          <p:cNvSpPr/>
          <p:nvPr/>
        </p:nvSpPr>
        <p:spPr>
          <a:xfrm>
            <a:off x="4667402" y="3410712"/>
            <a:ext cx="2893466"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129–249 €</a:t>
            </a:r>
            <a:r>
              <a:rPr lang="en-US" sz="1100" dirty="0">
                <a:solidFill>
                  <a:srgbClr val="9DB8DD"/>
                </a:solidFill>
                <a:latin typeface="Arial" pitchFamily="34" charset="0"/>
                <a:ea typeface="Arial" pitchFamily="34" charset="-122"/>
                <a:cs typeface="Arial" pitchFamily="34" charset="-120"/>
              </a:rPr>
              <a:t> / Monat</a:t>
            </a:r>
            <a:endParaRPr lang="en-US" sz="2600" dirty="0"/>
          </a:p>
        </p:txBody>
      </p:sp>
      <p:sp>
        <p:nvSpPr>
          <p:cNvPr id="17" name="Text 13"/>
          <p:cNvSpPr/>
          <p:nvPr/>
        </p:nvSpPr>
        <p:spPr>
          <a:xfrm>
            <a:off x="4667402" y="3931920"/>
            <a:ext cx="2893466" cy="640080"/>
          </a:xfrm>
          <a:prstGeom prst="rect">
            <a:avLst/>
          </a:prstGeom>
          <a:noFill/>
          <a:ln/>
        </p:spPr>
        <p:txBody>
          <a:bodyPr wrap="square" lIns="0" tIns="0" rIns="0" bIns="0" rtlCol="0" anchor="ctr"/>
          <a:lstStyle/>
          <a:p>
            <a:pPr marL="0" indent="0">
              <a:lnSpc>
                <a:spcPts val="1350"/>
              </a:lnSpc>
              <a:buNone/>
            </a:pPr>
            <a:r>
              <a:rPr lang="en-US" sz="1080" dirty="0">
                <a:solidFill>
                  <a:srgbClr val="C9D6EC"/>
                </a:solidFill>
                <a:latin typeface="Arial" pitchFamily="34" charset="0"/>
                <a:ea typeface="Arial" pitchFamily="34" charset="-122"/>
                <a:cs typeface="Arial" pitchFamily="34" charset="-120"/>
              </a:rPr>
              <a:t>Gestaffelt nach Talentpool-Größe (50 bis 250+ Talente). Der gesamte Prozess automatisiert.</a:t>
            </a:r>
            <a:endParaRPr lang="en-US" sz="1080" dirty="0"/>
          </a:p>
        </p:txBody>
      </p:sp>
      <p:sp>
        <p:nvSpPr>
          <p:cNvPr id="18" name="Shape 14"/>
          <p:cNvSpPr/>
          <p:nvPr/>
        </p:nvSpPr>
        <p:spPr>
          <a:xfrm>
            <a:off x="6106973" y="2514600"/>
            <a:ext cx="1417320" cy="310896"/>
          </a:xfrm>
          <a:prstGeom prst="roundRect">
            <a:avLst>
              <a:gd name="adj" fmla="val 50000"/>
            </a:avLst>
          </a:prstGeom>
          <a:solidFill>
            <a:srgbClr val="2976D6"/>
          </a:solidFill>
          <a:ln/>
        </p:spPr>
        <p:txBody>
          <a:bodyPr/>
          <a:lstStyle/>
          <a:p>
            <a:endParaRPr lang="de-DE"/>
          </a:p>
        </p:txBody>
      </p:sp>
      <p:sp>
        <p:nvSpPr>
          <p:cNvPr id="19" name="Text 15"/>
          <p:cNvSpPr/>
          <p:nvPr/>
        </p:nvSpPr>
        <p:spPr>
          <a:xfrm>
            <a:off x="6106973" y="2514600"/>
            <a:ext cx="14173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Kernumsatz</a:t>
            </a:r>
            <a:endParaRPr lang="en-US" sz="950" dirty="0"/>
          </a:p>
        </p:txBody>
      </p:sp>
      <p:sp>
        <p:nvSpPr>
          <p:cNvPr id="20" name="Shape 16"/>
          <p:cNvSpPr/>
          <p:nvPr/>
        </p:nvSpPr>
        <p:spPr>
          <a:xfrm>
            <a:off x="8182661" y="2148840"/>
            <a:ext cx="3442106" cy="2606040"/>
          </a:xfrm>
          <a:prstGeom prst="roundRect">
            <a:avLst>
              <a:gd name="adj" fmla="val 3158"/>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21" name="Shape 17"/>
          <p:cNvSpPr/>
          <p:nvPr/>
        </p:nvSpPr>
        <p:spPr>
          <a:xfrm>
            <a:off x="8475269" y="2441448"/>
            <a:ext cx="475488" cy="475488"/>
          </a:xfrm>
          <a:prstGeom prst="roundRect">
            <a:avLst>
              <a:gd name="adj" fmla="val 13462"/>
            </a:avLst>
          </a:prstGeom>
          <a:solidFill>
            <a:srgbClr val="172B4D"/>
          </a:solidFill>
          <a:ln/>
        </p:spPr>
        <p:txBody>
          <a:bodyPr/>
          <a:lstStyle/>
          <a:p>
            <a:endParaRPr lang="de-DE"/>
          </a:p>
        </p:txBody>
      </p:sp>
      <p:pic>
        <p:nvPicPr>
          <p:cNvPr id="22" name="Image 2" descr="preencoded.png"/>
          <p:cNvPicPr>
            <a:picLocks noChangeAspect="1"/>
          </p:cNvPicPr>
          <p:nvPr/>
        </p:nvPicPr>
        <p:blipFill>
          <a:blip r:embed="rId5"/>
          <a:stretch>
            <a:fillRect/>
          </a:stretch>
        </p:blipFill>
        <p:spPr>
          <a:xfrm>
            <a:off x="8589386" y="2555565"/>
            <a:ext cx="247254" cy="247254"/>
          </a:xfrm>
          <a:prstGeom prst="rect">
            <a:avLst/>
          </a:prstGeom>
        </p:spPr>
      </p:pic>
      <p:sp>
        <p:nvSpPr>
          <p:cNvPr id="23" name="Text 18"/>
          <p:cNvSpPr/>
          <p:nvPr/>
        </p:nvSpPr>
        <p:spPr>
          <a:xfrm>
            <a:off x="8475269" y="3063240"/>
            <a:ext cx="2893466" cy="32004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Zusätzliche Lizenzen</a:t>
            </a:r>
            <a:endParaRPr lang="en-US" sz="1450" dirty="0"/>
          </a:p>
        </p:txBody>
      </p:sp>
      <p:sp>
        <p:nvSpPr>
          <p:cNvPr id="24" name="Text 19"/>
          <p:cNvSpPr/>
          <p:nvPr/>
        </p:nvSpPr>
        <p:spPr>
          <a:xfrm>
            <a:off x="8475269" y="3410712"/>
            <a:ext cx="2893466" cy="457200"/>
          </a:xfrm>
          <a:prstGeom prst="rect">
            <a:avLst/>
          </a:prstGeom>
          <a:noFill/>
          <a:ln/>
        </p:spPr>
        <p:txBody>
          <a:bodyPr wrap="square" lIns="0" tIns="0" rIns="0" bIns="0" rtlCol="0" anchor="ctr"/>
          <a:lstStyle/>
          <a:p>
            <a:pPr marL="0" indent="0">
              <a:buNone/>
            </a:pPr>
            <a:r>
              <a:rPr lang="en-US" sz="2600" b="1" dirty="0">
                <a:solidFill>
                  <a:srgbClr val="0F172A"/>
                </a:solidFill>
                <a:latin typeface="Arial" pitchFamily="34" charset="0"/>
                <a:ea typeface="Arial" pitchFamily="34" charset="-122"/>
                <a:cs typeface="Arial" pitchFamily="34" charset="-120"/>
              </a:rPr>
              <a:t>19,99 €</a:t>
            </a:r>
            <a:r>
              <a:rPr lang="en-US" sz="1100" dirty="0">
                <a:solidFill>
                  <a:srgbClr val="7C8AA0"/>
                </a:solidFill>
                <a:latin typeface="Arial" pitchFamily="34" charset="0"/>
                <a:ea typeface="Arial" pitchFamily="34" charset="-122"/>
                <a:cs typeface="Arial" pitchFamily="34" charset="-120"/>
              </a:rPr>
              <a:t> / Seat &amp; Monat</a:t>
            </a:r>
            <a:endParaRPr lang="en-US" sz="2600" dirty="0"/>
          </a:p>
        </p:txBody>
      </p:sp>
      <p:sp>
        <p:nvSpPr>
          <p:cNvPr id="25" name="Text 20"/>
          <p:cNvSpPr/>
          <p:nvPr/>
        </p:nvSpPr>
        <p:spPr>
          <a:xfrm>
            <a:off x="8475269" y="3931920"/>
            <a:ext cx="2893466" cy="640080"/>
          </a:xfrm>
          <a:prstGeom prst="rect">
            <a:avLst/>
          </a:prstGeom>
          <a:noFill/>
          <a:ln/>
        </p:spPr>
        <p:txBody>
          <a:bodyPr wrap="square" lIns="0" tIns="0" rIns="0" bIns="0" rtlCol="0" anchor="ctr"/>
          <a:lstStyle/>
          <a:p>
            <a:pPr marL="0" indent="0">
              <a:lnSpc>
                <a:spcPts val="1350"/>
              </a:lnSpc>
              <a:buNone/>
            </a:pPr>
            <a:r>
              <a:rPr lang="en-US" sz="1080" dirty="0">
                <a:solidFill>
                  <a:srgbClr val="475569"/>
                </a:solidFill>
                <a:latin typeface="Arial" pitchFamily="34" charset="0"/>
                <a:ea typeface="Arial" pitchFamily="34" charset="-122"/>
                <a:cs typeface="Arial" pitchFamily="34" charset="-120"/>
              </a:rPr>
              <a:t>Pro weiterem Berater im Team – Umsatz wächst mit der Kanzlei mit.</a:t>
            </a:r>
            <a:endParaRPr lang="en-US" sz="1080" dirty="0"/>
          </a:p>
        </p:txBody>
      </p:sp>
      <p:sp>
        <p:nvSpPr>
          <p:cNvPr id="26" name="Shape 21"/>
          <p:cNvSpPr/>
          <p:nvPr/>
        </p:nvSpPr>
        <p:spPr>
          <a:xfrm>
            <a:off x="9914839" y="2514600"/>
            <a:ext cx="1417320" cy="310896"/>
          </a:xfrm>
          <a:prstGeom prst="roundRect">
            <a:avLst>
              <a:gd name="adj" fmla="val 50000"/>
            </a:avLst>
          </a:prstGeom>
          <a:solidFill>
            <a:srgbClr val="EAF2FC"/>
          </a:solidFill>
          <a:ln/>
        </p:spPr>
        <p:txBody>
          <a:bodyPr/>
          <a:lstStyle/>
          <a:p>
            <a:endParaRPr lang="de-DE"/>
          </a:p>
        </p:txBody>
      </p:sp>
      <p:sp>
        <p:nvSpPr>
          <p:cNvPr id="27" name="Text 22"/>
          <p:cNvSpPr/>
          <p:nvPr/>
        </p:nvSpPr>
        <p:spPr>
          <a:xfrm>
            <a:off x="9914839" y="2514600"/>
            <a:ext cx="1417320" cy="310896"/>
          </a:xfrm>
          <a:prstGeom prst="rect">
            <a:avLst/>
          </a:prstGeom>
          <a:noFill/>
          <a:ln/>
        </p:spPr>
        <p:txBody>
          <a:bodyPr wrap="square" lIns="0" tIns="0" rIns="0" bIns="0" rtlCol="0" anchor="ctr"/>
          <a:lstStyle/>
          <a:p>
            <a:pPr marL="0" indent="0" algn="ctr">
              <a:buNone/>
            </a:pPr>
            <a:r>
              <a:rPr lang="en-US" sz="950" b="1" dirty="0">
                <a:solidFill>
                  <a:srgbClr val="2976D6"/>
                </a:solidFill>
                <a:latin typeface="Arial" pitchFamily="34" charset="0"/>
                <a:ea typeface="Arial" pitchFamily="34" charset="-122"/>
                <a:cs typeface="Arial" pitchFamily="34" charset="-120"/>
              </a:rPr>
              <a:t>Expansion</a:t>
            </a:r>
            <a:endParaRPr lang="en-US" sz="950" dirty="0"/>
          </a:p>
        </p:txBody>
      </p:sp>
      <p:sp>
        <p:nvSpPr>
          <p:cNvPr id="28" name="Shape 23"/>
          <p:cNvSpPr/>
          <p:nvPr/>
        </p:nvSpPr>
        <p:spPr>
          <a:xfrm>
            <a:off x="566928" y="5029200"/>
            <a:ext cx="11057839" cy="1005840"/>
          </a:xfrm>
          <a:prstGeom prst="roundRect">
            <a:avLst>
              <a:gd name="adj" fmla="val 8182"/>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29" name="Shape 24"/>
          <p:cNvSpPr/>
          <p:nvPr/>
        </p:nvSpPr>
        <p:spPr>
          <a:xfrm>
            <a:off x="886968" y="5212080"/>
            <a:ext cx="384048" cy="384048"/>
          </a:xfrm>
          <a:prstGeom prst="roundRect">
            <a:avLst>
              <a:gd name="adj" fmla="val 16667"/>
            </a:avLst>
          </a:prstGeom>
          <a:solidFill>
            <a:srgbClr val="EAF2FC"/>
          </a:solidFill>
          <a:ln/>
        </p:spPr>
        <p:txBody>
          <a:bodyPr/>
          <a:lstStyle/>
          <a:p>
            <a:endParaRPr lang="de-DE"/>
          </a:p>
        </p:txBody>
      </p:sp>
      <p:pic>
        <p:nvPicPr>
          <p:cNvPr id="30" name="Image 3" descr="preencoded.png"/>
          <p:cNvPicPr>
            <a:picLocks noChangeAspect="1"/>
          </p:cNvPicPr>
          <p:nvPr/>
        </p:nvPicPr>
        <p:blipFill>
          <a:blip r:embed="rId6"/>
          <a:stretch>
            <a:fillRect/>
          </a:stretch>
        </p:blipFill>
        <p:spPr>
          <a:xfrm>
            <a:off x="979140" y="5304252"/>
            <a:ext cx="199705" cy="199705"/>
          </a:xfrm>
          <a:prstGeom prst="rect">
            <a:avLst/>
          </a:prstGeom>
        </p:spPr>
      </p:pic>
      <p:sp>
        <p:nvSpPr>
          <p:cNvPr id="31" name="Text 25"/>
          <p:cNvSpPr/>
          <p:nvPr/>
        </p:nvSpPr>
        <p:spPr>
          <a:xfrm>
            <a:off x="1399032" y="5166360"/>
            <a:ext cx="2905658" cy="777240"/>
          </a:xfrm>
          <a:prstGeom prst="rect">
            <a:avLst/>
          </a:prstGeom>
          <a:noFill/>
          <a:ln/>
        </p:spPr>
        <p:txBody>
          <a:bodyPr wrap="square" lIns="0" tIns="0" rIns="0" bIns="0" rtlCol="0" anchor="ctr"/>
          <a:lstStyle/>
          <a:p>
            <a:pPr marL="0" indent="0">
              <a:lnSpc>
                <a:spcPts val="1250"/>
              </a:lnSpc>
              <a:buNone/>
            </a:pPr>
            <a:r>
              <a:rPr lang="en-US" sz="1030" b="1" dirty="0">
                <a:solidFill>
                  <a:srgbClr val="0F172A"/>
                </a:solidFill>
                <a:latin typeface="Arial" pitchFamily="34" charset="0"/>
                <a:ea typeface="Arial" pitchFamily="34" charset="-122"/>
                <a:cs typeface="Arial" pitchFamily="34" charset="-120"/>
              </a:rPr>
              <a:t>Hohe Bruttomarge  </a:t>
            </a:r>
            <a:r>
              <a:rPr lang="en-US" sz="1030" dirty="0">
                <a:solidFill>
                  <a:srgbClr val="475569"/>
                </a:solidFill>
                <a:latin typeface="Arial" pitchFamily="34" charset="0"/>
                <a:ea typeface="Arial" pitchFamily="34" charset="-122"/>
                <a:cs typeface="Arial" pitchFamily="34" charset="-120"/>
              </a:rPr>
              <a:t>BYOK lagert die teuren KI-Inferenzkosten zum Kunden aus.</a:t>
            </a:r>
            <a:endParaRPr lang="en-US" sz="1030" dirty="0"/>
          </a:p>
        </p:txBody>
      </p:sp>
      <p:sp>
        <p:nvSpPr>
          <p:cNvPr id="32" name="Shape 26"/>
          <p:cNvSpPr/>
          <p:nvPr/>
        </p:nvSpPr>
        <p:spPr>
          <a:xfrm>
            <a:off x="4359554" y="5212080"/>
            <a:ext cx="384048" cy="384048"/>
          </a:xfrm>
          <a:prstGeom prst="roundRect">
            <a:avLst>
              <a:gd name="adj" fmla="val 16667"/>
            </a:avLst>
          </a:prstGeom>
          <a:solidFill>
            <a:srgbClr val="EAF2FC"/>
          </a:solidFill>
          <a:ln/>
        </p:spPr>
        <p:txBody>
          <a:bodyPr/>
          <a:lstStyle/>
          <a:p>
            <a:endParaRPr lang="de-DE"/>
          </a:p>
        </p:txBody>
      </p:sp>
      <p:pic>
        <p:nvPicPr>
          <p:cNvPr id="33" name="Image 4" descr="preencoded.png"/>
          <p:cNvPicPr>
            <a:picLocks noChangeAspect="1"/>
          </p:cNvPicPr>
          <p:nvPr/>
        </p:nvPicPr>
        <p:blipFill>
          <a:blip r:embed="rId7"/>
          <a:stretch>
            <a:fillRect/>
          </a:stretch>
        </p:blipFill>
        <p:spPr>
          <a:xfrm>
            <a:off x="4451726" y="5304252"/>
            <a:ext cx="199705" cy="199705"/>
          </a:xfrm>
          <a:prstGeom prst="rect">
            <a:avLst/>
          </a:prstGeom>
        </p:spPr>
      </p:pic>
      <p:sp>
        <p:nvSpPr>
          <p:cNvPr id="34" name="Text 27"/>
          <p:cNvSpPr/>
          <p:nvPr/>
        </p:nvSpPr>
        <p:spPr>
          <a:xfrm>
            <a:off x="4871618" y="5166360"/>
            <a:ext cx="2905658" cy="777240"/>
          </a:xfrm>
          <a:prstGeom prst="rect">
            <a:avLst/>
          </a:prstGeom>
          <a:noFill/>
          <a:ln/>
        </p:spPr>
        <p:txBody>
          <a:bodyPr wrap="square" lIns="0" tIns="0" rIns="0" bIns="0" rtlCol="0" anchor="ctr"/>
          <a:lstStyle/>
          <a:p>
            <a:pPr marL="0" indent="0">
              <a:lnSpc>
                <a:spcPts val="1250"/>
              </a:lnSpc>
              <a:buNone/>
            </a:pPr>
            <a:r>
              <a:rPr lang="en-US" sz="1030" b="1" dirty="0">
                <a:solidFill>
                  <a:srgbClr val="0F172A"/>
                </a:solidFill>
                <a:latin typeface="Arial" pitchFamily="34" charset="0"/>
                <a:ea typeface="Arial" pitchFamily="34" charset="-122"/>
                <a:cs typeface="Arial" pitchFamily="34" charset="-120"/>
              </a:rPr>
              <a:t>Eingebaute Expansion  </a:t>
            </a:r>
            <a:r>
              <a:rPr lang="en-US" sz="1030" dirty="0">
                <a:solidFill>
                  <a:srgbClr val="475569"/>
                </a:solidFill>
                <a:latin typeface="Arial" pitchFamily="34" charset="0"/>
                <a:ea typeface="Arial" pitchFamily="34" charset="-122"/>
                <a:cs typeface="Arial" pitchFamily="34" charset="-120"/>
              </a:rPr>
              <a:t>Umsatz wächst mit Poolgröße und Teamgröße – ohne neue Akquise.</a:t>
            </a:r>
            <a:endParaRPr lang="en-US" sz="1030" dirty="0"/>
          </a:p>
        </p:txBody>
      </p:sp>
      <p:sp>
        <p:nvSpPr>
          <p:cNvPr id="35" name="Shape 28"/>
          <p:cNvSpPr/>
          <p:nvPr/>
        </p:nvSpPr>
        <p:spPr>
          <a:xfrm>
            <a:off x="7832141" y="5212080"/>
            <a:ext cx="384048" cy="384048"/>
          </a:xfrm>
          <a:prstGeom prst="roundRect">
            <a:avLst>
              <a:gd name="adj" fmla="val 16667"/>
            </a:avLst>
          </a:prstGeom>
          <a:solidFill>
            <a:srgbClr val="EAF2FC"/>
          </a:solidFill>
          <a:ln/>
        </p:spPr>
        <p:txBody>
          <a:bodyPr/>
          <a:lstStyle/>
          <a:p>
            <a:endParaRPr lang="de-DE"/>
          </a:p>
        </p:txBody>
      </p:sp>
      <p:pic>
        <p:nvPicPr>
          <p:cNvPr id="36" name="Image 5" descr="preencoded.png"/>
          <p:cNvPicPr>
            <a:picLocks noChangeAspect="1"/>
          </p:cNvPicPr>
          <p:nvPr/>
        </p:nvPicPr>
        <p:blipFill>
          <a:blip r:embed="rId8"/>
          <a:stretch>
            <a:fillRect/>
          </a:stretch>
        </p:blipFill>
        <p:spPr>
          <a:xfrm>
            <a:off x="7924312" y="5304252"/>
            <a:ext cx="199705" cy="199705"/>
          </a:xfrm>
          <a:prstGeom prst="rect">
            <a:avLst/>
          </a:prstGeom>
        </p:spPr>
      </p:pic>
      <p:sp>
        <p:nvSpPr>
          <p:cNvPr id="37" name="Text 29"/>
          <p:cNvSpPr/>
          <p:nvPr/>
        </p:nvSpPr>
        <p:spPr>
          <a:xfrm>
            <a:off x="8344205" y="5166360"/>
            <a:ext cx="2905658" cy="777240"/>
          </a:xfrm>
          <a:prstGeom prst="rect">
            <a:avLst/>
          </a:prstGeom>
          <a:noFill/>
          <a:ln/>
        </p:spPr>
        <p:txBody>
          <a:bodyPr wrap="square" lIns="0" tIns="0" rIns="0" bIns="0" rtlCol="0" anchor="ctr"/>
          <a:lstStyle/>
          <a:p>
            <a:pPr marL="0" indent="0">
              <a:lnSpc>
                <a:spcPts val="1250"/>
              </a:lnSpc>
              <a:buNone/>
            </a:pPr>
            <a:r>
              <a:rPr lang="en-US" sz="1030" b="1" dirty="0">
                <a:solidFill>
                  <a:srgbClr val="0F172A"/>
                </a:solidFill>
                <a:latin typeface="Arial" pitchFamily="34" charset="0"/>
                <a:ea typeface="Arial" pitchFamily="34" charset="-122"/>
                <a:cs typeface="Arial" pitchFamily="34" charset="-120"/>
              </a:rPr>
              <a:t>Niedrige Akquisekosten  </a:t>
            </a:r>
            <a:r>
              <a:rPr lang="en-US" sz="1030" dirty="0">
                <a:solidFill>
                  <a:srgbClr val="475569"/>
                </a:solidFill>
                <a:latin typeface="Arial" pitchFamily="34" charset="0"/>
                <a:ea typeface="Arial" pitchFamily="34" charset="-122"/>
                <a:cs typeface="Arial" pitchFamily="34" charset="-120"/>
              </a:rPr>
              <a:t>Enger Vertical-Fokus &amp; Empfehlungen in einer vernetzten Branche.</a:t>
            </a:r>
            <a:endParaRPr lang="en-US" sz="1030" dirty="0"/>
          </a:p>
        </p:txBody>
      </p:sp>
      <p:sp>
        <p:nvSpPr>
          <p:cNvPr id="38" name="Text 30"/>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9" name="Text 31"/>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09 / 14</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TRAGFÄHIGKEIT</a:t>
            </a:r>
            <a:endParaRPr lang="en-US" sz="1150" dirty="0"/>
          </a:p>
        </p:txBody>
      </p:sp>
      <p:sp>
        <p:nvSpPr>
          <p:cNvPr id="3" name="Text 1"/>
          <p:cNvSpPr/>
          <p:nvPr/>
        </p:nvSpPr>
        <p:spPr>
          <a:xfrm>
            <a:off x="566928" y="868680"/>
            <a:ext cx="10972800" cy="868680"/>
          </a:xfrm>
          <a:prstGeom prst="rect">
            <a:avLst/>
          </a:prstGeom>
          <a:noFill/>
          <a:ln/>
        </p:spPr>
        <p:txBody>
          <a:bodyPr wrap="square" lIns="0" tIns="0" rIns="0" bIns="0" rtlCol="0" anchor="ctr"/>
          <a:lstStyle/>
          <a:p>
            <a:pPr marL="0" indent="0" algn="l">
              <a:lnSpc>
                <a:spcPts val="2730"/>
              </a:lnSpc>
              <a:buNone/>
            </a:pPr>
            <a:r>
              <a:rPr lang="en-US" sz="2600" b="1" dirty="0">
                <a:solidFill>
                  <a:srgbClr val="0F172A"/>
                </a:solidFill>
                <a:latin typeface="Arial" pitchFamily="34" charset="0"/>
                <a:ea typeface="Arial" pitchFamily="34" charset="-122"/>
                <a:cs typeface="Arial" pitchFamily="34" charset="-120"/>
              </a:rPr>
              <a:t>Konservativer Pfad zu </a:t>
            </a:r>
            <a:r>
              <a:rPr lang="en-US" sz="2600" b="1" dirty="0">
                <a:solidFill>
                  <a:srgbClr val="2976D6"/>
                </a:solidFill>
                <a:latin typeface="Arial" pitchFamily="34" charset="0"/>
                <a:ea typeface="Arial" pitchFamily="34" charset="-122"/>
                <a:cs typeface="Arial" pitchFamily="34" charset="-120"/>
              </a:rPr>
              <a:t>wiederkehrendem Umsatz.</a:t>
            </a:r>
            <a:endParaRPr lang="en-US" sz="2600" dirty="0"/>
          </a:p>
        </p:txBody>
      </p:sp>
      <p:graphicFrame>
        <p:nvGraphicFramePr>
          <p:cNvPr id="4" name="Chart 0"/>
          <p:cNvGraphicFramePr/>
          <p:nvPr/>
        </p:nvGraphicFramePr>
        <p:xfrm>
          <a:off x="566928" y="2148840"/>
          <a:ext cx="61264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196328" y="2148840"/>
            <a:ext cx="4428439" cy="1783080"/>
          </a:xfrm>
          <a:prstGeom prst="roundRect">
            <a:avLst>
              <a:gd name="adj" fmla="val 4615"/>
            </a:avLst>
          </a:prstGeom>
          <a:solidFill>
            <a:srgbClr val="F6F8FC"/>
          </a:solidFill>
          <a:ln w="12700">
            <a:solidFill>
              <a:srgbClr val="E7EBF1"/>
            </a:solidFill>
            <a:prstDash val="solid"/>
          </a:ln>
        </p:spPr>
        <p:txBody>
          <a:bodyPr/>
          <a:lstStyle/>
          <a:p>
            <a:endParaRPr lang="de-DE"/>
          </a:p>
        </p:txBody>
      </p:sp>
      <p:sp>
        <p:nvSpPr>
          <p:cNvPr id="6" name="Text 3"/>
          <p:cNvSpPr/>
          <p:nvPr/>
        </p:nvSpPr>
        <p:spPr>
          <a:xfrm>
            <a:off x="7470648" y="2331720"/>
            <a:ext cx="3879799" cy="274320"/>
          </a:xfrm>
          <a:prstGeom prst="rect">
            <a:avLst/>
          </a:prstGeom>
          <a:noFill/>
          <a:ln/>
        </p:spPr>
        <p:txBody>
          <a:bodyPr wrap="square" lIns="0" tIns="0" rIns="0" bIns="0" rtlCol="0" anchor="ctr"/>
          <a:lstStyle/>
          <a:p>
            <a:pPr marL="0" indent="0">
              <a:buNone/>
            </a:pPr>
            <a:r>
              <a:rPr lang="en-US" sz="1300" b="1" dirty="0">
                <a:solidFill>
                  <a:srgbClr val="0F172A"/>
                </a:solidFill>
                <a:latin typeface="Arial" pitchFamily="34" charset="0"/>
                <a:ea typeface="Arial" pitchFamily="34" charset="-122"/>
                <a:cs typeface="Arial" pitchFamily="34" charset="-120"/>
              </a:rPr>
              <a:t>Kennzahlen je Kunde</a:t>
            </a:r>
            <a:endParaRPr lang="en-US" sz="1300" dirty="0"/>
          </a:p>
        </p:txBody>
      </p:sp>
      <p:sp>
        <p:nvSpPr>
          <p:cNvPr id="7" name="Text 4"/>
          <p:cNvSpPr/>
          <p:nvPr/>
        </p:nvSpPr>
        <p:spPr>
          <a:xfrm>
            <a:off x="7470648" y="2697480"/>
            <a:ext cx="1828800" cy="365760"/>
          </a:xfrm>
          <a:prstGeom prst="rect">
            <a:avLst/>
          </a:prstGeom>
          <a:noFill/>
          <a:ln/>
        </p:spPr>
        <p:txBody>
          <a:bodyPr wrap="square" lIns="0" tIns="0" rIns="0" bIns="0" rtlCol="0" anchor="ctr"/>
          <a:lstStyle/>
          <a:p>
            <a:pPr marL="0" indent="0">
              <a:buNone/>
            </a:pPr>
            <a:r>
              <a:rPr lang="en-US" sz="1800" b="1" dirty="0">
                <a:solidFill>
                  <a:srgbClr val="2976D6"/>
                </a:solidFill>
                <a:latin typeface="Arial" pitchFamily="34" charset="0"/>
                <a:ea typeface="Arial" pitchFamily="34" charset="-122"/>
                <a:cs typeface="Arial" pitchFamily="34" charset="-120"/>
              </a:rPr>
              <a:t>~ 3.000 €</a:t>
            </a:r>
            <a:endParaRPr lang="en-US" sz="1800" dirty="0"/>
          </a:p>
        </p:txBody>
      </p:sp>
      <p:sp>
        <p:nvSpPr>
          <p:cNvPr id="8" name="Text 5"/>
          <p:cNvSpPr/>
          <p:nvPr/>
        </p:nvSpPr>
        <p:spPr>
          <a:xfrm>
            <a:off x="9390888" y="2697480"/>
            <a:ext cx="1959559" cy="365760"/>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Ø Jahresumsatz (ARPA)</a:t>
            </a:r>
            <a:endParaRPr lang="en-US" sz="1050" dirty="0"/>
          </a:p>
        </p:txBody>
      </p:sp>
      <p:sp>
        <p:nvSpPr>
          <p:cNvPr id="9" name="Text 6"/>
          <p:cNvSpPr/>
          <p:nvPr/>
        </p:nvSpPr>
        <p:spPr>
          <a:xfrm>
            <a:off x="7470648" y="3099816"/>
            <a:ext cx="1828800" cy="365760"/>
          </a:xfrm>
          <a:prstGeom prst="rect">
            <a:avLst/>
          </a:prstGeom>
          <a:noFill/>
          <a:ln/>
        </p:spPr>
        <p:txBody>
          <a:bodyPr wrap="square" lIns="0" tIns="0" rIns="0" bIns="0" rtlCol="0" anchor="ctr"/>
          <a:lstStyle/>
          <a:p>
            <a:pPr marL="0" indent="0">
              <a:buNone/>
            </a:pPr>
            <a:r>
              <a:rPr lang="en-US" sz="1800" b="1" dirty="0">
                <a:solidFill>
                  <a:srgbClr val="2976D6"/>
                </a:solidFill>
                <a:latin typeface="Arial" pitchFamily="34" charset="0"/>
                <a:ea typeface="Arial" pitchFamily="34" charset="-122"/>
                <a:cs typeface="Arial" pitchFamily="34" charset="-120"/>
              </a:rPr>
              <a:t>~ 85 %</a:t>
            </a:r>
            <a:endParaRPr lang="en-US" sz="1800" dirty="0"/>
          </a:p>
        </p:txBody>
      </p:sp>
      <p:sp>
        <p:nvSpPr>
          <p:cNvPr id="10" name="Text 7"/>
          <p:cNvSpPr/>
          <p:nvPr/>
        </p:nvSpPr>
        <p:spPr>
          <a:xfrm>
            <a:off x="9390888" y="3099816"/>
            <a:ext cx="1959559" cy="365760"/>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Bruttomarge (dank BYOK)</a:t>
            </a:r>
            <a:endParaRPr lang="en-US" sz="1050" dirty="0"/>
          </a:p>
        </p:txBody>
      </p:sp>
      <p:sp>
        <p:nvSpPr>
          <p:cNvPr id="11" name="Text 8"/>
          <p:cNvSpPr/>
          <p:nvPr/>
        </p:nvSpPr>
        <p:spPr>
          <a:xfrm>
            <a:off x="7470648" y="3502152"/>
            <a:ext cx="1828800" cy="365760"/>
          </a:xfrm>
          <a:prstGeom prst="rect">
            <a:avLst/>
          </a:prstGeom>
          <a:noFill/>
          <a:ln/>
        </p:spPr>
        <p:txBody>
          <a:bodyPr wrap="square" lIns="0" tIns="0" rIns="0" bIns="0" rtlCol="0" anchor="ctr"/>
          <a:lstStyle/>
          <a:p>
            <a:pPr marL="0" indent="0">
              <a:buNone/>
            </a:pPr>
            <a:r>
              <a:rPr lang="en-US" sz="1800" b="1" dirty="0">
                <a:solidFill>
                  <a:srgbClr val="2976D6"/>
                </a:solidFill>
                <a:latin typeface="Arial" pitchFamily="34" charset="0"/>
                <a:ea typeface="Arial" pitchFamily="34" charset="-122"/>
                <a:cs typeface="Arial" pitchFamily="34" charset="-120"/>
              </a:rPr>
              <a:t>~ 120</a:t>
            </a:r>
            <a:endParaRPr lang="en-US" sz="1800" dirty="0"/>
          </a:p>
        </p:txBody>
      </p:sp>
      <p:sp>
        <p:nvSpPr>
          <p:cNvPr id="12" name="Text 9"/>
          <p:cNvSpPr/>
          <p:nvPr/>
        </p:nvSpPr>
        <p:spPr>
          <a:xfrm>
            <a:off x="9390888" y="3502152"/>
            <a:ext cx="1959559" cy="365760"/>
          </a:xfrm>
          <a:prstGeom prst="rect">
            <a:avLst/>
          </a:prstGeom>
          <a:noFill/>
          <a:ln/>
        </p:spPr>
        <p:txBody>
          <a:bodyPr wrap="square" lIns="0" tIns="0" rIns="0" bIns="0" rtlCol="0" anchor="ctr"/>
          <a:lstStyle/>
          <a:p>
            <a:pPr marL="0" indent="0">
              <a:buNone/>
            </a:pPr>
            <a:r>
              <a:rPr lang="en-US" sz="1050" dirty="0">
                <a:solidFill>
                  <a:srgbClr val="475569"/>
                </a:solidFill>
                <a:latin typeface="Arial" pitchFamily="34" charset="0"/>
                <a:ea typeface="Arial" pitchFamily="34" charset="-122"/>
                <a:cs typeface="Arial" pitchFamily="34" charset="-120"/>
              </a:rPr>
              <a:t>zahlende Kunden in Jahr 3</a:t>
            </a:r>
            <a:endParaRPr lang="en-US" sz="1050" dirty="0"/>
          </a:p>
        </p:txBody>
      </p:sp>
      <p:sp>
        <p:nvSpPr>
          <p:cNvPr id="13" name="Shape 10"/>
          <p:cNvSpPr/>
          <p:nvPr/>
        </p:nvSpPr>
        <p:spPr>
          <a:xfrm>
            <a:off x="7196328" y="4069080"/>
            <a:ext cx="4428439" cy="1463040"/>
          </a:xfrm>
          <a:prstGeom prst="roundRect">
            <a:avLst>
              <a:gd name="adj" fmla="val 5625"/>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4" name="Text 11"/>
          <p:cNvSpPr/>
          <p:nvPr/>
        </p:nvSpPr>
        <p:spPr>
          <a:xfrm>
            <a:off x="7470648" y="4206240"/>
            <a:ext cx="3879799" cy="274320"/>
          </a:xfrm>
          <a:prstGeom prst="rect">
            <a:avLst/>
          </a:prstGeom>
          <a:noFill/>
          <a:ln/>
        </p:spPr>
        <p:txBody>
          <a:bodyPr wrap="square" lIns="0" tIns="0" rIns="0" bIns="0" rtlCol="0" anchor="ctr"/>
          <a:lstStyle/>
          <a:p>
            <a:pPr marL="0" indent="0">
              <a:buNone/>
            </a:pPr>
            <a:r>
              <a:rPr lang="en-US" sz="1200" b="1" dirty="0">
                <a:solidFill>
                  <a:srgbClr val="0F172A"/>
                </a:solidFill>
                <a:latin typeface="Arial" pitchFamily="34" charset="0"/>
                <a:ea typeface="Arial" pitchFamily="34" charset="-122"/>
                <a:cs typeface="Arial" pitchFamily="34" charset="-120"/>
              </a:rPr>
              <a:t>Annahmen</a:t>
            </a:r>
            <a:endParaRPr lang="en-US" sz="1200" dirty="0"/>
          </a:p>
        </p:txBody>
      </p:sp>
      <p:sp>
        <p:nvSpPr>
          <p:cNvPr id="15" name="Text 12"/>
          <p:cNvSpPr/>
          <p:nvPr/>
        </p:nvSpPr>
        <p:spPr>
          <a:xfrm>
            <a:off x="7488936" y="4526280"/>
            <a:ext cx="3879799" cy="914400"/>
          </a:xfrm>
          <a:prstGeom prst="rect">
            <a:avLst/>
          </a:prstGeom>
          <a:noFill/>
          <a:ln/>
        </p:spPr>
        <p:txBody>
          <a:bodyPr wrap="square" lIns="0" tIns="0" rIns="0" bIns="0" rtlCol="0" anchor="ctr"/>
          <a:lstStyle/>
          <a:p>
            <a:pPr marL="152400" indent="-152400">
              <a:lnSpc>
                <a:spcPts val="1300"/>
              </a:lnSpc>
              <a:spcAft>
                <a:spcPts val="400"/>
              </a:spcAft>
              <a:buSzPct val="100000"/>
              <a:buChar char="•"/>
            </a:pPr>
            <a:r>
              <a:rPr lang="en-US" sz="1030" dirty="0">
                <a:solidFill>
                  <a:srgbClr val="475569"/>
                </a:solidFill>
                <a:latin typeface="Arial" pitchFamily="34" charset="0"/>
                <a:ea typeface="Arial" pitchFamily="34" charset="-122"/>
                <a:cs typeface="Arial" pitchFamily="34" charset="-120"/>
              </a:rPr>
              <a:t>Bottom-up, DACH-Fokus, ohne Fremdkapital gerechnet</a:t>
            </a:r>
            <a:endParaRPr lang="en-US" sz="1030" dirty="0"/>
          </a:p>
          <a:p>
            <a:pPr marL="152400" indent="-152400">
              <a:lnSpc>
                <a:spcPts val="1300"/>
              </a:lnSpc>
              <a:spcAft>
                <a:spcPts val="400"/>
              </a:spcAft>
              <a:buSzPct val="100000"/>
              <a:buChar char="•"/>
            </a:pPr>
            <a:r>
              <a:rPr lang="en-US" sz="1030" dirty="0">
                <a:solidFill>
                  <a:srgbClr val="475569"/>
                </a:solidFill>
                <a:latin typeface="Arial" pitchFamily="34" charset="0"/>
                <a:ea typeface="Arial" pitchFamily="34" charset="-122"/>
                <a:cs typeface="Arial" pitchFamily="34" charset="-120"/>
              </a:rPr>
              <a:t>Geringe Fixkosten: Solo-Gründung, EU-Cloud, BYOK</a:t>
            </a:r>
            <a:endParaRPr lang="en-US" sz="1030" dirty="0"/>
          </a:p>
          <a:p>
            <a:pPr marL="152400" indent="-152400">
              <a:lnSpc>
                <a:spcPts val="1300"/>
              </a:lnSpc>
              <a:buSzPct val="100000"/>
              <a:buChar char="•"/>
            </a:pPr>
            <a:r>
              <a:rPr lang="en-US" sz="1030" dirty="0">
                <a:solidFill>
                  <a:srgbClr val="475569"/>
                </a:solidFill>
                <a:latin typeface="Arial" pitchFamily="34" charset="0"/>
                <a:ea typeface="Arial" pitchFamily="34" charset="-122"/>
                <a:cs typeface="Arial" pitchFamily="34" charset="-120"/>
              </a:rPr>
              <a:t>Wachstum über Empfehlung &amp; Vertical-Vertrieb</a:t>
            </a:r>
            <a:endParaRPr lang="en-US" sz="1030" dirty="0"/>
          </a:p>
        </p:txBody>
      </p:sp>
      <p:sp>
        <p:nvSpPr>
          <p:cNvPr id="16" name="Text 13"/>
          <p:cNvSpPr/>
          <p:nvPr/>
        </p:nvSpPr>
        <p:spPr>
          <a:xfrm>
            <a:off x="566928" y="5943600"/>
            <a:ext cx="11057839" cy="365760"/>
          </a:xfrm>
          <a:prstGeom prst="rect">
            <a:avLst/>
          </a:prstGeom>
          <a:noFill/>
          <a:ln/>
        </p:spPr>
        <p:txBody>
          <a:bodyPr wrap="square" lIns="0" tIns="0" rIns="0" bIns="0" rtlCol="0" anchor="ctr"/>
          <a:lstStyle/>
          <a:p>
            <a:pPr marL="0" indent="0">
              <a:lnSpc>
                <a:spcPts val="1200"/>
              </a:lnSpc>
              <a:buNone/>
            </a:pPr>
            <a:r>
              <a:rPr lang="en-US" sz="950" i="1" dirty="0">
                <a:solidFill>
                  <a:srgbClr val="7C8AA0"/>
                </a:solidFill>
                <a:latin typeface="Arial" pitchFamily="34" charset="0"/>
                <a:ea typeface="Arial" pitchFamily="34" charset="-122"/>
                <a:cs typeface="Arial" pitchFamily="34" charset="-120"/>
              </a:rPr>
              <a:t>Illustrative Hochrechnung – Annahmen, keine garantierten Werte. Break-even bereits bei niedriger zweistelliger Kundenzahl durch schlanke Kostenbasis.</a:t>
            </a:r>
            <a:endParaRPr lang="en-US" sz="950" dirty="0"/>
          </a:p>
        </p:txBody>
      </p:sp>
      <p:sp>
        <p:nvSpPr>
          <p:cNvPr id="17" name="Text 14"/>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18" name="Text 15"/>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10 / 14</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C"/>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NACHHALTIGKEIT &amp; IMPACT</a:t>
            </a:r>
            <a:endParaRPr lang="en-US" sz="1150" dirty="0"/>
          </a:p>
        </p:txBody>
      </p:sp>
      <p:sp>
        <p:nvSpPr>
          <p:cNvPr id="3" name="Text 1"/>
          <p:cNvSpPr/>
          <p:nvPr/>
        </p:nvSpPr>
        <p:spPr>
          <a:xfrm>
            <a:off x="566928" y="868680"/>
            <a:ext cx="11155680" cy="868680"/>
          </a:xfrm>
          <a:prstGeom prst="rect">
            <a:avLst/>
          </a:prstGeom>
          <a:noFill/>
          <a:ln/>
        </p:spPr>
        <p:txBody>
          <a:bodyPr wrap="square" lIns="0" tIns="0" rIns="0" bIns="0" rtlCol="0" anchor="ctr"/>
          <a:lstStyle/>
          <a:p>
            <a:pPr marL="0" indent="0" algn="l">
              <a:lnSpc>
                <a:spcPts val="2625"/>
              </a:lnSpc>
              <a:buNone/>
            </a:pPr>
            <a:r>
              <a:rPr lang="en-US" sz="2500" b="1" dirty="0">
                <a:solidFill>
                  <a:srgbClr val="0F172A"/>
                </a:solidFill>
                <a:latin typeface="Arial" pitchFamily="34" charset="0"/>
                <a:ea typeface="Arial" pitchFamily="34" charset="-122"/>
                <a:cs typeface="Arial" pitchFamily="34" charset="-120"/>
              </a:rPr>
              <a:t>Fairer, transparenter und </a:t>
            </a:r>
            <a:r>
              <a:rPr lang="en-US" sz="2500" b="1" dirty="0">
                <a:solidFill>
                  <a:srgbClr val="16A34A"/>
                </a:solidFill>
                <a:latin typeface="Arial" pitchFamily="34" charset="0"/>
                <a:ea typeface="Arial" pitchFamily="34" charset="-122"/>
                <a:cs typeface="Arial" pitchFamily="34" charset="-120"/>
              </a:rPr>
              <a:t>ressourcenschonender</a:t>
            </a:r>
            <a:r>
              <a:rPr lang="en-US" sz="2500" b="1" dirty="0">
                <a:solidFill>
                  <a:srgbClr val="0F172A"/>
                </a:solidFill>
                <a:latin typeface="Arial" pitchFamily="34" charset="0"/>
                <a:ea typeface="Arial" pitchFamily="34" charset="-122"/>
                <a:cs typeface="Arial" pitchFamily="34" charset="-120"/>
              </a:rPr>
              <a:t> vermitteln.</a:t>
            </a:r>
            <a:endParaRPr lang="en-US" sz="2500" dirty="0"/>
          </a:p>
        </p:txBody>
      </p:sp>
      <p:sp>
        <p:nvSpPr>
          <p:cNvPr id="4" name="Shape 2"/>
          <p:cNvSpPr/>
          <p:nvPr/>
        </p:nvSpPr>
        <p:spPr>
          <a:xfrm>
            <a:off x="566928" y="2286000"/>
            <a:ext cx="5346040" cy="1627632"/>
          </a:xfrm>
          <a:prstGeom prst="roundRect">
            <a:avLst>
              <a:gd name="adj" fmla="val 505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5" name="Shape 3"/>
          <p:cNvSpPr/>
          <p:nvPr/>
        </p:nvSpPr>
        <p:spPr>
          <a:xfrm>
            <a:off x="841248" y="2560320"/>
            <a:ext cx="475488" cy="475488"/>
          </a:xfrm>
          <a:prstGeom prst="roundRect">
            <a:avLst>
              <a:gd name="adj" fmla="val 13462"/>
            </a:avLst>
          </a:prstGeom>
          <a:solidFill>
            <a:srgbClr val="E7F8EE"/>
          </a:solidFill>
          <a:ln/>
        </p:spPr>
        <p:txBody>
          <a:bodyPr/>
          <a:lstStyle/>
          <a:p>
            <a:endParaRPr lang="de-DE"/>
          </a:p>
        </p:txBody>
      </p:sp>
      <p:pic>
        <p:nvPicPr>
          <p:cNvPr id="6" name="Image 0" descr="preencoded.png"/>
          <p:cNvPicPr>
            <a:picLocks noChangeAspect="1"/>
          </p:cNvPicPr>
          <p:nvPr/>
        </p:nvPicPr>
        <p:blipFill>
          <a:blip r:embed="rId3"/>
          <a:stretch>
            <a:fillRect/>
          </a:stretch>
        </p:blipFill>
        <p:spPr>
          <a:xfrm>
            <a:off x="955365" y="2674437"/>
            <a:ext cx="247254" cy="247254"/>
          </a:xfrm>
          <a:prstGeom prst="rect">
            <a:avLst/>
          </a:prstGeom>
        </p:spPr>
      </p:pic>
      <p:sp>
        <p:nvSpPr>
          <p:cNvPr id="7" name="Text 4"/>
          <p:cNvSpPr/>
          <p:nvPr/>
        </p:nvSpPr>
        <p:spPr>
          <a:xfrm>
            <a:off x="1444752" y="2542032"/>
            <a:ext cx="3151480" cy="548640"/>
          </a:xfrm>
          <a:prstGeom prst="rect">
            <a:avLst/>
          </a:prstGeom>
          <a:noFill/>
          <a:ln/>
        </p:spPr>
        <p:txBody>
          <a:bodyPr wrap="square" lIns="0" tIns="0" rIns="0" bIns="0" rtlCol="0" anchor="ctr"/>
          <a:lstStyle/>
          <a:p>
            <a:pPr marL="0" indent="0">
              <a:lnSpc>
                <a:spcPts val="1500"/>
              </a:lnSpc>
              <a:buNone/>
            </a:pPr>
            <a:r>
              <a:rPr lang="en-US" sz="1350" b="1" dirty="0">
                <a:solidFill>
                  <a:srgbClr val="0F172A"/>
                </a:solidFill>
                <a:latin typeface="Arial" pitchFamily="34" charset="0"/>
                <a:ea typeface="Arial" pitchFamily="34" charset="-122"/>
                <a:cs typeface="Arial" pitchFamily="34" charset="-120"/>
              </a:rPr>
              <a:t>Weniger Bias durch Anonymisierung</a:t>
            </a:r>
            <a:endParaRPr lang="en-US" sz="1350" dirty="0"/>
          </a:p>
        </p:txBody>
      </p:sp>
      <p:sp>
        <p:nvSpPr>
          <p:cNvPr id="8" name="Text 5"/>
          <p:cNvSpPr/>
          <p:nvPr/>
        </p:nvSpPr>
        <p:spPr>
          <a:xfrm>
            <a:off x="841248" y="3127248"/>
            <a:ext cx="4797400" cy="685800"/>
          </a:xfrm>
          <a:prstGeom prst="rect">
            <a:avLst/>
          </a:prstGeom>
          <a:noFill/>
          <a:ln/>
        </p:spPr>
        <p:txBody>
          <a:bodyPr wrap="square" lIns="0" tIns="0" rIns="0" bIns="0" rtlCol="0" anchor="ctr"/>
          <a:lstStyle/>
          <a:p>
            <a:pPr marL="0" indent="0">
              <a:lnSpc>
                <a:spcPts val="1300"/>
              </a:lnSpc>
              <a:buNone/>
            </a:pPr>
            <a:r>
              <a:rPr lang="en-US" sz="1060" dirty="0">
                <a:solidFill>
                  <a:srgbClr val="475569"/>
                </a:solidFill>
                <a:latin typeface="Arial" pitchFamily="34" charset="0"/>
                <a:ea typeface="Arial" pitchFamily="34" charset="-122"/>
                <a:cs typeface="Arial" pitchFamily="34" charset="-120"/>
              </a:rPr>
              <a:t>Der Profiling Agent erstellt anonymisierte Profile – die Vorauswahl orientiert sich an Qualifikation statt an Name, Foto oder Herkunft.</a:t>
            </a:r>
            <a:endParaRPr lang="en-US" sz="1060" dirty="0"/>
          </a:p>
        </p:txBody>
      </p:sp>
      <p:sp>
        <p:nvSpPr>
          <p:cNvPr id="9" name="Shape 6"/>
          <p:cNvSpPr/>
          <p:nvPr/>
        </p:nvSpPr>
        <p:spPr>
          <a:xfrm>
            <a:off x="4495648" y="2560320"/>
            <a:ext cx="1143000" cy="310896"/>
          </a:xfrm>
          <a:prstGeom prst="roundRect">
            <a:avLst>
              <a:gd name="adj" fmla="val 50000"/>
            </a:avLst>
          </a:prstGeom>
          <a:solidFill>
            <a:srgbClr val="E7F8EE"/>
          </a:solidFill>
          <a:ln/>
        </p:spPr>
        <p:txBody>
          <a:bodyPr/>
          <a:lstStyle/>
          <a:p>
            <a:endParaRPr lang="de-DE"/>
          </a:p>
        </p:txBody>
      </p:sp>
      <p:sp>
        <p:nvSpPr>
          <p:cNvPr id="10" name="Text 7"/>
          <p:cNvSpPr/>
          <p:nvPr/>
        </p:nvSpPr>
        <p:spPr>
          <a:xfrm>
            <a:off x="4495648" y="2560320"/>
            <a:ext cx="1143000" cy="310896"/>
          </a:xfrm>
          <a:prstGeom prst="rect">
            <a:avLst/>
          </a:prstGeom>
          <a:noFill/>
          <a:ln/>
        </p:spPr>
        <p:txBody>
          <a:bodyPr wrap="square" lIns="0" tIns="0" rIns="0" bIns="0" rtlCol="0" anchor="ctr"/>
          <a:lstStyle/>
          <a:p>
            <a:pPr marL="0" indent="0" algn="ctr">
              <a:buNone/>
            </a:pPr>
            <a:r>
              <a:rPr lang="en-US" sz="950" b="1" dirty="0">
                <a:solidFill>
                  <a:srgbClr val="16A34A"/>
                </a:solidFill>
                <a:latin typeface="Arial" pitchFamily="34" charset="0"/>
                <a:ea typeface="Arial" pitchFamily="34" charset="-122"/>
                <a:cs typeface="Arial" pitchFamily="34" charset="-120"/>
              </a:rPr>
              <a:t>SDG 5 · 10</a:t>
            </a:r>
            <a:endParaRPr lang="en-US" sz="950" dirty="0"/>
          </a:p>
        </p:txBody>
      </p:sp>
      <p:sp>
        <p:nvSpPr>
          <p:cNvPr id="11" name="Shape 8"/>
          <p:cNvSpPr/>
          <p:nvPr/>
        </p:nvSpPr>
        <p:spPr>
          <a:xfrm>
            <a:off x="6278728" y="2286000"/>
            <a:ext cx="5346040" cy="1627632"/>
          </a:xfrm>
          <a:prstGeom prst="roundRect">
            <a:avLst>
              <a:gd name="adj" fmla="val 505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2" name="Shape 9"/>
          <p:cNvSpPr/>
          <p:nvPr/>
        </p:nvSpPr>
        <p:spPr>
          <a:xfrm>
            <a:off x="6553048" y="2560320"/>
            <a:ext cx="475488" cy="475488"/>
          </a:xfrm>
          <a:prstGeom prst="roundRect">
            <a:avLst>
              <a:gd name="adj" fmla="val 13462"/>
            </a:avLst>
          </a:prstGeom>
          <a:solidFill>
            <a:srgbClr val="E7F8EE"/>
          </a:solidFill>
          <a:ln/>
        </p:spPr>
        <p:txBody>
          <a:bodyPr/>
          <a:lstStyle/>
          <a:p>
            <a:endParaRPr lang="de-DE"/>
          </a:p>
        </p:txBody>
      </p:sp>
      <p:pic>
        <p:nvPicPr>
          <p:cNvPr id="13" name="Image 1" descr="preencoded.png"/>
          <p:cNvPicPr>
            <a:picLocks noChangeAspect="1"/>
          </p:cNvPicPr>
          <p:nvPr/>
        </p:nvPicPr>
        <p:blipFill>
          <a:blip r:embed="rId4"/>
          <a:stretch>
            <a:fillRect/>
          </a:stretch>
        </p:blipFill>
        <p:spPr>
          <a:xfrm>
            <a:off x="6667165" y="2674437"/>
            <a:ext cx="247254" cy="247254"/>
          </a:xfrm>
          <a:prstGeom prst="rect">
            <a:avLst/>
          </a:prstGeom>
        </p:spPr>
      </p:pic>
      <p:sp>
        <p:nvSpPr>
          <p:cNvPr id="14" name="Text 10"/>
          <p:cNvSpPr/>
          <p:nvPr/>
        </p:nvSpPr>
        <p:spPr>
          <a:xfrm>
            <a:off x="7156552" y="2542032"/>
            <a:ext cx="3151480" cy="548640"/>
          </a:xfrm>
          <a:prstGeom prst="rect">
            <a:avLst/>
          </a:prstGeom>
          <a:noFill/>
          <a:ln/>
        </p:spPr>
        <p:txBody>
          <a:bodyPr wrap="square" lIns="0" tIns="0" rIns="0" bIns="0" rtlCol="0" anchor="ctr"/>
          <a:lstStyle/>
          <a:p>
            <a:pPr marL="0" indent="0">
              <a:lnSpc>
                <a:spcPts val="1500"/>
              </a:lnSpc>
              <a:buNone/>
            </a:pPr>
            <a:r>
              <a:rPr lang="en-US" sz="1350" b="1" dirty="0">
                <a:solidFill>
                  <a:srgbClr val="0F172A"/>
                </a:solidFill>
                <a:latin typeface="Arial" pitchFamily="34" charset="0"/>
                <a:ea typeface="Arial" pitchFamily="34" charset="-122"/>
                <a:cs typeface="Arial" pitchFamily="34" charset="-120"/>
              </a:rPr>
              <a:t>Erklärbare KI statt Black Box</a:t>
            </a:r>
            <a:endParaRPr lang="en-US" sz="1350" dirty="0"/>
          </a:p>
        </p:txBody>
      </p:sp>
      <p:sp>
        <p:nvSpPr>
          <p:cNvPr id="15" name="Text 11"/>
          <p:cNvSpPr/>
          <p:nvPr/>
        </p:nvSpPr>
        <p:spPr>
          <a:xfrm>
            <a:off x="6553048" y="3127248"/>
            <a:ext cx="4797400" cy="685800"/>
          </a:xfrm>
          <a:prstGeom prst="rect">
            <a:avLst/>
          </a:prstGeom>
          <a:noFill/>
          <a:ln/>
        </p:spPr>
        <p:txBody>
          <a:bodyPr wrap="square" lIns="0" tIns="0" rIns="0" bIns="0" rtlCol="0" anchor="ctr"/>
          <a:lstStyle/>
          <a:p>
            <a:pPr marL="0" indent="0">
              <a:lnSpc>
                <a:spcPts val="1300"/>
              </a:lnSpc>
              <a:buNone/>
            </a:pPr>
            <a:r>
              <a:rPr lang="en-US" sz="1060" dirty="0">
                <a:solidFill>
                  <a:srgbClr val="475569"/>
                </a:solidFill>
                <a:latin typeface="Arial" pitchFamily="34" charset="0"/>
                <a:ea typeface="Arial" pitchFamily="34" charset="-122"/>
                <a:cs typeface="Arial" pitchFamily="34" charset="-120"/>
              </a:rPr>
              <a:t>Jede Empfehlung ist mit Score und Begründung nachvollziehbar – Transparenz im Sinne des EU AI Act.</a:t>
            </a:r>
            <a:endParaRPr lang="en-US" sz="1060" dirty="0"/>
          </a:p>
        </p:txBody>
      </p:sp>
      <p:sp>
        <p:nvSpPr>
          <p:cNvPr id="16" name="Shape 12"/>
          <p:cNvSpPr/>
          <p:nvPr/>
        </p:nvSpPr>
        <p:spPr>
          <a:xfrm>
            <a:off x="10207447" y="2560320"/>
            <a:ext cx="1143000" cy="310896"/>
          </a:xfrm>
          <a:prstGeom prst="roundRect">
            <a:avLst>
              <a:gd name="adj" fmla="val 50000"/>
            </a:avLst>
          </a:prstGeom>
          <a:solidFill>
            <a:srgbClr val="E7F8EE"/>
          </a:solidFill>
          <a:ln/>
        </p:spPr>
        <p:txBody>
          <a:bodyPr/>
          <a:lstStyle/>
          <a:p>
            <a:endParaRPr lang="de-DE"/>
          </a:p>
        </p:txBody>
      </p:sp>
      <p:sp>
        <p:nvSpPr>
          <p:cNvPr id="17" name="Text 13"/>
          <p:cNvSpPr/>
          <p:nvPr/>
        </p:nvSpPr>
        <p:spPr>
          <a:xfrm>
            <a:off x="10207447" y="2560320"/>
            <a:ext cx="1143000" cy="310896"/>
          </a:xfrm>
          <a:prstGeom prst="rect">
            <a:avLst/>
          </a:prstGeom>
          <a:noFill/>
          <a:ln/>
        </p:spPr>
        <p:txBody>
          <a:bodyPr wrap="square" lIns="0" tIns="0" rIns="0" bIns="0" rtlCol="0" anchor="ctr"/>
          <a:lstStyle/>
          <a:p>
            <a:pPr marL="0" indent="0" algn="ctr">
              <a:buNone/>
            </a:pPr>
            <a:r>
              <a:rPr lang="en-US" sz="950" b="1" dirty="0">
                <a:solidFill>
                  <a:srgbClr val="16A34A"/>
                </a:solidFill>
                <a:latin typeface="Arial" pitchFamily="34" charset="0"/>
                <a:ea typeface="Arial" pitchFamily="34" charset="-122"/>
                <a:cs typeface="Arial" pitchFamily="34" charset="-120"/>
              </a:rPr>
              <a:t>SDG 9</a:t>
            </a:r>
            <a:endParaRPr lang="en-US" sz="950" dirty="0"/>
          </a:p>
        </p:txBody>
      </p:sp>
      <p:sp>
        <p:nvSpPr>
          <p:cNvPr id="18" name="Shape 14"/>
          <p:cNvSpPr/>
          <p:nvPr/>
        </p:nvSpPr>
        <p:spPr>
          <a:xfrm>
            <a:off x="566928" y="4206240"/>
            <a:ext cx="5346040" cy="1627632"/>
          </a:xfrm>
          <a:prstGeom prst="roundRect">
            <a:avLst>
              <a:gd name="adj" fmla="val 505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9" name="Shape 15"/>
          <p:cNvSpPr/>
          <p:nvPr/>
        </p:nvSpPr>
        <p:spPr>
          <a:xfrm>
            <a:off x="841248" y="4480560"/>
            <a:ext cx="475488" cy="475488"/>
          </a:xfrm>
          <a:prstGeom prst="roundRect">
            <a:avLst>
              <a:gd name="adj" fmla="val 13462"/>
            </a:avLst>
          </a:prstGeom>
          <a:solidFill>
            <a:srgbClr val="E7F8EE"/>
          </a:solidFill>
          <a:ln/>
        </p:spPr>
        <p:txBody>
          <a:bodyPr/>
          <a:lstStyle/>
          <a:p>
            <a:endParaRPr lang="de-DE"/>
          </a:p>
        </p:txBody>
      </p:sp>
      <p:pic>
        <p:nvPicPr>
          <p:cNvPr id="20" name="Image 2" descr="preencoded.png"/>
          <p:cNvPicPr>
            <a:picLocks noChangeAspect="1"/>
          </p:cNvPicPr>
          <p:nvPr/>
        </p:nvPicPr>
        <p:blipFill>
          <a:blip r:embed="rId5"/>
          <a:stretch>
            <a:fillRect/>
          </a:stretch>
        </p:blipFill>
        <p:spPr>
          <a:xfrm>
            <a:off x="955365" y="4594677"/>
            <a:ext cx="247254" cy="247254"/>
          </a:xfrm>
          <a:prstGeom prst="rect">
            <a:avLst/>
          </a:prstGeom>
        </p:spPr>
      </p:pic>
      <p:sp>
        <p:nvSpPr>
          <p:cNvPr id="21" name="Text 16"/>
          <p:cNvSpPr/>
          <p:nvPr/>
        </p:nvSpPr>
        <p:spPr>
          <a:xfrm>
            <a:off x="1444752" y="4462272"/>
            <a:ext cx="3151480" cy="548640"/>
          </a:xfrm>
          <a:prstGeom prst="rect">
            <a:avLst/>
          </a:prstGeom>
          <a:noFill/>
          <a:ln/>
        </p:spPr>
        <p:txBody>
          <a:bodyPr wrap="square" lIns="0" tIns="0" rIns="0" bIns="0" rtlCol="0" anchor="ctr"/>
          <a:lstStyle/>
          <a:p>
            <a:pPr marL="0" indent="0">
              <a:lnSpc>
                <a:spcPts val="1500"/>
              </a:lnSpc>
              <a:buNone/>
            </a:pPr>
            <a:r>
              <a:rPr lang="en-US" sz="1350" b="1" dirty="0">
                <a:solidFill>
                  <a:srgbClr val="0F172A"/>
                </a:solidFill>
                <a:latin typeface="Arial" pitchFamily="34" charset="0"/>
                <a:ea typeface="Arial" pitchFamily="34" charset="-122"/>
                <a:cs typeface="Arial" pitchFamily="34" charset="-120"/>
              </a:rPr>
              <a:t>Bessere Matches, weniger Fehlbesetzungen</a:t>
            </a:r>
            <a:endParaRPr lang="en-US" sz="1350" dirty="0"/>
          </a:p>
        </p:txBody>
      </p:sp>
      <p:sp>
        <p:nvSpPr>
          <p:cNvPr id="22" name="Text 17"/>
          <p:cNvSpPr/>
          <p:nvPr/>
        </p:nvSpPr>
        <p:spPr>
          <a:xfrm>
            <a:off x="841248" y="5047488"/>
            <a:ext cx="4797400" cy="685800"/>
          </a:xfrm>
          <a:prstGeom prst="rect">
            <a:avLst/>
          </a:prstGeom>
          <a:noFill/>
          <a:ln/>
        </p:spPr>
        <p:txBody>
          <a:bodyPr wrap="square" lIns="0" tIns="0" rIns="0" bIns="0" rtlCol="0" anchor="ctr"/>
          <a:lstStyle/>
          <a:p>
            <a:pPr marL="0" indent="0">
              <a:lnSpc>
                <a:spcPts val="1300"/>
              </a:lnSpc>
              <a:buNone/>
            </a:pPr>
            <a:r>
              <a:rPr lang="en-US" sz="1060" dirty="0">
                <a:solidFill>
                  <a:srgbClr val="475569"/>
                </a:solidFill>
                <a:latin typeface="Arial" pitchFamily="34" charset="0"/>
                <a:ea typeface="Arial" pitchFamily="34" charset="-122"/>
                <a:cs typeface="Arial" pitchFamily="34" charset="-120"/>
              </a:rPr>
              <a:t>Treffsichere Vermittlung spart Doppelprozesse und schont Ressourcen auf beiden Seiten des Marktes.</a:t>
            </a:r>
            <a:endParaRPr lang="en-US" sz="1060" dirty="0"/>
          </a:p>
        </p:txBody>
      </p:sp>
      <p:sp>
        <p:nvSpPr>
          <p:cNvPr id="23" name="Shape 18"/>
          <p:cNvSpPr/>
          <p:nvPr/>
        </p:nvSpPr>
        <p:spPr>
          <a:xfrm>
            <a:off x="4495648" y="4480560"/>
            <a:ext cx="1143000" cy="310896"/>
          </a:xfrm>
          <a:prstGeom prst="roundRect">
            <a:avLst>
              <a:gd name="adj" fmla="val 50000"/>
            </a:avLst>
          </a:prstGeom>
          <a:solidFill>
            <a:srgbClr val="E7F8EE"/>
          </a:solidFill>
          <a:ln/>
        </p:spPr>
        <p:txBody>
          <a:bodyPr/>
          <a:lstStyle/>
          <a:p>
            <a:endParaRPr lang="de-DE"/>
          </a:p>
        </p:txBody>
      </p:sp>
      <p:sp>
        <p:nvSpPr>
          <p:cNvPr id="24" name="Text 19"/>
          <p:cNvSpPr/>
          <p:nvPr/>
        </p:nvSpPr>
        <p:spPr>
          <a:xfrm>
            <a:off x="4495648" y="4480560"/>
            <a:ext cx="1143000" cy="310896"/>
          </a:xfrm>
          <a:prstGeom prst="rect">
            <a:avLst/>
          </a:prstGeom>
          <a:noFill/>
          <a:ln/>
        </p:spPr>
        <p:txBody>
          <a:bodyPr wrap="square" lIns="0" tIns="0" rIns="0" bIns="0" rtlCol="0" anchor="ctr"/>
          <a:lstStyle/>
          <a:p>
            <a:pPr marL="0" indent="0" algn="ctr">
              <a:buNone/>
            </a:pPr>
            <a:r>
              <a:rPr lang="en-US" sz="950" b="1" dirty="0">
                <a:solidFill>
                  <a:srgbClr val="16A34A"/>
                </a:solidFill>
                <a:latin typeface="Arial" pitchFamily="34" charset="0"/>
                <a:ea typeface="Arial" pitchFamily="34" charset="-122"/>
                <a:cs typeface="Arial" pitchFamily="34" charset="-120"/>
              </a:rPr>
              <a:t>SDG 8</a:t>
            </a:r>
            <a:endParaRPr lang="en-US" sz="950" dirty="0"/>
          </a:p>
        </p:txBody>
      </p:sp>
      <p:sp>
        <p:nvSpPr>
          <p:cNvPr id="25" name="Shape 20"/>
          <p:cNvSpPr/>
          <p:nvPr/>
        </p:nvSpPr>
        <p:spPr>
          <a:xfrm>
            <a:off x="6278728" y="4206240"/>
            <a:ext cx="5346040" cy="1627632"/>
          </a:xfrm>
          <a:prstGeom prst="roundRect">
            <a:avLst>
              <a:gd name="adj" fmla="val 5056"/>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26" name="Shape 21"/>
          <p:cNvSpPr/>
          <p:nvPr/>
        </p:nvSpPr>
        <p:spPr>
          <a:xfrm>
            <a:off x="6553048" y="4480560"/>
            <a:ext cx="475488" cy="475488"/>
          </a:xfrm>
          <a:prstGeom prst="roundRect">
            <a:avLst>
              <a:gd name="adj" fmla="val 13462"/>
            </a:avLst>
          </a:prstGeom>
          <a:solidFill>
            <a:srgbClr val="E7F8EE"/>
          </a:solidFill>
          <a:ln/>
        </p:spPr>
        <p:txBody>
          <a:bodyPr/>
          <a:lstStyle/>
          <a:p>
            <a:endParaRPr lang="de-DE"/>
          </a:p>
        </p:txBody>
      </p:sp>
      <p:pic>
        <p:nvPicPr>
          <p:cNvPr id="27" name="Image 3" descr="preencoded.png"/>
          <p:cNvPicPr>
            <a:picLocks noChangeAspect="1"/>
          </p:cNvPicPr>
          <p:nvPr/>
        </p:nvPicPr>
        <p:blipFill>
          <a:blip r:embed="rId6"/>
          <a:stretch>
            <a:fillRect/>
          </a:stretch>
        </p:blipFill>
        <p:spPr>
          <a:xfrm>
            <a:off x="6667165" y="4594677"/>
            <a:ext cx="247254" cy="247254"/>
          </a:xfrm>
          <a:prstGeom prst="rect">
            <a:avLst/>
          </a:prstGeom>
        </p:spPr>
      </p:pic>
      <p:sp>
        <p:nvSpPr>
          <p:cNvPr id="28" name="Text 22"/>
          <p:cNvSpPr/>
          <p:nvPr/>
        </p:nvSpPr>
        <p:spPr>
          <a:xfrm>
            <a:off x="7156552" y="4462272"/>
            <a:ext cx="3151480" cy="548640"/>
          </a:xfrm>
          <a:prstGeom prst="rect">
            <a:avLst/>
          </a:prstGeom>
          <a:noFill/>
          <a:ln/>
        </p:spPr>
        <p:txBody>
          <a:bodyPr wrap="square" lIns="0" tIns="0" rIns="0" bIns="0" rtlCol="0" anchor="ctr"/>
          <a:lstStyle/>
          <a:p>
            <a:pPr marL="0" indent="0">
              <a:lnSpc>
                <a:spcPts val="1500"/>
              </a:lnSpc>
              <a:buNone/>
            </a:pPr>
            <a:r>
              <a:rPr lang="en-US" sz="1350" b="1" dirty="0">
                <a:solidFill>
                  <a:srgbClr val="0F172A"/>
                </a:solidFill>
                <a:latin typeface="Arial" pitchFamily="34" charset="0"/>
                <a:ea typeface="Arial" pitchFamily="34" charset="-122"/>
                <a:cs typeface="Arial" pitchFamily="34" charset="-120"/>
              </a:rPr>
              <a:t>Datensouveränität in Europa</a:t>
            </a:r>
            <a:endParaRPr lang="en-US" sz="1350" dirty="0"/>
          </a:p>
        </p:txBody>
      </p:sp>
      <p:sp>
        <p:nvSpPr>
          <p:cNvPr id="29" name="Text 23"/>
          <p:cNvSpPr/>
          <p:nvPr/>
        </p:nvSpPr>
        <p:spPr>
          <a:xfrm>
            <a:off x="6553048" y="5047488"/>
            <a:ext cx="4797400" cy="685800"/>
          </a:xfrm>
          <a:prstGeom prst="rect">
            <a:avLst/>
          </a:prstGeom>
          <a:noFill/>
          <a:ln/>
        </p:spPr>
        <p:txBody>
          <a:bodyPr wrap="square" lIns="0" tIns="0" rIns="0" bIns="0" rtlCol="0" anchor="ctr"/>
          <a:lstStyle/>
          <a:p>
            <a:pPr marL="0" indent="0">
              <a:lnSpc>
                <a:spcPts val="1300"/>
              </a:lnSpc>
              <a:buNone/>
            </a:pPr>
            <a:r>
              <a:rPr lang="en-US" sz="1060" dirty="0">
                <a:solidFill>
                  <a:srgbClr val="475569"/>
                </a:solidFill>
                <a:latin typeface="Arial" pitchFamily="34" charset="0"/>
                <a:ea typeface="Arial" pitchFamily="34" charset="-122"/>
                <a:cs typeface="Arial" pitchFamily="34" charset="-120"/>
              </a:rPr>
              <a:t>100 % EU-Hosting und DSGVO-Konformität – Daten bleiben in der EU, keine Übermittlung in Drittstaaten.</a:t>
            </a:r>
            <a:endParaRPr lang="en-US" sz="1060" dirty="0"/>
          </a:p>
        </p:txBody>
      </p:sp>
      <p:sp>
        <p:nvSpPr>
          <p:cNvPr id="30" name="Shape 24"/>
          <p:cNvSpPr/>
          <p:nvPr/>
        </p:nvSpPr>
        <p:spPr>
          <a:xfrm>
            <a:off x="10207447" y="4480560"/>
            <a:ext cx="1143000" cy="310896"/>
          </a:xfrm>
          <a:prstGeom prst="roundRect">
            <a:avLst>
              <a:gd name="adj" fmla="val 50000"/>
            </a:avLst>
          </a:prstGeom>
          <a:solidFill>
            <a:srgbClr val="E7F8EE"/>
          </a:solidFill>
          <a:ln/>
        </p:spPr>
        <p:txBody>
          <a:bodyPr/>
          <a:lstStyle/>
          <a:p>
            <a:endParaRPr lang="de-DE"/>
          </a:p>
        </p:txBody>
      </p:sp>
      <p:sp>
        <p:nvSpPr>
          <p:cNvPr id="31" name="Text 25"/>
          <p:cNvSpPr/>
          <p:nvPr/>
        </p:nvSpPr>
        <p:spPr>
          <a:xfrm>
            <a:off x="10207447" y="4480560"/>
            <a:ext cx="1143000" cy="310896"/>
          </a:xfrm>
          <a:prstGeom prst="rect">
            <a:avLst/>
          </a:prstGeom>
          <a:noFill/>
          <a:ln/>
        </p:spPr>
        <p:txBody>
          <a:bodyPr wrap="square" lIns="0" tIns="0" rIns="0" bIns="0" rtlCol="0" anchor="ctr"/>
          <a:lstStyle/>
          <a:p>
            <a:pPr marL="0" indent="0" algn="ctr">
              <a:buNone/>
            </a:pPr>
            <a:r>
              <a:rPr lang="en-US" sz="950" b="1" dirty="0">
                <a:solidFill>
                  <a:srgbClr val="16A34A"/>
                </a:solidFill>
                <a:latin typeface="Arial" pitchFamily="34" charset="0"/>
                <a:ea typeface="Arial" pitchFamily="34" charset="-122"/>
                <a:cs typeface="Arial" pitchFamily="34" charset="-120"/>
              </a:rPr>
              <a:t>SDG 16</a:t>
            </a:r>
            <a:endParaRPr lang="en-US" sz="950" dirty="0"/>
          </a:p>
        </p:txBody>
      </p:sp>
      <p:sp>
        <p:nvSpPr>
          <p:cNvPr id="32" name="Text 26"/>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3" name="Text 27"/>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11 / 14</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UMSETZBARKEIT</a:t>
            </a:r>
            <a:endParaRPr lang="en-US" sz="1150" dirty="0"/>
          </a:p>
        </p:txBody>
      </p:sp>
      <p:sp>
        <p:nvSpPr>
          <p:cNvPr id="3" name="Text 1"/>
          <p:cNvSpPr/>
          <p:nvPr/>
        </p:nvSpPr>
        <p:spPr>
          <a:xfrm>
            <a:off x="566928" y="868680"/>
            <a:ext cx="10972800" cy="868680"/>
          </a:xfrm>
          <a:prstGeom prst="rect">
            <a:avLst/>
          </a:prstGeom>
          <a:noFill/>
          <a:ln/>
        </p:spPr>
        <p:txBody>
          <a:bodyPr wrap="square" lIns="0" tIns="0" rIns="0" bIns="0" rtlCol="0" anchor="ctr"/>
          <a:lstStyle/>
          <a:p>
            <a:pPr marL="0" indent="0" algn="l">
              <a:lnSpc>
                <a:spcPts val="2730"/>
              </a:lnSpc>
              <a:buNone/>
            </a:pPr>
            <a:r>
              <a:rPr lang="en-US" sz="2600" b="1" dirty="0">
                <a:solidFill>
                  <a:srgbClr val="0F172A"/>
                </a:solidFill>
                <a:latin typeface="Arial" pitchFamily="34" charset="0"/>
                <a:ea typeface="Arial" pitchFamily="34" charset="-122"/>
                <a:cs typeface="Arial" pitchFamily="34" charset="-120"/>
              </a:rPr>
              <a:t>Der Prototyp steht. </a:t>
            </a:r>
            <a:r>
              <a:rPr lang="en-US" sz="2600" b="1" dirty="0">
                <a:solidFill>
                  <a:srgbClr val="2976D6"/>
                </a:solidFill>
                <a:latin typeface="Arial" pitchFamily="34" charset="0"/>
                <a:ea typeface="Arial" pitchFamily="34" charset="-122"/>
                <a:cs typeface="Arial" pitchFamily="34" charset="-120"/>
              </a:rPr>
              <a:t>Jetzt kommt der Markteintritt.</a:t>
            </a:r>
            <a:endParaRPr lang="en-US" sz="2600" dirty="0"/>
          </a:p>
        </p:txBody>
      </p:sp>
      <p:sp>
        <p:nvSpPr>
          <p:cNvPr id="4" name="Shape 2"/>
          <p:cNvSpPr/>
          <p:nvPr/>
        </p:nvSpPr>
        <p:spPr>
          <a:xfrm>
            <a:off x="566928" y="2103120"/>
            <a:ext cx="11057839" cy="914400"/>
          </a:xfrm>
          <a:prstGeom prst="roundRect">
            <a:avLst>
              <a:gd name="adj" fmla="val 9000"/>
            </a:avLst>
          </a:prstGeom>
          <a:solidFill>
            <a:srgbClr val="E7F8EE"/>
          </a:solidFill>
          <a:ln/>
        </p:spPr>
        <p:txBody>
          <a:bodyPr/>
          <a:lstStyle/>
          <a:p>
            <a:endParaRPr lang="de-DE"/>
          </a:p>
        </p:txBody>
      </p:sp>
      <p:sp>
        <p:nvSpPr>
          <p:cNvPr id="5" name="Shape 3"/>
          <p:cNvSpPr/>
          <p:nvPr/>
        </p:nvSpPr>
        <p:spPr>
          <a:xfrm>
            <a:off x="859536" y="2331720"/>
            <a:ext cx="457200" cy="457200"/>
          </a:xfrm>
          <a:prstGeom prst="roundRect">
            <a:avLst>
              <a:gd name="adj" fmla="val 14000"/>
            </a:avLst>
          </a:prstGeom>
          <a:solidFill>
            <a:srgbClr val="16A34A"/>
          </a:solidFill>
          <a:ln/>
        </p:spPr>
        <p:txBody>
          <a:bodyPr/>
          <a:lstStyle/>
          <a:p>
            <a:endParaRPr lang="de-DE"/>
          </a:p>
        </p:txBody>
      </p:sp>
      <p:pic>
        <p:nvPicPr>
          <p:cNvPr id="6" name="Image 0" descr="preencoded.png"/>
          <p:cNvPicPr>
            <a:picLocks noChangeAspect="1"/>
          </p:cNvPicPr>
          <p:nvPr/>
        </p:nvPicPr>
        <p:blipFill>
          <a:blip r:embed="rId3"/>
          <a:stretch>
            <a:fillRect/>
          </a:stretch>
        </p:blipFill>
        <p:spPr>
          <a:xfrm>
            <a:off x="969264" y="2441448"/>
            <a:ext cx="237744" cy="237744"/>
          </a:xfrm>
          <a:prstGeom prst="rect">
            <a:avLst/>
          </a:prstGeom>
        </p:spPr>
      </p:pic>
      <p:sp>
        <p:nvSpPr>
          <p:cNvPr id="7" name="Text 4"/>
          <p:cNvSpPr/>
          <p:nvPr/>
        </p:nvSpPr>
        <p:spPr>
          <a:xfrm>
            <a:off x="1527048" y="2103120"/>
            <a:ext cx="9777679" cy="914400"/>
          </a:xfrm>
          <a:prstGeom prst="rect">
            <a:avLst/>
          </a:prstGeom>
          <a:noFill/>
          <a:ln/>
        </p:spPr>
        <p:txBody>
          <a:bodyPr wrap="square" lIns="0" tIns="0" rIns="0" bIns="0" rtlCol="0" anchor="ctr"/>
          <a:lstStyle/>
          <a:p>
            <a:pPr marL="0" indent="0">
              <a:lnSpc>
                <a:spcPts val="1600"/>
              </a:lnSpc>
              <a:buNone/>
            </a:pPr>
            <a:r>
              <a:rPr lang="en-US" sz="1250" b="1" dirty="0">
                <a:solidFill>
                  <a:srgbClr val="16A34A"/>
                </a:solidFill>
                <a:latin typeface="Arial" pitchFamily="34" charset="0"/>
                <a:ea typeface="Arial" pitchFamily="34" charset="-122"/>
                <a:cs typeface="Arial" pitchFamily="34" charset="-120"/>
              </a:rPr>
              <a:t>Status heute:  </a:t>
            </a:r>
            <a:r>
              <a:rPr lang="en-US" sz="1250" dirty="0">
                <a:solidFill>
                  <a:srgbClr val="0F172A"/>
                </a:solidFill>
                <a:latin typeface="Arial" pitchFamily="34" charset="0"/>
                <a:ea typeface="Arial" pitchFamily="34" charset="-122"/>
                <a:cs typeface="Arial" pitchFamily="34" charset="-120"/>
              </a:rPr>
              <a:t>Funktionsfähiger Prototyp mit allen vier Agenten, anonymisiertem Profiling, Scoring und Outreach – live testbar unter app-matchmaker-hr.netlify.app. Technische Machbarkeit bewiesen.</a:t>
            </a:r>
            <a:endParaRPr lang="en-US" sz="1250" dirty="0"/>
          </a:p>
        </p:txBody>
      </p:sp>
      <p:sp>
        <p:nvSpPr>
          <p:cNvPr id="8" name="Shape 5"/>
          <p:cNvSpPr/>
          <p:nvPr/>
        </p:nvSpPr>
        <p:spPr>
          <a:xfrm>
            <a:off x="566928" y="3383280"/>
            <a:ext cx="2490140" cy="2148840"/>
          </a:xfrm>
          <a:prstGeom prst="roundRect">
            <a:avLst>
              <a:gd name="adj" fmla="val 383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9" name="Shape 6"/>
          <p:cNvSpPr/>
          <p:nvPr/>
        </p:nvSpPr>
        <p:spPr>
          <a:xfrm>
            <a:off x="822960" y="3639312"/>
            <a:ext cx="457200" cy="457200"/>
          </a:xfrm>
          <a:prstGeom prst="roundRect">
            <a:avLst>
              <a:gd name="adj" fmla="val 14000"/>
            </a:avLst>
          </a:prstGeom>
          <a:solidFill>
            <a:srgbClr val="172B4D"/>
          </a:solidFill>
          <a:ln/>
        </p:spPr>
        <p:txBody>
          <a:bodyPr/>
          <a:lstStyle/>
          <a:p>
            <a:endParaRPr lang="de-DE"/>
          </a:p>
        </p:txBody>
      </p:sp>
      <p:pic>
        <p:nvPicPr>
          <p:cNvPr id="10" name="Image 1" descr="preencoded.png"/>
          <p:cNvPicPr>
            <a:picLocks noChangeAspect="1"/>
          </p:cNvPicPr>
          <p:nvPr/>
        </p:nvPicPr>
        <p:blipFill>
          <a:blip r:embed="rId4"/>
          <a:stretch>
            <a:fillRect/>
          </a:stretch>
        </p:blipFill>
        <p:spPr>
          <a:xfrm>
            <a:off x="932688" y="3749040"/>
            <a:ext cx="237744" cy="237744"/>
          </a:xfrm>
          <a:prstGeom prst="rect">
            <a:avLst/>
          </a:prstGeom>
        </p:spPr>
      </p:pic>
      <p:sp>
        <p:nvSpPr>
          <p:cNvPr id="11" name="Shape 7"/>
          <p:cNvSpPr/>
          <p:nvPr/>
        </p:nvSpPr>
        <p:spPr>
          <a:xfrm>
            <a:off x="1840916" y="3675888"/>
            <a:ext cx="960120" cy="292608"/>
          </a:xfrm>
          <a:prstGeom prst="roundRect">
            <a:avLst>
              <a:gd name="adj" fmla="val 50000"/>
            </a:avLst>
          </a:prstGeom>
          <a:solidFill>
            <a:srgbClr val="EAF2FC"/>
          </a:solidFill>
          <a:ln/>
        </p:spPr>
        <p:txBody>
          <a:bodyPr/>
          <a:lstStyle/>
          <a:p>
            <a:endParaRPr lang="de-DE"/>
          </a:p>
        </p:txBody>
      </p:sp>
      <p:sp>
        <p:nvSpPr>
          <p:cNvPr id="12" name="Text 8"/>
          <p:cNvSpPr/>
          <p:nvPr/>
        </p:nvSpPr>
        <p:spPr>
          <a:xfrm>
            <a:off x="1840916" y="3675888"/>
            <a:ext cx="960120" cy="292608"/>
          </a:xfrm>
          <a:prstGeom prst="rect">
            <a:avLst/>
          </a:prstGeom>
          <a:noFill/>
          <a:ln/>
        </p:spPr>
        <p:txBody>
          <a:bodyPr wrap="square" lIns="0" tIns="0" rIns="0" bIns="0" rtlCol="0" anchor="ctr"/>
          <a:lstStyle/>
          <a:p>
            <a:pPr marL="0" indent="0" algn="ctr">
              <a:buNone/>
            </a:pPr>
            <a:r>
              <a:rPr lang="en-US" sz="950" b="1" dirty="0">
                <a:solidFill>
                  <a:srgbClr val="2976D6"/>
                </a:solidFill>
                <a:latin typeface="Arial" pitchFamily="34" charset="0"/>
                <a:ea typeface="Arial" pitchFamily="34" charset="-122"/>
                <a:cs typeface="Arial" pitchFamily="34" charset="-120"/>
              </a:rPr>
              <a:t>Q4 2026</a:t>
            </a:r>
            <a:endParaRPr lang="en-US" sz="950" dirty="0"/>
          </a:p>
        </p:txBody>
      </p:sp>
      <p:sp>
        <p:nvSpPr>
          <p:cNvPr id="13" name="Text 9"/>
          <p:cNvSpPr/>
          <p:nvPr/>
        </p:nvSpPr>
        <p:spPr>
          <a:xfrm>
            <a:off x="822960" y="4224528"/>
            <a:ext cx="2032940" cy="32004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Pilotphase</a:t>
            </a:r>
            <a:endParaRPr lang="en-US" sz="1350" dirty="0"/>
          </a:p>
        </p:txBody>
      </p:sp>
      <p:sp>
        <p:nvSpPr>
          <p:cNvPr id="14" name="Text 10"/>
          <p:cNvSpPr/>
          <p:nvPr/>
        </p:nvSpPr>
        <p:spPr>
          <a:xfrm>
            <a:off x="822960" y="4572000"/>
            <a:ext cx="2032940" cy="868680"/>
          </a:xfrm>
          <a:prstGeom prst="rect">
            <a:avLst/>
          </a:prstGeom>
          <a:noFill/>
          <a:ln/>
        </p:spPr>
        <p:txBody>
          <a:bodyPr wrap="square" lIns="0" tIns="0" rIns="0" bIns="0" rtlCol="0" anchor="ctr"/>
          <a:lstStyle/>
          <a:p>
            <a:pPr marL="0" indent="0">
              <a:lnSpc>
                <a:spcPts val="1300"/>
              </a:lnSpc>
              <a:buNone/>
            </a:pPr>
            <a:r>
              <a:rPr lang="en-US" sz="1030" dirty="0">
                <a:solidFill>
                  <a:srgbClr val="475569"/>
                </a:solidFill>
                <a:latin typeface="Arial" pitchFamily="34" charset="0"/>
                <a:ea typeface="Arial" pitchFamily="34" charset="-122"/>
                <a:cs typeface="Arial" pitchFamily="34" charset="-120"/>
              </a:rPr>
              <a:t>3–5 Personalberatungen als Design-Partner, Onboarding &amp; Aufwands-Validierung.</a:t>
            </a:r>
            <a:endParaRPr lang="en-US" sz="1030" dirty="0"/>
          </a:p>
        </p:txBody>
      </p:sp>
      <p:sp>
        <p:nvSpPr>
          <p:cNvPr id="15" name="Shape 11"/>
          <p:cNvSpPr/>
          <p:nvPr/>
        </p:nvSpPr>
        <p:spPr>
          <a:xfrm>
            <a:off x="3422828" y="3383280"/>
            <a:ext cx="2490140" cy="2148840"/>
          </a:xfrm>
          <a:prstGeom prst="roundRect">
            <a:avLst>
              <a:gd name="adj" fmla="val 383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16" name="Shape 12"/>
          <p:cNvSpPr/>
          <p:nvPr/>
        </p:nvSpPr>
        <p:spPr>
          <a:xfrm>
            <a:off x="3678860" y="3639312"/>
            <a:ext cx="457200" cy="457200"/>
          </a:xfrm>
          <a:prstGeom prst="roundRect">
            <a:avLst>
              <a:gd name="adj" fmla="val 14000"/>
            </a:avLst>
          </a:prstGeom>
          <a:solidFill>
            <a:srgbClr val="172B4D"/>
          </a:solidFill>
          <a:ln/>
        </p:spPr>
        <p:txBody>
          <a:bodyPr/>
          <a:lstStyle/>
          <a:p>
            <a:endParaRPr lang="de-DE"/>
          </a:p>
        </p:txBody>
      </p:sp>
      <p:pic>
        <p:nvPicPr>
          <p:cNvPr id="17" name="Image 2" descr="preencoded.png"/>
          <p:cNvPicPr>
            <a:picLocks noChangeAspect="1"/>
          </p:cNvPicPr>
          <p:nvPr/>
        </p:nvPicPr>
        <p:blipFill>
          <a:blip r:embed="rId5"/>
          <a:stretch>
            <a:fillRect/>
          </a:stretch>
        </p:blipFill>
        <p:spPr>
          <a:xfrm>
            <a:off x="3788588" y="3749040"/>
            <a:ext cx="237744" cy="237744"/>
          </a:xfrm>
          <a:prstGeom prst="rect">
            <a:avLst/>
          </a:prstGeom>
        </p:spPr>
      </p:pic>
      <p:sp>
        <p:nvSpPr>
          <p:cNvPr id="18" name="Shape 13"/>
          <p:cNvSpPr/>
          <p:nvPr/>
        </p:nvSpPr>
        <p:spPr>
          <a:xfrm>
            <a:off x="4696816" y="3675888"/>
            <a:ext cx="960120" cy="292608"/>
          </a:xfrm>
          <a:prstGeom prst="roundRect">
            <a:avLst>
              <a:gd name="adj" fmla="val 50000"/>
            </a:avLst>
          </a:prstGeom>
          <a:solidFill>
            <a:srgbClr val="EAF2FC"/>
          </a:solidFill>
          <a:ln/>
        </p:spPr>
        <p:txBody>
          <a:bodyPr/>
          <a:lstStyle/>
          <a:p>
            <a:endParaRPr lang="de-DE"/>
          </a:p>
        </p:txBody>
      </p:sp>
      <p:sp>
        <p:nvSpPr>
          <p:cNvPr id="19" name="Text 14"/>
          <p:cNvSpPr/>
          <p:nvPr/>
        </p:nvSpPr>
        <p:spPr>
          <a:xfrm>
            <a:off x="4696816" y="3675888"/>
            <a:ext cx="960120" cy="292608"/>
          </a:xfrm>
          <a:prstGeom prst="rect">
            <a:avLst/>
          </a:prstGeom>
          <a:noFill/>
          <a:ln/>
        </p:spPr>
        <p:txBody>
          <a:bodyPr wrap="square" lIns="0" tIns="0" rIns="0" bIns="0" rtlCol="0" anchor="ctr"/>
          <a:lstStyle/>
          <a:p>
            <a:pPr marL="0" indent="0" algn="ctr">
              <a:buNone/>
            </a:pPr>
            <a:r>
              <a:rPr lang="en-US" sz="950" b="1" dirty="0">
                <a:solidFill>
                  <a:srgbClr val="2976D6"/>
                </a:solidFill>
                <a:latin typeface="Arial" pitchFamily="34" charset="0"/>
                <a:ea typeface="Arial" pitchFamily="34" charset="-122"/>
                <a:cs typeface="Arial" pitchFamily="34" charset="-120"/>
              </a:rPr>
              <a:t>Q1 2027</a:t>
            </a:r>
            <a:endParaRPr lang="en-US" sz="950" dirty="0"/>
          </a:p>
        </p:txBody>
      </p:sp>
      <p:sp>
        <p:nvSpPr>
          <p:cNvPr id="20" name="Text 15"/>
          <p:cNvSpPr/>
          <p:nvPr/>
        </p:nvSpPr>
        <p:spPr>
          <a:xfrm>
            <a:off x="3678860" y="4224528"/>
            <a:ext cx="2032940" cy="32004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Markteintritt</a:t>
            </a:r>
            <a:endParaRPr lang="en-US" sz="1350" dirty="0"/>
          </a:p>
        </p:txBody>
      </p:sp>
      <p:sp>
        <p:nvSpPr>
          <p:cNvPr id="21" name="Text 16"/>
          <p:cNvSpPr/>
          <p:nvPr/>
        </p:nvSpPr>
        <p:spPr>
          <a:xfrm>
            <a:off x="3678860" y="4572000"/>
            <a:ext cx="2032940" cy="868680"/>
          </a:xfrm>
          <a:prstGeom prst="rect">
            <a:avLst/>
          </a:prstGeom>
          <a:noFill/>
          <a:ln/>
        </p:spPr>
        <p:txBody>
          <a:bodyPr wrap="square" lIns="0" tIns="0" rIns="0" bIns="0" rtlCol="0" anchor="ctr"/>
          <a:lstStyle/>
          <a:p>
            <a:pPr marL="0" indent="0">
              <a:lnSpc>
                <a:spcPts val="1300"/>
              </a:lnSpc>
              <a:buNone/>
            </a:pPr>
            <a:r>
              <a:rPr lang="en-US" sz="1030" dirty="0">
                <a:solidFill>
                  <a:srgbClr val="475569"/>
                </a:solidFill>
                <a:latin typeface="Arial" pitchFamily="34" charset="0"/>
                <a:ea typeface="Arial" pitchFamily="34" charset="-122"/>
                <a:cs typeface="Arial" pitchFamily="34" charset="-120"/>
              </a:rPr>
              <a:t>Offizieller Launch, erste zahlende Enterprise-Kunden im IT/Engineering-Segment.</a:t>
            </a:r>
            <a:endParaRPr lang="en-US" sz="1030" dirty="0"/>
          </a:p>
        </p:txBody>
      </p:sp>
      <p:sp>
        <p:nvSpPr>
          <p:cNvPr id="22" name="Shape 17"/>
          <p:cNvSpPr/>
          <p:nvPr/>
        </p:nvSpPr>
        <p:spPr>
          <a:xfrm>
            <a:off x="6278728" y="3383280"/>
            <a:ext cx="2490140" cy="2148840"/>
          </a:xfrm>
          <a:prstGeom prst="roundRect">
            <a:avLst>
              <a:gd name="adj" fmla="val 383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23" name="Shape 18"/>
          <p:cNvSpPr/>
          <p:nvPr/>
        </p:nvSpPr>
        <p:spPr>
          <a:xfrm>
            <a:off x="6534760" y="3639312"/>
            <a:ext cx="457200" cy="457200"/>
          </a:xfrm>
          <a:prstGeom prst="roundRect">
            <a:avLst>
              <a:gd name="adj" fmla="val 14000"/>
            </a:avLst>
          </a:prstGeom>
          <a:solidFill>
            <a:srgbClr val="172B4D"/>
          </a:solidFill>
          <a:ln/>
        </p:spPr>
        <p:txBody>
          <a:bodyPr/>
          <a:lstStyle/>
          <a:p>
            <a:endParaRPr lang="de-DE"/>
          </a:p>
        </p:txBody>
      </p:sp>
      <p:pic>
        <p:nvPicPr>
          <p:cNvPr id="24" name="Image 3" descr="preencoded.png"/>
          <p:cNvPicPr>
            <a:picLocks noChangeAspect="1"/>
          </p:cNvPicPr>
          <p:nvPr/>
        </p:nvPicPr>
        <p:blipFill>
          <a:blip r:embed="rId6"/>
          <a:stretch>
            <a:fillRect/>
          </a:stretch>
        </p:blipFill>
        <p:spPr>
          <a:xfrm>
            <a:off x="6644488" y="3749040"/>
            <a:ext cx="237744" cy="237744"/>
          </a:xfrm>
          <a:prstGeom prst="rect">
            <a:avLst/>
          </a:prstGeom>
        </p:spPr>
      </p:pic>
      <p:sp>
        <p:nvSpPr>
          <p:cNvPr id="25" name="Shape 19"/>
          <p:cNvSpPr/>
          <p:nvPr/>
        </p:nvSpPr>
        <p:spPr>
          <a:xfrm>
            <a:off x="7552715" y="3675888"/>
            <a:ext cx="960120" cy="292608"/>
          </a:xfrm>
          <a:prstGeom prst="roundRect">
            <a:avLst>
              <a:gd name="adj" fmla="val 50000"/>
            </a:avLst>
          </a:prstGeom>
          <a:solidFill>
            <a:srgbClr val="EAF2FC"/>
          </a:solidFill>
          <a:ln/>
        </p:spPr>
        <p:txBody>
          <a:bodyPr/>
          <a:lstStyle/>
          <a:p>
            <a:endParaRPr lang="de-DE"/>
          </a:p>
        </p:txBody>
      </p:sp>
      <p:sp>
        <p:nvSpPr>
          <p:cNvPr id="26" name="Text 20"/>
          <p:cNvSpPr/>
          <p:nvPr/>
        </p:nvSpPr>
        <p:spPr>
          <a:xfrm>
            <a:off x="7552715" y="3675888"/>
            <a:ext cx="960120" cy="292608"/>
          </a:xfrm>
          <a:prstGeom prst="rect">
            <a:avLst/>
          </a:prstGeom>
          <a:noFill/>
          <a:ln/>
        </p:spPr>
        <p:txBody>
          <a:bodyPr wrap="square" lIns="0" tIns="0" rIns="0" bIns="0" rtlCol="0" anchor="ctr"/>
          <a:lstStyle/>
          <a:p>
            <a:pPr marL="0" indent="0" algn="ctr">
              <a:buNone/>
            </a:pPr>
            <a:r>
              <a:rPr lang="en-US" sz="950" b="1" dirty="0">
                <a:solidFill>
                  <a:srgbClr val="2976D6"/>
                </a:solidFill>
                <a:latin typeface="Arial" pitchFamily="34" charset="0"/>
                <a:ea typeface="Arial" pitchFamily="34" charset="-122"/>
                <a:cs typeface="Arial" pitchFamily="34" charset="-120"/>
              </a:rPr>
              <a:t>Q3 2027</a:t>
            </a:r>
            <a:endParaRPr lang="en-US" sz="950" dirty="0"/>
          </a:p>
        </p:txBody>
      </p:sp>
      <p:sp>
        <p:nvSpPr>
          <p:cNvPr id="27" name="Text 21"/>
          <p:cNvSpPr/>
          <p:nvPr/>
        </p:nvSpPr>
        <p:spPr>
          <a:xfrm>
            <a:off x="6534760" y="4224528"/>
            <a:ext cx="2032940" cy="32004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Skalierung</a:t>
            </a:r>
            <a:endParaRPr lang="en-US" sz="1350" dirty="0"/>
          </a:p>
        </p:txBody>
      </p:sp>
      <p:sp>
        <p:nvSpPr>
          <p:cNvPr id="28" name="Text 22"/>
          <p:cNvSpPr/>
          <p:nvPr/>
        </p:nvSpPr>
        <p:spPr>
          <a:xfrm>
            <a:off x="6534760" y="4572000"/>
            <a:ext cx="2032940" cy="868680"/>
          </a:xfrm>
          <a:prstGeom prst="rect">
            <a:avLst/>
          </a:prstGeom>
          <a:noFill/>
          <a:ln/>
        </p:spPr>
        <p:txBody>
          <a:bodyPr wrap="square" lIns="0" tIns="0" rIns="0" bIns="0" rtlCol="0" anchor="ctr"/>
          <a:lstStyle/>
          <a:p>
            <a:pPr marL="0" indent="0">
              <a:lnSpc>
                <a:spcPts val="1300"/>
              </a:lnSpc>
              <a:buNone/>
            </a:pPr>
            <a:r>
              <a:rPr lang="en-US" sz="1030" dirty="0">
                <a:solidFill>
                  <a:srgbClr val="475569"/>
                </a:solidFill>
                <a:latin typeface="Arial" pitchFamily="34" charset="0"/>
                <a:ea typeface="Arial" pitchFamily="34" charset="-122"/>
                <a:cs typeface="Arial" pitchFamily="34" charset="-120"/>
              </a:rPr>
              <a:t>Empfehlungsvertrieb in der DACH-Region, Ausbau der Agenten &amp; Integrationen.</a:t>
            </a:r>
            <a:endParaRPr lang="en-US" sz="1030" dirty="0"/>
          </a:p>
        </p:txBody>
      </p:sp>
      <p:sp>
        <p:nvSpPr>
          <p:cNvPr id="29" name="Shape 23"/>
          <p:cNvSpPr/>
          <p:nvPr/>
        </p:nvSpPr>
        <p:spPr>
          <a:xfrm>
            <a:off x="9134627" y="3383280"/>
            <a:ext cx="2490140" cy="2148840"/>
          </a:xfrm>
          <a:prstGeom prst="roundRect">
            <a:avLst>
              <a:gd name="adj" fmla="val 3830"/>
            </a:avLst>
          </a:prstGeom>
          <a:solidFill>
            <a:srgbClr val="FFFFFF"/>
          </a:solidFill>
          <a:ln w="12700">
            <a:solidFill>
              <a:srgbClr val="E7EBF1"/>
            </a:solidFill>
            <a:prstDash val="solid"/>
          </a:ln>
          <a:effectLst>
            <a:outerShdw blurRad="114300" dist="38100" dir="5400000" algn="bl" rotWithShape="0">
              <a:srgbClr val="0B1B3A">
                <a:alpha val="13000"/>
              </a:srgbClr>
            </a:outerShdw>
          </a:effectLst>
        </p:spPr>
        <p:txBody>
          <a:bodyPr/>
          <a:lstStyle/>
          <a:p>
            <a:endParaRPr lang="de-DE"/>
          </a:p>
        </p:txBody>
      </p:sp>
      <p:sp>
        <p:nvSpPr>
          <p:cNvPr id="30" name="Shape 24"/>
          <p:cNvSpPr/>
          <p:nvPr/>
        </p:nvSpPr>
        <p:spPr>
          <a:xfrm>
            <a:off x="9390659" y="3639312"/>
            <a:ext cx="457200" cy="457200"/>
          </a:xfrm>
          <a:prstGeom prst="roundRect">
            <a:avLst>
              <a:gd name="adj" fmla="val 14000"/>
            </a:avLst>
          </a:prstGeom>
          <a:solidFill>
            <a:srgbClr val="172B4D"/>
          </a:solidFill>
          <a:ln/>
        </p:spPr>
        <p:txBody>
          <a:bodyPr/>
          <a:lstStyle/>
          <a:p>
            <a:endParaRPr lang="de-DE"/>
          </a:p>
        </p:txBody>
      </p:sp>
      <p:pic>
        <p:nvPicPr>
          <p:cNvPr id="31" name="Image 4" descr="preencoded.png"/>
          <p:cNvPicPr>
            <a:picLocks noChangeAspect="1"/>
          </p:cNvPicPr>
          <p:nvPr/>
        </p:nvPicPr>
        <p:blipFill>
          <a:blip r:embed="rId7"/>
          <a:stretch>
            <a:fillRect/>
          </a:stretch>
        </p:blipFill>
        <p:spPr>
          <a:xfrm>
            <a:off x="9500387" y="3749040"/>
            <a:ext cx="237744" cy="237744"/>
          </a:xfrm>
          <a:prstGeom prst="rect">
            <a:avLst/>
          </a:prstGeom>
        </p:spPr>
      </p:pic>
      <p:sp>
        <p:nvSpPr>
          <p:cNvPr id="32" name="Shape 25"/>
          <p:cNvSpPr/>
          <p:nvPr/>
        </p:nvSpPr>
        <p:spPr>
          <a:xfrm>
            <a:off x="10408615" y="3675888"/>
            <a:ext cx="960120" cy="292608"/>
          </a:xfrm>
          <a:prstGeom prst="roundRect">
            <a:avLst>
              <a:gd name="adj" fmla="val 50000"/>
            </a:avLst>
          </a:prstGeom>
          <a:solidFill>
            <a:srgbClr val="EAF2FC"/>
          </a:solidFill>
          <a:ln/>
        </p:spPr>
        <p:txBody>
          <a:bodyPr/>
          <a:lstStyle/>
          <a:p>
            <a:endParaRPr lang="de-DE"/>
          </a:p>
        </p:txBody>
      </p:sp>
      <p:sp>
        <p:nvSpPr>
          <p:cNvPr id="33" name="Text 26"/>
          <p:cNvSpPr/>
          <p:nvPr/>
        </p:nvSpPr>
        <p:spPr>
          <a:xfrm>
            <a:off x="10408615" y="3675888"/>
            <a:ext cx="960120" cy="292608"/>
          </a:xfrm>
          <a:prstGeom prst="rect">
            <a:avLst/>
          </a:prstGeom>
          <a:noFill/>
          <a:ln/>
        </p:spPr>
        <p:txBody>
          <a:bodyPr wrap="square" lIns="0" tIns="0" rIns="0" bIns="0" rtlCol="0" anchor="ctr"/>
          <a:lstStyle/>
          <a:p>
            <a:pPr marL="0" indent="0" algn="ctr">
              <a:buNone/>
            </a:pPr>
            <a:r>
              <a:rPr lang="en-US" sz="950" b="1" dirty="0">
                <a:solidFill>
                  <a:srgbClr val="2976D6"/>
                </a:solidFill>
                <a:latin typeface="Arial" pitchFamily="34" charset="0"/>
                <a:ea typeface="Arial" pitchFamily="34" charset="-122"/>
                <a:cs typeface="Arial" pitchFamily="34" charset="-120"/>
              </a:rPr>
              <a:t>2028</a:t>
            </a:r>
            <a:endParaRPr lang="en-US" sz="950" dirty="0"/>
          </a:p>
        </p:txBody>
      </p:sp>
      <p:sp>
        <p:nvSpPr>
          <p:cNvPr id="34" name="Text 27"/>
          <p:cNvSpPr/>
          <p:nvPr/>
        </p:nvSpPr>
        <p:spPr>
          <a:xfrm>
            <a:off x="9390659" y="4224528"/>
            <a:ext cx="2032940" cy="32004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Expansion</a:t>
            </a:r>
            <a:endParaRPr lang="en-US" sz="1350" dirty="0"/>
          </a:p>
        </p:txBody>
      </p:sp>
      <p:sp>
        <p:nvSpPr>
          <p:cNvPr id="35" name="Text 28"/>
          <p:cNvSpPr/>
          <p:nvPr/>
        </p:nvSpPr>
        <p:spPr>
          <a:xfrm>
            <a:off x="9390659" y="4572000"/>
            <a:ext cx="2032940" cy="868680"/>
          </a:xfrm>
          <a:prstGeom prst="rect">
            <a:avLst/>
          </a:prstGeom>
          <a:noFill/>
          <a:ln/>
        </p:spPr>
        <p:txBody>
          <a:bodyPr wrap="square" lIns="0" tIns="0" rIns="0" bIns="0" rtlCol="0" anchor="ctr"/>
          <a:lstStyle/>
          <a:p>
            <a:pPr marL="0" indent="0">
              <a:lnSpc>
                <a:spcPts val="1300"/>
              </a:lnSpc>
              <a:buNone/>
            </a:pPr>
            <a:r>
              <a:rPr lang="en-US" sz="1030" dirty="0">
                <a:solidFill>
                  <a:srgbClr val="475569"/>
                </a:solidFill>
                <a:latin typeface="Arial" pitchFamily="34" charset="0"/>
                <a:ea typeface="Arial" pitchFamily="34" charset="-122"/>
                <a:cs typeface="Arial" pitchFamily="34" charset="-120"/>
              </a:rPr>
              <a:t>Ausweitung auf Inhouse-Recruiting, Mittelstand &amp; Zeitarbeit.</a:t>
            </a:r>
            <a:endParaRPr lang="en-US" sz="1030" dirty="0"/>
          </a:p>
        </p:txBody>
      </p:sp>
      <p:sp>
        <p:nvSpPr>
          <p:cNvPr id="36" name="Text 29"/>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37" name="Text 30"/>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12 / 14</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0"/>
            <a:ext cx="7315200" cy="274320"/>
          </a:xfrm>
          <a:prstGeom prst="rect">
            <a:avLst/>
          </a:prstGeom>
          <a:noFill/>
          <a:ln/>
        </p:spPr>
        <p:txBody>
          <a:bodyPr wrap="square" lIns="0" tIns="0" rIns="0" bIns="0" rtlCol="0" anchor="ctr"/>
          <a:lstStyle/>
          <a:p>
            <a:pPr marL="0" indent="0">
              <a:buNone/>
            </a:pPr>
            <a:r>
              <a:rPr lang="en-US" sz="1150" b="1" kern="0" spc="200" dirty="0">
                <a:solidFill>
                  <a:srgbClr val="2976D6"/>
                </a:solidFill>
                <a:latin typeface="Arial" pitchFamily="34" charset="0"/>
                <a:ea typeface="Arial" pitchFamily="34" charset="-122"/>
                <a:cs typeface="Arial" pitchFamily="34" charset="-120"/>
              </a:rPr>
              <a:t>TEAM</a:t>
            </a:r>
            <a:endParaRPr lang="en-US" sz="1150" dirty="0"/>
          </a:p>
        </p:txBody>
      </p:sp>
      <p:sp>
        <p:nvSpPr>
          <p:cNvPr id="3" name="Text 1"/>
          <p:cNvSpPr/>
          <p:nvPr/>
        </p:nvSpPr>
        <p:spPr>
          <a:xfrm>
            <a:off x="566928" y="868680"/>
            <a:ext cx="10972800" cy="868680"/>
          </a:xfrm>
          <a:prstGeom prst="rect">
            <a:avLst/>
          </a:prstGeom>
          <a:noFill/>
          <a:ln/>
        </p:spPr>
        <p:txBody>
          <a:bodyPr wrap="square" lIns="0" tIns="0" rIns="0" bIns="0" rtlCol="0" anchor="ctr"/>
          <a:lstStyle/>
          <a:p>
            <a:pPr marL="0" indent="0" algn="l">
              <a:lnSpc>
                <a:spcPts val="2730"/>
              </a:lnSpc>
              <a:buNone/>
            </a:pPr>
            <a:r>
              <a:rPr lang="en-US" sz="2600" b="1" dirty="0">
                <a:solidFill>
                  <a:srgbClr val="0F172A"/>
                </a:solidFill>
                <a:latin typeface="Arial" pitchFamily="34" charset="0"/>
                <a:ea typeface="Arial" pitchFamily="34" charset="-122"/>
                <a:cs typeface="Arial" pitchFamily="34" charset="-120"/>
              </a:rPr>
              <a:t>Produkt, Technik und Vertrieb – </a:t>
            </a:r>
            <a:r>
              <a:rPr lang="en-US" sz="2600" b="1" dirty="0">
                <a:solidFill>
                  <a:srgbClr val="2976D6"/>
                </a:solidFill>
                <a:latin typeface="Arial" pitchFamily="34" charset="0"/>
                <a:ea typeface="Arial" pitchFamily="34" charset="-122"/>
                <a:cs typeface="Arial" pitchFamily="34" charset="-120"/>
              </a:rPr>
              <a:t>in einer Hand.</a:t>
            </a:r>
            <a:endParaRPr lang="en-US" sz="2600" dirty="0"/>
          </a:p>
        </p:txBody>
      </p:sp>
      <p:sp>
        <p:nvSpPr>
          <p:cNvPr id="4" name="Shape 2"/>
          <p:cNvSpPr/>
          <p:nvPr/>
        </p:nvSpPr>
        <p:spPr>
          <a:xfrm>
            <a:off x="566928" y="2148840"/>
            <a:ext cx="4937760" cy="3566160"/>
          </a:xfrm>
          <a:prstGeom prst="roundRect">
            <a:avLst>
              <a:gd name="adj" fmla="val 2308"/>
            </a:avLst>
          </a:prstGeom>
          <a:solidFill>
            <a:srgbClr val="F6F8FC"/>
          </a:solidFill>
          <a:ln w="12700">
            <a:solidFill>
              <a:srgbClr val="E7EBF1"/>
            </a:solidFill>
            <a:prstDash val="solid"/>
          </a:ln>
        </p:spPr>
        <p:txBody>
          <a:bodyPr/>
          <a:lstStyle/>
          <a:p>
            <a:endParaRPr lang="de-DE"/>
          </a:p>
        </p:txBody>
      </p:sp>
      <p:sp>
        <p:nvSpPr>
          <p:cNvPr id="5" name="Shape 3"/>
          <p:cNvSpPr/>
          <p:nvPr/>
        </p:nvSpPr>
        <p:spPr>
          <a:xfrm>
            <a:off x="978408" y="2514600"/>
            <a:ext cx="1051560" cy="1051560"/>
          </a:xfrm>
          <a:prstGeom prst="ellipse">
            <a:avLst/>
          </a:prstGeom>
          <a:solidFill>
            <a:srgbClr val="172B4D"/>
          </a:solidFill>
          <a:ln/>
        </p:spPr>
        <p:txBody>
          <a:bodyPr/>
          <a:lstStyle/>
          <a:p>
            <a:endParaRPr lang="de-DE"/>
          </a:p>
        </p:txBody>
      </p:sp>
      <p:sp>
        <p:nvSpPr>
          <p:cNvPr id="6" name="Text 4"/>
          <p:cNvSpPr/>
          <p:nvPr/>
        </p:nvSpPr>
        <p:spPr>
          <a:xfrm>
            <a:off x="978408" y="2514600"/>
            <a:ext cx="1051560" cy="105156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pitchFamily="34" charset="0"/>
                <a:ea typeface="Arial" pitchFamily="34" charset="-122"/>
                <a:cs typeface="Arial" pitchFamily="34" charset="-120"/>
              </a:rPr>
              <a:t>CO</a:t>
            </a:r>
            <a:endParaRPr lang="en-US" sz="2600" dirty="0"/>
          </a:p>
        </p:txBody>
      </p:sp>
      <p:sp>
        <p:nvSpPr>
          <p:cNvPr id="7" name="Text 5"/>
          <p:cNvSpPr/>
          <p:nvPr/>
        </p:nvSpPr>
        <p:spPr>
          <a:xfrm>
            <a:off x="2212848" y="2606040"/>
            <a:ext cx="3108960" cy="365760"/>
          </a:xfrm>
          <a:prstGeom prst="rect">
            <a:avLst/>
          </a:prstGeom>
          <a:noFill/>
          <a:ln/>
        </p:spPr>
        <p:txBody>
          <a:bodyPr wrap="square" lIns="0" tIns="0" rIns="0" bIns="0" rtlCol="0" anchor="ctr"/>
          <a:lstStyle/>
          <a:p>
            <a:pPr marL="0" indent="0">
              <a:buNone/>
            </a:pPr>
            <a:r>
              <a:rPr lang="en-US" sz="1700" b="1" dirty="0">
                <a:solidFill>
                  <a:srgbClr val="0F172A"/>
                </a:solidFill>
                <a:latin typeface="Arial" pitchFamily="34" charset="0"/>
                <a:ea typeface="Arial" pitchFamily="34" charset="-122"/>
                <a:cs typeface="Arial" pitchFamily="34" charset="-120"/>
              </a:rPr>
              <a:t>Christopher Odenkirchen</a:t>
            </a:r>
            <a:endParaRPr lang="en-US" sz="1700" dirty="0"/>
          </a:p>
        </p:txBody>
      </p:sp>
      <p:sp>
        <p:nvSpPr>
          <p:cNvPr id="8" name="Text 6"/>
          <p:cNvSpPr/>
          <p:nvPr/>
        </p:nvSpPr>
        <p:spPr>
          <a:xfrm>
            <a:off x="2212848" y="2971800"/>
            <a:ext cx="3108960" cy="274320"/>
          </a:xfrm>
          <a:prstGeom prst="rect">
            <a:avLst/>
          </a:prstGeom>
          <a:noFill/>
          <a:ln/>
        </p:spPr>
        <p:txBody>
          <a:bodyPr wrap="square" lIns="0" tIns="0" rIns="0" bIns="0" rtlCol="0" anchor="ctr"/>
          <a:lstStyle/>
          <a:p>
            <a:pPr marL="0" indent="0">
              <a:buNone/>
            </a:pPr>
            <a:r>
              <a:rPr lang="en-US" sz="1150" dirty="0">
                <a:solidFill>
                  <a:srgbClr val="2976D6"/>
                </a:solidFill>
                <a:latin typeface="Arial" pitchFamily="34" charset="0"/>
                <a:ea typeface="Arial" pitchFamily="34" charset="-122"/>
                <a:cs typeface="Arial" pitchFamily="34" charset="-120"/>
              </a:rPr>
              <a:t>Gründer · ODENKIRCHEN.DIGITAL</a:t>
            </a:r>
            <a:endParaRPr lang="en-US" sz="1150" dirty="0"/>
          </a:p>
        </p:txBody>
      </p:sp>
      <p:sp>
        <p:nvSpPr>
          <p:cNvPr id="9" name="Text 7"/>
          <p:cNvSpPr/>
          <p:nvPr/>
        </p:nvSpPr>
        <p:spPr>
          <a:xfrm>
            <a:off x="2212848" y="3246120"/>
            <a:ext cx="3154680" cy="274320"/>
          </a:xfrm>
          <a:prstGeom prst="rect">
            <a:avLst/>
          </a:prstGeom>
          <a:noFill/>
          <a:ln/>
        </p:spPr>
        <p:txBody>
          <a:bodyPr wrap="square" lIns="0" tIns="0" rIns="0" bIns="0" rtlCol="0" anchor="ctr"/>
          <a:lstStyle/>
          <a:p>
            <a:pPr marL="0" indent="0">
              <a:buNone/>
            </a:pPr>
            <a:r>
              <a:rPr lang="en-US" sz="950" i="1" dirty="0">
                <a:solidFill>
                  <a:srgbClr val="7C8AA0"/>
                </a:solidFill>
                <a:latin typeface="Arial" pitchFamily="34" charset="0"/>
                <a:ea typeface="Arial" pitchFamily="34" charset="-122"/>
                <a:cs typeface="Arial" pitchFamily="34" charset="-120"/>
              </a:rPr>
              <a:t>[ Studiengang / Schwerpunkt H-BRS – bitte ergänzen ]</a:t>
            </a:r>
            <a:endParaRPr lang="en-US" sz="950" dirty="0"/>
          </a:p>
        </p:txBody>
      </p:sp>
      <p:sp>
        <p:nvSpPr>
          <p:cNvPr id="10" name="Shape 8"/>
          <p:cNvSpPr/>
          <p:nvPr/>
        </p:nvSpPr>
        <p:spPr>
          <a:xfrm>
            <a:off x="932688" y="3840480"/>
            <a:ext cx="4206240" cy="0"/>
          </a:xfrm>
          <a:prstGeom prst="line">
            <a:avLst/>
          </a:prstGeom>
          <a:noFill/>
          <a:ln w="9525">
            <a:solidFill>
              <a:srgbClr val="E7EBF1"/>
            </a:solidFill>
            <a:prstDash val="solid"/>
          </a:ln>
        </p:spPr>
        <p:txBody>
          <a:bodyPr/>
          <a:lstStyle/>
          <a:p>
            <a:endParaRPr lang="de-DE"/>
          </a:p>
        </p:txBody>
      </p:sp>
      <p:sp>
        <p:nvSpPr>
          <p:cNvPr id="11" name="Text 9"/>
          <p:cNvSpPr/>
          <p:nvPr/>
        </p:nvSpPr>
        <p:spPr>
          <a:xfrm>
            <a:off x="932688" y="3977640"/>
            <a:ext cx="4251960" cy="1645920"/>
          </a:xfrm>
          <a:prstGeom prst="rect">
            <a:avLst/>
          </a:prstGeom>
          <a:noFill/>
          <a:ln/>
        </p:spPr>
        <p:txBody>
          <a:bodyPr wrap="square" lIns="0" tIns="0" rIns="0" bIns="0" rtlCol="0" anchor="ctr"/>
          <a:lstStyle/>
          <a:p>
            <a:pPr marL="0" indent="0">
              <a:lnSpc>
                <a:spcPts val="1500"/>
              </a:lnSpc>
              <a:spcAft>
                <a:spcPts val="600"/>
              </a:spcAft>
              <a:buNone/>
            </a:pPr>
            <a:r>
              <a:rPr lang="en-US" sz="1150" dirty="0">
                <a:solidFill>
                  <a:srgbClr val="475569"/>
                </a:solidFill>
                <a:latin typeface="Arial" pitchFamily="34" charset="0"/>
                <a:ea typeface="Arial" pitchFamily="34" charset="-122"/>
                <a:cs typeface="Arial" pitchFamily="34" charset="-120"/>
              </a:rPr>
              <a:t>Hat matchmaker.hr eigenständig konzipiert und als funktionsfähigen Prototyp entwickelt – vom KI-Agentensystem über das Frontend bis zum DSGVO-konformen EU-Hosting.</a:t>
            </a:r>
            <a:endParaRPr lang="en-US" sz="1150" dirty="0"/>
          </a:p>
          <a:p>
            <a:pPr marL="0" indent="0">
              <a:lnSpc>
                <a:spcPts val="1500"/>
              </a:lnSpc>
              <a:buNone/>
            </a:pPr>
            <a:r>
              <a:rPr lang="en-US" sz="1150" b="1" dirty="0">
                <a:solidFill>
                  <a:srgbClr val="0F172A"/>
                </a:solidFill>
                <a:latin typeface="Arial" pitchFamily="34" charset="0"/>
                <a:ea typeface="Arial" pitchFamily="34" charset="-122"/>
                <a:cs typeface="Arial" pitchFamily="34" charset="-120"/>
              </a:rPr>
              <a:t>Vereint technische Umsetzungskraft mit Produkt- und Vertriebsdenken.</a:t>
            </a:r>
            <a:endParaRPr lang="en-US" sz="1150" dirty="0"/>
          </a:p>
        </p:txBody>
      </p:sp>
      <p:sp>
        <p:nvSpPr>
          <p:cNvPr id="12" name="Text 10"/>
          <p:cNvSpPr/>
          <p:nvPr/>
        </p:nvSpPr>
        <p:spPr>
          <a:xfrm>
            <a:off x="5961888" y="2148840"/>
            <a:ext cx="5662879" cy="320040"/>
          </a:xfrm>
          <a:prstGeom prst="rect">
            <a:avLst/>
          </a:prstGeom>
          <a:noFill/>
          <a:ln/>
        </p:spPr>
        <p:txBody>
          <a:bodyPr wrap="square" lIns="0" tIns="0" rIns="0" bIns="0" rtlCol="0" anchor="ctr"/>
          <a:lstStyle/>
          <a:p>
            <a:pPr marL="0" indent="0">
              <a:buNone/>
            </a:pPr>
            <a:r>
              <a:rPr lang="en-US" sz="1350" b="1" dirty="0">
                <a:solidFill>
                  <a:srgbClr val="0F172A"/>
                </a:solidFill>
                <a:latin typeface="Arial" pitchFamily="34" charset="0"/>
                <a:ea typeface="Arial" pitchFamily="34" charset="-122"/>
                <a:cs typeface="Arial" pitchFamily="34" charset="-120"/>
              </a:rPr>
              <a:t>Mitgebrachte Kompetenzen</a:t>
            </a:r>
            <a:endParaRPr lang="en-US" sz="1350" dirty="0"/>
          </a:p>
        </p:txBody>
      </p:sp>
      <p:sp>
        <p:nvSpPr>
          <p:cNvPr id="13" name="Shape 11"/>
          <p:cNvSpPr/>
          <p:nvPr/>
        </p:nvSpPr>
        <p:spPr>
          <a:xfrm>
            <a:off x="5961888" y="2505456"/>
            <a:ext cx="402336" cy="402336"/>
          </a:xfrm>
          <a:prstGeom prst="roundRect">
            <a:avLst>
              <a:gd name="adj" fmla="val 15909"/>
            </a:avLst>
          </a:prstGeom>
          <a:solidFill>
            <a:srgbClr val="EAF2FC"/>
          </a:solidFill>
          <a:ln/>
        </p:spPr>
        <p:txBody>
          <a:bodyPr/>
          <a:lstStyle/>
          <a:p>
            <a:endParaRPr lang="de-DE"/>
          </a:p>
        </p:txBody>
      </p:sp>
      <p:pic>
        <p:nvPicPr>
          <p:cNvPr id="14" name="Image 0" descr="preencoded.png"/>
          <p:cNvPicPr>
            <a:picLocks noChangeAspect="1"/>
          </p:cNvPicPr>
          <p:nvPr/>
        </p:nvPicPr>
        <p:blipFill>
          <a:blip r:embed="rId3"/>
          <a:stretch>
            <a:fillRect/>
          </a:stretch>
        </p:blipFill>
        <p:spPr>
          <a:xfrm>
            <a:off x="6058449" y="2602017"/>
            <a:ext cx="209215" cy="209215"/>
          </a:xfrm>
          <a:prstGeom prst="rect">
            <a:avLst/>
          </a:prstGeom>
        </p:spPr>
      </p:pic>
      <p:sp>
        <p:nvSpPr>
          <p:cNvPr id="15" name="Text 12"/>
          <p:cNvSpPr/>
          <p:nvPr/>
        </p:nvSpPr>
        <p:spPr>
          <a:xfrm>
            <a:off x="6510528" y="2468880"/>
            <a:ext cx="5114239" cy="548640"/>
          </a:xfrm>
          <a:prstGeom prst="rect">
            <a:avLst/>
          </a:prstGeom>
          <a:noFill/>
          <a:ln/>
        </p:spPr>
        <p:txBody>
          <a:bodyPr wrap="square" lIns="0" tIns="0" rIns="0" bIns="0" rtlCol="0" anchor="ctr"/>
          <a:lstStyle/>
          <a:p>
            <a:pPr marL="0" indent="0">
              <a:lnSpc>
                <a:spcPts val="1300"/>
              </a:lnSpc>
              <a:buNone/>
            </a:pPr>
            <a:r>
              <a:rPr lang="en-US" sz="1100" b="1" dirty="0">
                <a:solidFill>
                  <a:srgbClr val="0F172A"/>
                </a:solidFill>
                <a:latin typeface="Arial" pitchFamily="34" charset="0"/>
                <a:ea typeface="Arial" pitchFamily="34" charset="-122"/>
                <a:cs typeface="Arial" pitchFamily="34" charset="-120"/>
              </a:rPr>
              <a:t>KI- &amp; Agentensysteme  </a:t>
            </a:r>
            <a:r>
              <a:rPr lang="en-US" sz="1100" dirty="0">
                <a:solidFill>
                  <a:srgbClr val="475569"/>
                </a:solidFill>
                <a:latin typeface="Arial" pitchFamily="34" charset="0"/>
                <a:ea typeface="Arial" pitchFamily="34" charset="-122"/>
                <a:cs typeface="Arial" pitchFamily="34" charset="-120"/>
              </a:rPr>
              <a:t>Konzeption und Bau des Multi-Agenten-Workflows.</a:t>
            </a:r>
            <a:endParaRPr lang="en-US" sz="1100" dirty="0"/>
          </a:p>
        </p:txBody>
      </p:sp>
      <p:sp>
        <p:nvSpPr>
          <p:cNvPr id="16" name="Shape 13"/>
          <p:cNvSpPr/>
          <p:nvPr/>
        </p:nvSpPr>
        <p:spPr>
          <a:xfrm>
            <a:off x="5961888" y="3163824"/>
            <a:ext cx="402336" cy="402336"/>
          </a:xfrm>
          <a:prstGeom prst="roundRect">
            <a:avLst>
              <a:gd name="adj" fmla="val 15909"/>
            </a:avLst>
          </a:prstGeom>
          <a:solidFill>
            <a:srgbClr val="EAF2FC"/>
          </a:solidFill>
          <a:ln/>
        </p:spPr>
        <p:txBody>
          <a:bodyPr/>
          <a:lstStyle/>
          <a:p>
            <a:endParaRPr lang="de-DE"/>
          </a:p>
        </p:txBody>
      </p:sp>
      <p:pic>
        <p:nvPicPr>
          <p:cNvPr id="17" name="Image 1" descr="preencoded.png"/>
          <p:cNvPicPr>
            <a:picLocks noChangeAspect="1"/>
          </p:cNvPicPr>
          <p:nvPr/>
        </p:nvPicPr>
        <p:blipFill>
          <a:blip r:embed="rId4"/>
          <a:stretch>
            <a:fillRect/>
          </a:stretch>
        </p:blipFill>
        <p:spPr>
          <a:xfrm>
            <a:off x="6058449" y="3260385"/>
            <a:ext cx="209215" cy="209215"/>
          </a:xfrm>
          <a:prstGeom prst="rect">
            <a:avLst/>
          </a:prstGeom>
        </p:spPr>
      </p:pic>
      <p:sp>
        <p:nvSpPr>
          <p:cNvPr id="18" name="Text 14"/>
          <p:cNvSpPr/>
          <p:nvPr/>
        </p:nvSpPr>
        <p:spPr>
          <a:xfrm>
            <a:off x="6510528" y="3127248"/>
            <a:ext cx="5114239" cy="548640"/>
          </a:xfrm>
          <a:prstGeom prst="rect">
            <a:avLst/>
          </a:prstGeom>
          <a:noFill/>
          <a:ln/>
        </p:spPr>
        <p:txBody>
          <a:bodyPr wrap="square" lIns="0" tIns="0" rIns="0" bIns="0" rtlCol="0" anchor="ctr"/>
          <a:lstStyle/>
          <a:p>
            <a:pPr marL="0" indent="0">
              <a:lnSpc>
                <a:spcPts val="1300"/>
              </a:lnSpc>
              <a:buNone/>
            </a:pPr>
            <a:r>
              <a:rPr lang="en-US" sz="1100" b="1" dirty="0">
                <a:solidFill>
                  <a:srgbClr val="0F172A"/>
                </a:solidFill>
                <a:latin typeface="Arial" pitchFamily="34" charset="0"/>
                <a:ea typeface="Arial" pitchFamily="34" charset="-122"/>
                <a:cs typeface="Arial" pitchFamily="34" charset="-120"/>
              </a:rPr>
              <a:t>Full-Stack-Entwicklung  </a:t>
            </a:r>
            <a:r>
              <a:rPr lang="en-US" sz="1100" dirty="0">
                <a:solidFill>
                  <a:srgbClr val="475569"/>
                </a:solidFill>
                <a:latin typeface="Arial" pitchFamily="34" charset="0"/>
                <a:ea typeface="Arial" pitchFamily="34" charset="-122"/>
                <a:cs typeface="Arial" pitchFamily="34" charset="-120"/>
              </a:rPr>
              <a:t>Eigenständig gebauter, funktionsfähiger Prototyp.</a:t>
            </a:r>
            <a:endParaRPr lang="en-US" sz="1100" dirty="0"/>
          </a:p>
        </p:txBody>
      </p:sp>
      <p:sp>
        <p:nvSpPr>
          <p:cNvPr id="19" name="Shape 15"/>
          <p:cNvSpPr/>
          <p:nvPr/>
        </p:nvSpPr>
        <p:spPr>
          <a:xfrm>
            <a:off x="5961888" y="3822192"/>
            <a:ext cx="402336" cy="402336"/>
          </a:xfrm>
          <a:prstGeom prst="roundRect">
            <a:avLst>
              <a:gd name="adj" fmla="val 15909"/>
            </a:avLst>
          </a:prstGeom>
          <a:solidFill>
            <a:srgbClr val="EAF2FC"/>
          </a:solidFill>
          <a:ln/>
        </p:spPr>
        <p:txBody>
          <a:bodyPr/>
          <a:lstStyle/>
          <a:p>
            <a:endParaRPr lang="de-DE"/>
          </a:p>
        </p:txBody>
      </p:sp>
      <p:pic>
        <p:nvPicPr>
          <p:cNvPr id="20" name="Image 2" descr="preencoded.png"/>
          <p:cNvPicPr>
            <a:picLocks noChangeAspect="1"/>
          </p:cNvPicPr>
          <p:nvPr/>
        </p:nvPicPr>
        <p:blipFill>
          <a:blip r:embed="rId5"/>
          <a:stretch>
            <a:fillRect/>
          </a:stretch>
        </p:blipFill>
        <p:spPr>
          <a:xfrm>
            <a:off x="6058449" y="3918753"/>
            <a:ext cx="209215" cy="209215"/>
          </a:xfrm>
          <a:prstGeom prst="rect">
            <a:avLst/>
          </a:prstGeom>
        </p:spPr>
      </p:pic>
      <p:sp>
        <p:nvSpPr>
          <p:cNvPr id="21" name="Text 16"/>
          <p:cNvSpPr/>
          <p:nvPr/>
        </p:nvSpPr>
        <p:spPr>
          <a:xfrm>
            <a:off x="6510528" y="3785616"/>
            <a:ext cx="5114239" cy="548640"/>
          </a:xfrm>
          <a:prstGeom prst="rect">
            <a:avLst/>
          </a:prstGeom>
          <a:noFill/>
          <a:ln/>
        </p:spPr>
        <p:txBody>
          <a:bodyPr wrap="square" lIns="0" tIns="0" rIns="0" bIns="0" rtlCol="0" anchor="ctr"/>
          <a:lstStyle/>
          <a:p>
            <a:pPr marL="0" indent="0">
              <a:lnSpc>
                <a:spcPts val="1300"/>
              </a:lnSpc>
              <a:buNone/>
            </a:pPr>
            <a:r>
              <a:rPr lang="en-US" sz="1100" b="1" dirty="0">
                <a:solidFill>
                  <a:srgbClr val="0F172A"/>
                </a:solidFill>
                <a:latin typeface="Arial" pitchFamily="34" charset="0"/>
                <a:ea typeface="Arial" pitchFamily="34" charset="-122"/>
                <a:cs typeface="Arial" pitchFamily="34" charset="-120"/>
              </a:rPr>
              <a:t>Branchen- &amp; Produktverständnis  </a:t>
            </a:r>
            <a:r>
              <a:rPr lang="en-US" sz="1100" dirty="0">
                <a:solidFill>
                  <a:srgbClr val="475569"/>
                </a:solidFill>
                <a:latin typeface="Arial" pitchFamily="34" charset="0"/>
                <a:ea typeface="Arial" pitchFamily="34" charset="-122"/>
                <a:cs typeface="Arial" pitchFamily="34" charset="-120"/>
              </a:rPr>
              <a:t>Aus der Beratungspraxis abgeleiteter Vermittlungsprozess.</a:t>
            </a:r>
            <a:endParaRPr lang="en-US" sz="1100" dirty="0"/>
          </a:p>
        </p:txBody>
      </p:sp>
      <p:sp>
        <p:nvSpPr>
          <p:cNvPr id="22" name="Shape 17"/>
          <p:cNvSpPr/>
          <p:nvPr/>
        </p:nvSpPr>
        <p:spPr>
          <a:xfrm>
            <a:off x="5961888" y="4434840"/>
            <a:ext cx="5662879" cy="1280160"/>
          </a:xfrm>
          <a:prstGeom prst="roundRect">
            <a:avLst>
              <a:gd name="adj" fmla="val 6429"/>
            </a:avLst>
          </a:prstGeom>
          <a:solidFill>
            <a:srgbClr val="172B4D"/>
          </a:solidFill>
          <a:ln/>
          <a:effectLst>
            <a:outerShdw blurRad="114300" dist="38100" dir="5400000" algn="bl" rotWithShape="0">
              <a:srgbClr val="0B1B3A">
                <a:alpha val="13000"/>
              </a:srgbClr>
            </a:outerShdw>
          </a:effectLst>
        </p:spPr>
        <p:txBody>
          <a:bodyPr/>
          <a:lstStyle/>
          <a:p>
            <a:endParaRPr lang="de-DE"/>
          </a:p>
        </p:txBody>
      </p:sp>
      <p:sp>
        <p:nvSpPr>
          <p:cNvPr id="23" name="Shape 18"/>
          <p:cNvSpPr/>
          <p:nvPr/>
        </p:nvSpPr>
        <p:spPr>
          <a:xfrm>
            <a:off x="6236208" y="4626864"/>
            <a:ext cx="420624" cy="420624"/>
          </a:xfrm>
          <a:prstGeom prst="roundRect">
            <a:avLst>
              <a:gd name="adj" fmla="val 15217"/>
            </a:avLst>
          </a:prstGeom>
          <a:solidFill>
            <a:srgbClr val="2976D6"/>
          </a:solidFill>
          <a:ln/>
        </p:spPr>
        <p:txBody>
          <a:bodyPr/>
          <a:lstStyle/>
          <a:p>
            <a:endParaRPr lang="de-DE"/>
          </a:p>
        </p:txBody>
      </p:sp>
      <p:pic>
        <p:nvPicPr>
          <p:cNvPr id="24" name="Image 3" descr="preencoded.png"/>
          <p:cNvPicPr>
            <a:picLocks noChangeAspect="1"/>
          </p:cNvPicPr>
          <p:nvPr/>
        </p:nvPicPr>
        <p:blipFill>
          <a:blip r:embed="rId6"/>
          <a:stretch>
            <a:fillRect/>
          </a:stretch>
        </p:blipFill>
        <p:spPr>
          <a:xfrm>
            <a:off x="6337158" y="4727814"/>
            <a:ext cx="218724" cy="218724"/>
          </a:xfrm>
          <a:prstGeom prst="rect">
            <a:avLst/>
          </a:prstGeom>
        </p:spPr>
      </p:pic>
      <p:sp>
        <p:nvSpPr>
          <p:cNvPr id="25" name="Text 19"/>
          <p:cNvSpPr/>
          <p:nvPr/>
        </p:nvSpPr>
        <p:spPr>
          <a:xfrm>
            <a:off x="6784848" y="4608576"/>
            <a:ext cx="4565599" cy="310896"/>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Advisory Board – Branchenexpertise</a:t>
            </a:r>
            <a:endParaRPr lang="en-US" sz="1300" dirty="0"/>
          </a:p>
        </p:txBody>
      </p:sp>
      <p:sp>
        <p:nvSpPr>
          <p:cNvPr id="26" name="Text 20"/>
          <p:cNvSpPr/>
          <p:nvPr/>
        </p:nvSpPr>
        <p:spPr>
          <a:xfrm>
            <a:off x="6236208" y="5029200"/>
            <a:ext cx="5114239" cy="219456"/>
          </a:xfrm>
          <a:prstGeom prst="rect">
            <a:avLst/>
          </a:prstGeom>
          <a:noFill/>
          <a:ln/>
        </p:spPr>
        <p:txBody>
          <a:bodyPr wrap="square" lIns="0" tIns="0" rIns="0" bIns="0" rtlCol="0" anchor="ctr"/>
          <a:lstStyle/>
          <a:p>
            <a:pPr marL="0" indent="0">
              <a:buNone/>
            </a:pPr>
            <a:r>
              <a:rPr lang="en-US" sz="1000" dirty="0">
                <a:solidFill>
                  <a:srgbClr val="9DB8DD"/>
                </a:solidFill>
                <a:latin typeface="Arial" pitchFamily="34" charset="0"/>
                <a:ea typeface="Arial" pitchFamily="34" charset="-122"/>
                <a:cs typeface="Arial" pitchFamily="34" charset="-120"/>
              </a:rPr>
              <a:t>Beirat aus der Personalberatungs-Praxis (im Aufbau):</a:t>
            </a:r>
            <a:endParaRPr lang="en-US" sz="1000" dirty="0"/>
          </a:p>
        </p:txBody>
      </p:sp>
      <p:sp>
        <p:nvSpPr>
          <p:cNvPr id="27" name="Text 21"/>
          <p:cNvSpPr/>
          <p:nvPr/>
        </p:nvSpPr>
        <p:spPr>
          <a:xfrm>
            <a:off x="6236208" y="5266944"/>
            <a:ext cx="5114239" cy="402336"/>
          </a:xfrm>
          <a:prstGeom prst="rect">
            <a:avLst/>
          </a:prstGeom>
          <a:noFill/>
          <a:ln/>
        </p:spPr>
        <p:txBody>
          <a:bodyPr wrap="square" lIns="0" tIns="0" rIns="0" bIns="0" rtlCol="0" anchor="ctr"/>
          <a:lstStyle/>
          <a:p>
            <a:pPr marL="0" indent="0">
              <a:lnSpc>
                <a:spcPts val="1300"/>
              </a:lnSpc>
              <a:spcAft>
                <a:spcPts val="300"/>
              </a:spcAft>
              <a:buNone/>
            </a:pPr>
            <a:r>
              <a:rPr lang="en-US" sz="1030" i="1" dirty="0">
                <a:solidFill>
                  <a:srgbClr val="DCE8FA"/>
                </a:solidFill>
                <a:latin typeface="Arial" pitchFamily="34" charset="0"/>
                <a:ea typeface="Arial" pitchFamily="34" charset="-122"/>
                <a:cs typeface="Arial" pitchFamily="34" charset="-120"/>
              </a:rPr>
              <a:t>[ Advisor 1 – Senior Executive Search / Personalberatung ]</a:t>
            </a:r>
            <a:endParaRPr lang="en-US" sz="1030" dirty="0"/>
          </a:p>
          <a:p>
            <a:pPr marL="0" indent="0">
              <a:lnSpc>
                <a:spcPts val="1300"/>
              </a:lnSpc>
              <a:buNone/>
            </a:pPr>
            <a:r>
              <a:rPr lang="en-US" sz="1030" i="1" dirty="0">
                <a:solidFill>
                  <a:srgbClr val="DCE8FA"/>
                </a:solidFill>
                <a:latin typeface="Arial" pitchFamily="34" charset="0"/>
                <a:ea typeface="Arial" pitchFamily="34" charset="-122"/>
                <a:cs typeface="Arial" pitchFamily="34" charset="-120"/>
              </a:rPr>
              <a:t>[ Advisor 2 – HR-Tech &amp; Vertrieb / Skalierung ]</a:t>
            </a:r>
            <a:endParaRPr lang="en-US" sz="1030" dirty="0"/>
          </a:p>
        </p:txBody>
      </p:sp>
      <p:sp>
        <p:nvSpPr>
          <p:cNvPr id="28" name="Text 22"/>
          <p:cNvSpPr/>
          <p:nvPr/>
        </p:nvSpPr>
        <p:spPr>
          <a:xfrm>
            <a:off x="566928" y="6437376"/>
            <a:ext cx="2743200" cy="274320"/>
          </a:xfrm>
          <a:prstGeom prst="rect">
            <a:avLst/>
          </a:prstGeom>
          <a:noFill/>
          <a:ln/>
        </p:spPr>
        <p:txBody>
          <a:bodyPr wrap="square" lIns="0" tIns="0" rIns="0" bIns="0" rtlCol="0" anchor="ctr"/>
          <a:lstStyle/>
          <a:p>
            <a:pPr marL="0" indent="0">
              <a:buNone/>
            </a:pPr>
            <a:r>
              <a:rPr lang="en-US" sz="950" b="1" dirty="0">
                <a:solidFill>
                  <a:srgbClr val="172B4D"/>
                </a:solidFill>
                <a:latin typeface="Arial" pitchFamily="34" charset="0"/>
                <a:ea typeface="Arial" pitchFamily="34" charset="-122"/>
                <a:cs typeface="Arial" pitchFamily="34" charset="-120"/>
              </a:rPr>
              <a:t>matchmaker</a:t>
            </a:r>
            <a:r>
              <a:rPr lang="en-US" sz="950" b="1" dirty="0">
                <a:solidFill>
                  <a:srgbClr val="2976D6"/>
                </a:solidFill>
                <a:latin typeface="Arial" pitchFamily="34" charset="0"/>
                <a:ea typeface="Arial" pitchFamily="34" charset="-122"/>
                <a:cs typeface="Arial" pitchFamily="34" charset="-120"/>
              </a:rPr>
              <a:t>.hr</a:t>
            </a:r>
            <a:endParaRPr lang="en-US" sz="950" dirty="0"/>
          </a:p>
        </p:txBody>
      </p:sp>
      <p:sp>
        <p:nvSpPr>
          <p:cNvPr id="29" name="Text 23"/>
          <p:cNvSpPr/>
          <p:nvPr/>
        </p:nvSpPr>
        <p:spPr>
          <a:xfrm>
            <a:off x="10161727" y="6437376"/>
            <a:ext cx="1463040" cy="274320"/>
          </a:xfrm>
          <a:prstGeom prst="rect">
            <a:avLst/>
          </a:prstGeom>
          <a:noFill/>
          <a:ln/>
        </p:spPr>
        <p:txBody>
          <a:bodyPr wrap="square" lIns="0" tIns="0" rIns="0" bIns="0" rtlCol="0" anchor="ctr"/>
          <a:lstStyle/>
          <a:p>
            <a:pPr marL="0" indent="0" algn="r">
              <a:buNone/>
            </a:pPr>
            <a:r>
              <a:rPr lang="en-US" sz="950" dirty="0">
                <a:solidFill>
                  <a:srgbClr val="7C8AA0"/>
                </a:solidFill>
                <a:latin typeface="Arial" pitchFamily="34" charset="0"/>
                <a:ea typeface="Arial" pitchFamily="34" charset="-122"/>
                <a:cs typeface="Arial" pitchFamily="34" charset="-120"/>
              </a:rPr>
              <a:t>13 / 14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2B4D"/>
        </a:solidFill>
        <a:effectLst/>
      </p:bgPr>
    </p:bg>
    <p:spTree>
      <p:nvGrpSpPr>
        <p:cNvPr id="1" name=""/>
        <p:cNvGrpSpPr/>
        <p:nvPr/>
      </p:nvGrpSpPr>
      <p:grpSpPr>
        <a:xfrm>
          <a:off x="0" y="0"/>
          <a:ext cx="0" cy="0"/>
          <a:chOff x="0" y="0"/>
          <a:chExt cx="0" cy="0"/>
        </a:xfrm>
      </p:grpSpPr>
      <p:sp>
        <p:nvSpPr>
          <p:cNvPr id="2" name="Shape 0"/>
          <p:cNvSpPr/>
          <p:nvPr/>
        </p:nvSpPr>
        <p:spPr>
          <a:xfrm>
            <a:off x="6217920" y="-2560320"/>
            <a:ext cx="7772400" cy="7315200"/>
          </a:xfrm>
          <a:prstGeom prst="ellipse">
            <a:avLst/>
          </a:prstGeom>
          <a:solidFill>
            <a:srgbClr val="2976D6">
              <a:alpha val="20000"/>
            </a:srgbClr>
          </a:solidFill>
          <a:ln/>
        </p:spPr>
        <p:txBody>
          <a:bodyPr/>
          <a:lstStyle/>
          <a:p>
            <a:endParaRPr lang="de-DE"/>
          </a:p>
        </p:txBody>
      </p:sp>
      <p:sp>
        <p:nvSpPr>
          <p:cNvPr id="3" name="Text 1"/>
          <p:cNvSpPr/>
          <p:nvPr/>
        </p:nvSpPr>
        <p:spPr>
          <a:xfrm>
            <a:off x="566928" y="548640"/>
            <a:ext cx="5486400" cy="45720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matchmaker</a:t>
            </a:r>
            <a:r>
              <a:rPr lang="en-US" sz="2000" b="1" dirty="0">
                <a:solidFill>
                  <a:srgbClr val="5FA0EA"/>
                </a:solidFill>
                <a:latin typeface="Arial" pitchFamily="34" charset="0"/>
                <a:ea typeface="Arial" pitchFamily="34" charset="-122"/>
                <a:cs typeface="Arial" pitchFamily="34" charset="-120"/>
              </a:rPr>
              <a:t>.hr</a:t>
            </a:r>
            <a:endParaRPr lang="en-US" sz="2000" dirty="0"/>
          </a:p>
        </p:txBody>
      </p:sp>
      <p:sp>
        <p:nvSpPr>
          <p:cNvPr id="4" name="Text 2"/>
          <p:cNvSpPr/>
          <p:nvPr/>
        </p:nvSpPr>
        <p:spPr>
          <a:xfrm>
            <a:off x="566928" y="1691640"/>
            <a:ext cx="9144000" cy="320040"/>
          </a:xfrm>
          <a:prstGeom prst="rect">
            <a:avLst/>
          </a:prstGeom>
          <a:noFill/>
          <a:ln/>
        </p:spPr>
        <p:txBody>
          <a:bodyPr wrap="square" lIns="0" tIns="0" rIns="0" bIns="0" rtlCol="0" anchor="ctr"/>
          <a:lstStyle/>
          <a:p>
            <a:pPr marL="0" indent="0">
              <a:buNone/>
            </a:pPr>
            <a:r>
              <a:rPr lang="en-US" sz="1250" b="1" kern="0" spc="250" dirty="0">
                <a:solidFill>
                  <a:srgbClr val="5FA0EA"/>
                </a:solidFill>
                <a:latin typeface="Arial" pitchFamily="34" charset="0"/>
                <a:ea typeface="Arial" pitchFamily="34" charset="-122"/>
                <a:cs typeface="Arial" pitchFamily="34" charset="-120"/>
              </a:rPr>
              <a:t>UNSERE VISION</a:t>
            </a:r>
            <a:endParaRPr lang="en-US" sz="1250" dirty="0"/>
          </a:p>
        </p:txBody>
      </p:sp>
      <p:sp>
        <p:nvSpPr>
          <p:cNvPr id="5" name="Text 3"/>
          <p:cNvSpPr/>
          <p:nvPr/>
        </p:nvSpPr>
        <p:spPr>
          <a:xfrm>
            <a:off x="566928" y="2084832"/>
            <a:ext cx="11155680" cy="1554480"/>
          </a:xfrm>
          <a:prstGeom prst="rect">
            <a:avLst/>
          </a:prstGeom>
          <a:noFill/>
          <a:ln/>
        </p:spPr>
        <p:txBody>
          <a:bodyPr wrap="square" lIns="0" tIns="0" rIns="0" bIns="0" rtlCol="0" anchor="ctr"/>
          <a:lstStyle/>
          <a:p>
            <a:pPr marL="0" indent="0">
              <a:lnSpc>
                <a:spcPts val="3400"/>
              </a:lnSpc>
              <a:buNone/>
            </a:pPr>
            <a:r>
              <a:rPr lang="en-US" sz="2600" b="1" dirty="0">
                <a:solidFill>
                  <a:srgbClr val="FFFFFF"/>
                </a:solidFill>
                <a:latin typeface="Arial" pitchFamily="34" charset="0"/>
                <a:ea typeface="Arial" pitchFamily="34" charset="-122"/>
                <a:cs typeface="Arial" pitchFamily="34" charset="-120"/>
              </a:rPr>
              <a:t>Das AI Operating System für Personalberatungen –</a:t>
            </a:r>
            <a:endParaRPr lang="en-US" sz="2600" dirty="0"/>
          </a:p>
          <a:p>
            <a:pPr marL="0" indent="0">
              <a:lnSpc>
                <a:spcPts val="3400"/>
              </a:lnSpc>
              <a:buNone/>
            </a:pPr>
            <a:r>
              <a:rPr lang="en-US" sz="2600" b="1" dirty="0">
                <a:solidFill>
                  <a:srgbClr val="FFFFFF"/>
                </a:solidFill>
                <a:latin typeface="Arial" pitchFamily="34" charset="0"/>
                <a:ea typeface="Arial" pitchFamily="34" charset="-122"/>
                <a:cs typeface="Arial" pitchFamily="34" charset="-120"/>
              </a:rPr>
              <a:t>die Recherche übernimmt die KI, </a:t>
            </a:r>
            <a:r>
              <a:rPr lang="en-US" sz="2600" b="1" dirty="0">
                <a:solidFill>
                  <a:srgbClr val="5FA0EA"/>
                </a:solidFill>
                <a:latin typeface="Arial" pitchFamily="34" charset="0"/>
                <a:ea typeface="Arial" pitchFamily="34" charset="-122"/>
                <a:cs typeface="Arial" pitchFamily="34" charset="-120"/>
              </a:rPr>
              <a:t>beraten und entscheiden</a:t>
            </a:r>
            <a:r>
              <a:rPr lang="en-US" sz="2600" b="1" dirty="0">
                <a:solidFill>
                  <a:srgbClr val="FFFFFF"/>
                </a:solidFill>
                <a:latin typeface="Arial" pitchFamily="34" charset="0"/>
                <a:ea typeface="Arial" pitchFamily="34" charset="-122"/>
                <a:cs typeface="Arial" pitchFamily="34" charset="-120"/>
              </a:rPr>
              <a:t> bleibt beim Menschen.</a:t>
            </a:r>
            <a:endParaRPr lang="en-US" sz="2600" dirty="0"/>
          </a:p>
        </p:txBody>
      </p:sp>
      <p:sp>
        <p:nvSpPr>
          <p:cNvPr id="6" name="Shape 4"/>
          <p:cNvSpPr/>
          <p:nvPr/>
        </p:nvSpPr>
        <p:spPr>
          <a:xfrm>
            <a:off x="566928" y="4023360"/>
            <a:ext cx="3442106" cy="1371600"/>
          </a:xfrm>
          <a:prstGeom prst="roundRect">
            <a:avLst>
              <a:gd name="adj" fmla="val 6000"/>
            </a:avLst>
          </a:prstGeom>
          <a:solidFill>
            <a:srgbClr val="FFFFFF">
              <a:alpha val="8000"/>
            </a:srgbClr>
          </a:solidFill>
          <a:ln w="9525">
            <a:solidFill>
              <a:srgbClr val="FFFFFF">
                <a:alpha val="25000"/>
              </a:srgbClr>
            </a:solidFill>
            <a:prstDash val="solid"/>
          </a:ln>
        </p:spPr>
        <p:txBody>
          <a:bodyPr/>
          <a:lstStyle/>
          <a:p>
            <a:endParaRPr lang="de-DE"/>
          </a:p>
        </p:txBody>
      </p:sp>
      <p:sp>
        <p:nvSpPr>
          <p:cNvPr id="7" name="Shape 5"/>
          <p:cNvSpPr/>
          <p:nvPr/>
        </p:nvSpPr>
        <p:spPr>
          <a:xfrm>
            <a:off x="841248" y="4279392"/>
            <a:ext cx="420624" cy="420624"/>
          </a:xfrm>
          <a:prstGeom prst="roundRect">
            <a:avLst>
              <a:gd name="adj" fmla="val 15217"/>
            </a:avLst>
          </a:prstGeom>
          <a:solidFill>
            <a:srgbClr val="2976D6"/>
          </a:solidFill>
          <a:ln/>
        </p:spPr>
        <p:txBody>
          <a:bodyPr/>
          <a:lstStyle/>
          <a:p>
            <a:endParaRPr lang="de-DE"/>
          </a:p>
        </p:txBody>
      </p:sp>
      <p:pic>
        <p:nvPicPr>
          <p:cNvPr id="8" name="Image 0" descr="preencoded.png"/>
          <p:cNvPicPr>
            <a:picLocks noChangeAspect="1"/>
          </p:cNvPicPr>
          <p:nvPr/>
        </p:nvPicPr>
        <p:blipFill>
          <a:blip r:embed="rId3"/>
          <a:stretch>
            <a:fillRect/>
          </a:stretch>
        </p:blipFill>
        <p:spPr>
          <a:xfrm>
            <a:off x="942198" y="4380342"/>
            <a:ext cx="218724" cy="218724"/>
          </a:xfrm>
          <a:prstGeom prst="rect">
            <a:avLst/>
          </a:prstGeom>
        </p:spPr>
      </p:pic>
      <p:sp>
        <p:nvSpPr>
          <p:cNvPr id="9" name="Text 6"/>
          <p:cNvSpPr/>
          <p:nvPr/>
        </p:nvSpPr>
        <p:spPr>
          <a:xfrm>
            <a:off x="1389888" y="4279392"/>
            <a:ext cx="2436266" cy="42062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Pilotkunden</a:t>
            </a:r>
            <a:endParaRPr lang="en-US" sz="1400" dirty="0"/>
          </a:p>
        </p:txBody>
      </p:sp>
      <p:sp>
        <p:nvSpPr>
          <p:cNvPr id="10" name="Text 7"/>
          <p:cNvSpPr/>
          <p:nvPr/>
        </p:nvSpPr>
        <p:spPr>
          <a:xfrm>
            <a:off x="841248" y="4800600"/>
            <a:ext cx="2939186" cy="502920"/>
          </a:xfrm>
          <a:prstGeom prst="rect">
            <a:avLst/>
          </a:prstGeom>
          <a:noFill/>
          <a:ln/>
        </p:spPr>
        <p:txBody>
          <a:bodyPr wrap="square" lIns="0" tIns="0" rIns="0" bIns="0" rtlCol="0" anchor="ctr"/>
          <a:lstStyle/>
          <a:p>
            <a:pPr marL="0" indent="0">
              <a:lnSpc>
                <a:spcPts val="1300"/>
              </a:lnSpc>
              <a:buNone/>
            </a:pPr>
            <a:r>
              <a:rPr lang="en-US" sz="1080" dirty="0">
                <a:solidFill>
                  <a:srgbClr val="C9D6EC"/>
                </a:solidFill>
                <a:latin typeface="Arial" pitchFamily="34" charset="0"/>
                <a:ea typeface="Arial" pitchFamily="34" charset="-122"/>
                <a:cs typeface="Arial" pitchFamily="34" charset="-120"/>
              </a:rPr>
              <a:t>Personalberatungen, die als Design-Partner mit uns starten.</a:t>
            </a:r>
            <a:endParaRPr lang="en-US" sz="1080" dirty="0"/>
          </a:p>
        </p:txBody>
      </p:sp>
      <p:sp>
        <p:nvSpPr>
          <p:cNvPr id="11" name="Shape 8"/>
          <p:cNvSpPr/>
          <p:nvPr/>
        </p:nvSpPr>
        <p:spPr>
          <a:xfrm>
            <a:off x="4374794" y="4023360"/>
            <a:ext cx="3442106" cy="1371600"/>
          </a:xfrm>
          <a:prstGeom prst="roundRect">
            <a:avLst>
              <a:gd name="adj" fmla="val 6000"/>
            </a:avLst>
          </a:prstGeom>
          <a:solidFill>
            <a:srgbClr val="FFFFFF">
              <a:alpha val="8000"/>
            </a:srgbClr>
          </a:solidFill>
          <a:ln w="9525">
            <a:solidFill>
              <a:srgbClr val="FFFFFF">
                <a:alpha val="25000"/>
              </a:srgbClr>
            </a:solidFill>
            <a:prstDash val="solid"/>
          </a:ln>
        </p:spPr>
        <p:txBody>
          <a:bodyPr/>
          <a:lstStyle/>
          <a:p>
            <a:endParaRPr lang="de-DE"/>
          </a:p>
        </p:txBody>
      </p:sp>
      <p:sp>
        <p:nvSpPr>
          <p:cNvPr id="12" name="Shape 9"/>
          <p:cNvSpPr/>
          <p:nvPr/>
        </p:nvSpPr>
        <p:spPr>
          <a:xfrm>
            <a:off x="4649114" y="4279392"/>
            <a:ext cx="420624" cy="420624"/>
          </a:xfrm>
          <a:prstGeom prst="roundRect">
            <a:avLst>
              <a:gd name="adj" fmla="val 15217"/>
            </a:avLst>
          </a:prstGeom>
          <a:solidFill>
            <a:srgbClr val="2976D6"/>
          </a:solidFill>
          <a:ln/>
        </p:spPr>
        <p:txBody>
          <a:bodyPr/>
          <a:lstStyle/>
          <a:p>
            <a:endParaRPr lang="de-DE"/>
          </a:p>
        </p:txBody>
      </p:sp>
      <p:pic>
        <p:nvPicPr>
          <p:cNvPr id="13" name="Image 1" descr="preencoded.png"/>
          <p:cNvPicPr>
            <a:picLocks noChangeAspect="1"/>
          </p:cNvPicPr>
          <p:nvPr/>
        </p:nvPicPr>
        <p:blipFill>
          <a:blip r:embed="rId4"/>
          <a:stretch>
            <a:fillRect/>
          </a:stretch>
        </p:blipFill>
        <p:spPr>
          <a:xfrm>
            <a:off x="4750064" y="4380342"/>
            <a:ext cx="218724" cy="218724"/>
          </a:xfrm>
          <a:prstGeom prst="rect">
            <a:avLst/>
          </a:prstGeom>
        </p:spPr>
      </p:pic>
      <p:sp>
        <p:nvSpPr>
          <p:cNvPr id="14" name="Text 10"/>
          <p:cNvSpPr/>
          <p:nvPr/>
        </p:nvSpPr>
        <p:spPr>
          <a:xfrm>
            <a:off x="5197754" y="4279392"/>
            <a:ext cx="2436266" cy="42062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Netzwerk &amp; Beirat</a:t>
            </a:r>
            <a:endParaRPr lang="en-US" sz="1400" dirty="0"/>
          </a:p>
        </p:txBody>
      </p:sp>
      <p:sp>
        <p:nvSpPr>
          <p:cNvPr id="15" name="Text 11"/>
          <p:cNvSpPr/>
          <p:nvPr/>
        </p:nvSpPr>
        <p:spPr>
          <a:xfrm>
            <a:off x="4649114" y="4800600"/>
            <a:ext cx="2939186" cy="502920"/>
          </a:xfrm>
          <a:prstGeom prst="rect">
            <a:avLst/>
          </a:prstGeom>
          <a:noFill/>
          <a:ln/>
        </p:spPr>
        <p:txBody>
          <a:bodyPr wrap="square" lIns="0" tIns="0" rIns="0" bIns="0" rtlCol="0" anchor="ctr"/>
          <a:lstStyle/>
          <a:p>
            <a:pPr marL="0" indent="0">
              <a:lnSpc>
                <a:spcPts val="1300"/>
              </a:lnSpc>
              <a:buNone/>
            </a:pPr>
            <a:r>
              <a:rPr lang="en-US" sz="1080" dirty="0">
                <a:solidFill>
                  <a:srgbClr val="C9D6EC"/>
                </a:solidFill>
                <a:latin typeface="Arial" pitchFamily="34" charset="0"/>
                <a:ea typeface="Arial" pitchFamily="34" charset="-122"/>
                <a:cs typeface="Arial" pitchFamily="34" charset="-120"/>
              </a:rPr>
              <a:t>Zugang zur HR- und Recruiting-Branche in der Region.</a:t>
            </a:r>
            <a:endParaRPr lang="en-US" sz="1080" dirty="0"/>
          </a:p>
        </p:txBody>
      </p:sp>
      <p:sp>
        <p:nvSpPr>
          <p:cNvPr id="16" name="Shape 12"/>
          <p:cNvSpPr/>
          <p:nvPr/>
        </p:nvSpPr>
        <p:spPr>
          <a:xfrm>
            <a:off x="8182661" y="4023360"/>
            <a:ext cx="3442106" cy="1371600"/>
          </a:xfrm>
          <a:prstGeom prst="roundRect">
            <a:avLst>
              <a:gd name="adj" fmla="val 6000"/>
            </a:avLst>
          </a:prstGeom>
          <a:solidFill>
            <a:srgbClr val="FFFFFF">
              <a:alpha val="8000"/>
            </a:srgbClr>
          </a:solidFill>
          <a:ln w="9525">
            <a:solidFill>
              <a:srgbClr val="FFFFFF">
                <a:alpha val="25000"/>
              </a:srgbClr>
            </a:solidFill>
            <a:prstDash val="solid"/>
          </a:ln>
        </p:spPr>
        <p:txBody>
          <a:bodyPr/>
          <a:lstStyle/>
          <a:p>
            <a:endParaRPr lang="de-DE"/>
          </a:p>
        </p:txBody>
      </p:sp>
      <p:sp>
        <p:nvSpPr>
          <p:cNvPr id="17" name="Shape 13"/>
          <p:cNvSpPr/>
          <p:nvPr/>
        </p:nvSpPr>
        <p:spPr>
          <a:xfrm>
            <a:off x="8456981" y="4279392"/>
            <a:ext cx="420624" cy="420624"/>
          </a:xfrm>
          <a:prstGeom prst="roundRect">
            <a:avLst>
              <a:gd name="adj" fmla="val 15217"/>
            </a:avLst>
          </a:prstGeom>
          <a:solidFill>
            <a:srgbClr val="2976D6"/>
          </a:solidFill>
          <a:ln/>
        </p:spPr>
        <p:txBody>
          <a:bodyPr/>
          <a:lstStyle/>
          <a:p>
            <a:endParaRPr lang="de-DE"/>
          </a:p>
        </p:txBody>
      </p:sp>
      <p:pic>
        <p:nvPicPr>
          <p:cNvPr id="18" name="Image 2" descr="preencoded.png"/>
          <p:cNvPicPr>
            <a:picLocks noChangeAspect="1"/>
          </p:cNvPicPr>
          <p:nvPr/>
        </p:nvPicPr>
        <p:blipFill>
          <a:blip r:embed="rId5"/>
          <a:stretch>
            <a:fillRect/>
          </a:stretch>
        </p:blipFill>
        <p:spPr>
          <a:xfrm>
            <a:off x="8557931" y="4380342"/>
            <a:ext cx="218724" cy="218724"/>
          </a:xfrm>
          <a:prstGeom prst="rect">
            <a:avLst/>
          </a:prstGeom>
        </p:spPr>
      </p:pic>
      <p:sp>
        <p:nvSpPr>
          <p:cNvPr id="19" name="Text 14"/>
          <p:cNvSpPr/>
          <p:nvPr/>
        </p:nvSpPr>
        <p:spPr>
          <a:xfrm>
            <a:off x="9005621" y="4279392"/>
            <a:ext cx="2436266" cy="420624"/>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Anschub</a:t>
            </a:r>
            <a:endParaRPr lang="en-US" sz="1400" dirty="0"/>
          </a:p>
        </p:txBody>
      </p:sp>
      <p:sp>
        <p:nvSpPr>
          <p:cNvPr id="20" name="Text 15"/>
          <p:cNvSpPr/>
          <p:nvPr/>
        </p:nvSpPr>
        <p:spPr>
          <a:xfrm>
            <a:off x="8456981" y="4800600"/>
            <a:ext cx="2939186" cy="502920"/>
          </a:xfrm>
          <a:prstGeom prst="rect">
            <a:avLst/>
          </a:prstGeom>
          <a:noFill/>
          <a:ln/>
        </p:spPr>
        <p:txBody>
          <a:bodyPr wrap="square" lIns="0" tIns="0" rIns="0" bIns="0" rtlCol="0" anchor="ctr"/>
          <a:lstStyle/>
          <a:p>
            <a:pPr marL="0" indent="0">
              <a:lnSpc>
                <a:spcPts val="1300"/>
              </a:lnSpc>
              <a:buNone/>
            </a:pPr>
            <a:r>
              <a:rPr lang="en-US" sz="1080" dirty="0">
                <a:solidFill>
                  <a:srgbClr val="C9D6EC"/>
                </a:solidFill>
                <a:latin typeface="Arial" pitchFamily="34" charset="0"/>
                <a:ea typeface="Arial" pitchFamily="34" charset="-122"/>
                <a:cs typeface="Arial" pitchFamily="34" charset="-120"/>
              </a:rPr>
              <a:t>Preisgeld &amp; Sichtbarkeit für den Schritt in den Markt.</a:t>
            </a:r>
            <a:endParaRPr lang="en-US" sz="1080" dirty="0"/>
          </a:p>
        </p:txBody>
      </p:sp>
      <p:sp>
        <p:nvSpPr>
          <p:cNvPr id="21" name="Shape 16"/>
          <p:cNvSpPr/>
          <p:nvPr/>
        </p:nvSpPr>
        <p:spPr>
          <a:xfrm>
            <a:off x="566928" y="5943600"/>
            <a:ext cx="11057839" cy="0"/>
          </a:xfrm>
          <a:prstGeom prst="line">
            <a:avLst/>
          </a:prstGeom>
          <a:noFill/>
          <a:ln w="9525">
            <a:solidFill>
              <a:srgbClr val="FFFFFF">
                <a:alpha val="20000"/>
              </a:srgbClr>
            </a:solidFill>
            <a:prstDash val="solid"/>
          </a:ln>
        </p:spPr>
        <p:txBody>
          <a:bodyPr/>
          <a:lstStyle/>
          <a:p>
            <a:endParaRPr lang="de-DE"/>
          </a:p>
        </p:txBody>
      </p:sp>
      <p:sp>
        <p:nvSpPr>
          <p:cNvPr id="22" name="Text 17"/>
          <p:cNvSpPr/>
          <p:nvPr/>
        </p:nvSpPr>
        <p:spPr>
          <a:xfrm>
            <a:off x="566928" y="6126480"/>
            <a:ext cx="106070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Christopher Odenkirchen</a:t>
            </a:r>
            <a:r>
              <a:rPr lang="en-US" sz="1300" dirty="0">
                <a:solidFill>
                  <a:srgbClr val="9DB8DD"/>
                </a:solidFill>
                <a:latin typeface="Arial" pitchFamily="34" charset="0"/>
                <a:ea typeface="Arial" pitchFamily="34" charset="-122"/>
                <a:cs typeface="Arial" pitchFamily="34" charset="-120"/>
              </a:rPr>
              <a:t>   ·   christopher.odenkirchen@…   ·   matchmaker.hr</a:t>
            </a:r>
            <a:endParaRPr lang="en-US" sz="1300" dirty="0"/>
          </a:p>
        </p:txBody>
      </p:sp>
      <p:sp>
        <p:nvSpPr>
          <p:cNvPr id="23" name="Text 18"/>
          <p:cNvSpPr/>
          <p:nvPr/>
        </p:nvSpPr>
        <p:spPr>
          <a:xfrm>
            <a:off x="9338767" y="6089904"/>
            <a:ext cx="2286000" cy="365760"/>
          </a:xfrm>
          <a:prstGeom prst="rect">
            <a:avLst/>
          </a:prstGeom>
          <a:noFill/>
          <a:ln/>
        </p:spPr>
        <p:txBody>
          <a:bodyPr wrap="square" lIns="0" tIns="0" rIns="0" bIns="0" rtlCol="0" anchor="ctr"/>
          <a:lstStyle/>
          <a:p>
            <a:pPr marL="0" indent="0" algn="r">
              <a:buNone/>
            </a:pPr>
            <a:r>
              <a:rPr lang="en-US" sz="1400" b="1" i="1" dirty="0">
                <a:solidFill>
                  <a:srgbClr val="5FA0EA"/>
                </a:solidFill>
                <a:latin typeface="Arial" pitchFamily="34" charset="0"/>
                <a:ea typeface="Arial" pitchFamily="34" charset="-122"/>
                <a:cs typeface="Arial" pitchFamily="34" charset="-120"/>
              </a:rPr>
              <a:t>Danke.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3208</Words>
  <Application>Microsoft Macintosh PowerPoint</Application>
  <PresentationFormat>Breitbild</PresentationFormat>
  <Paragraphs>272</Paragraphs>
  <Slides>14</Slides>
  <Notes>14</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14</vt:i4>
      </vt:variant>
    </vt:vector>
  </HeadingPairs>
  <TitlesOfParts>
    <vt:vector size="16" baseType="lpstr">
      <vt:lpstr>Arial</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ODENKIRCHEN.DIGITAL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matchmaker.hr – Pitchdeck Start-up-Cup 2026</dc:title>
  <dc:subject>PptxGenJS Presentation</dc:subject>
  <dc:creator>Christopher Odenkirchen</dc:creator>
  <cp:lastModifiedBy>Christopher Odenkirchen</cp:lastModifiedBy>
  <cp:revision>8</cp:revision>
  <dcterms:created xsi:type="dcterms:W3CDTF">2026-06-29T22:46:39Z</dcterms:created>
  <dcterms:modified xsi:type="dcterms:W3CDTF">2026-06-30T09:14:07Z</dcterms:modified>
</cp:coreProperties>
</file>